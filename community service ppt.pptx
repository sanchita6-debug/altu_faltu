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5" r:id="rId7"/>
    <p:sldId id="503" r:id="rId8"/>
    <p:sldId id="507" r:id="rId9"/>
    <p:sldId id="504" r:id="rId10"/>
    <p:sldId id="502" r:id="rId11"/>
    <p:sldId id="506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740EC-4E41-432F-AABD-83B009364D76}" v="9" dt="2026-09-20T05:40:06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70" d="100"/>
          <a:sy n="70" d="100"/>
        </p:scale>
        <p:origin x="65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itasaroj6@gmail.com" userId="0b6aa9834323d0bc" providerId="LiveId" clId="{435E514B-0F9E-4E60-8266-C7195F9B490F}"/>
    <pc:docChg chg="undo custSel modSld">
      <pc:chgData name="sanchitasaroj6@gmail.com" userId="0b6aa9834323d0bc" providerId="LiveId" clId="{435E514B-0F9E-4E60-8266-C7195F9B490F}" dt="2026-09-20T05:40:06.197" v="1132"/>
      <pc:docMkLst>
        <pc:docMk/>
      </pc:docMkLst>
      <pc:sldChg chg="modSp mod">
        <pc:chgData name="sanchitasaroj6@gmail.com" userId="0b6aa9834323d0bc" providerId="LiveId" clId="{435E514B-0F9E-4E60-8266-C7195F9B490F}" dt="2026-09-20T04:31:10.099" v="220" actId="1036"/>
        <pc:sldMkLst>
          <pc:docMk/>
          <pc:sldMk cId="4142536426" sldId="497"/>
        </pc:sldMkLst>
        <pc:spChg chg="mod">
          <ac:chgData name="sanchitasaroj6@gmail.com" userId="0b6aa9834323d0bc" providerId="LiveId" clId="{435E514B-0F9E-4E60-8266-C7195F9B490F}" dt="2026-09-20T04:24:24.045" v="208" actId="1076"/>
          <ac:spMkLst>
            <pc:docMk/>
            <pc:sldMk cId="4142536426" sldId="497"/>
            <ac:spMk id="5" creationId="{3DF18845-4075-32C5-8F4A-4F40F86E837F}"/>
          </ac:spMkLst>
        </pc:spChg>
        <pc:spChg chg="mod">
          <ac:chgData name="sanchitasaroj6@gmail.com" userId="0b6aa9834323d0bc" providerId="LiveId" clId="{435E514B-0F9E-4E60-8266-C7195F9B490F}" dt="2026-09-17T12:41:41.564" v="160" actId="207"/>
          <ac:spMkLst>
            <pc:docMk/>
            <pc:sldMk cId="4142536426" sldId="497"/>
            <ac:spMk id="8" creationId="{40D4C745-33B7-0116-E20F-11A7F0DFD46F}"/>
          </ac:spMkLst>
        </pc:spChg>
        <pc:spChg chg="mod">
          <ac:chgData name="sanchitasaroj6@gmail.com" userId="0b6aa9834323d0bc" providerId="LiveId" clId="{435E514B-0F9E-4E60-8266-C7195F9B490F}" dt="2026-09-20T04:24:31.800" v="209" actId="1076"/>
          <ac:spMkLst>
            <pc:docMk/>
            <pc:sldMk cId="4142536426" sldId="497"/>
            <ac:spMk id="13" creationId="{00000000-0000-0000-0000-000000000000}"/>
          </ac:spMkLst>
        </pc:spChg>
        <pc:graphicFrameChg chg="mod modGraphic">
          <ac:chgData name="sanchitasaroj6@gmail.com" userId="0b6aa9834323d0bc" providerId="LiveId" clId="{435E514B-0F9E-4E60-8266-C7195F9B490F}" dt="2026-09-20T04:31:05.499" v="219" actId="122"/>
          <ac:graphicFrameMkLst>
            <pc:docMk/>
            <pc:sldMk cId="4142536426" sldId="497"/>
            <ac:graphicFrameMk id="2" creationId="{232DFD41-0025-28B4-FE3B-A54FAEE28F42}"/>
          </ac:graphicFrameMkLst>
        </pc:graphicFrameChg>
        <pc:picChg chg="mod">
          <ac:chgData name="sanchitasaroj6@gmail.com" userId="0b6aa9834323d0bc" providerId="LiveId" clId="{435E514B-0F9E-4E60-8266-C7195F9B490F}" dt="2026-09-20T04:31:10.099" v="220" actId="1036"/>
          <ac:picMkLst>
            <pc:docMk/>
            <pc:sldMk cId="4142536426" sldId="497"/>
            <ac:picMk id="4" creationId="{00000000-0000-0000-0000-000000000000}"/>
          </ac:picMkLst>
        </pc:picChg>
      </pc:sldChg>
      <pc:sldChg chg="addSp modSp mod">
        <pc:chgData name="sanchitasaroj6@gmail.com" userId="0b6aa9834323d0bc" providerId="LiveId" clId="{435E514B-0F9E-4E60-8266-C7195F9B490F}" dt="2026-09-20T04:30:44.859" v="218" actId="1076"/>
        <pc:sldMkLst>
          <pc:docMk/>
          <pc:sldMk cId="3353784259" sldId="499"/>
        </pc:sldMkLst>
        <pc:spChg chg="add mod">
          <ac:chgData name="sanchitasaroj6@gmail.com" userId="0b6aa9834323d0bc" providerId="LiveId" clId="{435E514B-0F9E-4E60-8266-C7195F9B490F}" dt="2026-09-20T04:30:44.859" v="218" actId="1076"/>
          <ac:spMkLst>
            <pc:docMk/>
            <pc:sldMk cId="3353784259" sldId="499"/>
            <ac:spMk id="3" creationId="{2D847BE6-0221-BC09-1EBB-8DF75E72E08A}"/>
          </ac:spMkLst>
        </pc:spChg>
        <pc:picChg chg="mod">
          <ac:chgData name="sanchitasaroj6@gmail.com" userId="0b6aa9834323d0bc" providerId="LiveId" clId="{435E514B-0F9E-4E60-8266-C7195F9B490F}" dt="2026-09-20T04:30:34.361" v="217" actId="1076"/>
          <ac:picMkLst>
            <pc:docMk/>
            <pc:sldMk cId="3353784259" sldId="499"/>
            <ac:picMk id="4" creationId="{00000000-0000-0000-0000-000000000000}"/>
          </ac:picMkLst>
        </pc:picChg>
      </pc:sldChg>
      <pc:sldChg chg="addSp delSp modSp mod">
        <pc:chgData name="sanchitasaroj6@gmail.com" userId="0b6aa9834323d0bc" providerId="LiveId" clId="{435E514B-0F9E-4E60-8266-C7195F9B490F}" dt="2026-09-20T04:46:08.039" v="875" actId="20577"/>
        <pc:sldMkLst>
          <pc:docMk/>
          <pc:sldMk cId="1047329288" sldId="500"/>
        </pc:sldMkLst>
        <pc:spChg chg="add del mod">
          <ac:chgData name="sanchitasaroj6@gmail.com" userId="0b6aa9834323d0bc" providerId="LiveId" clId="{435E514B-0F9E-4E60-8266-C7195F9B490F}" dt="2026-09-20T04:37:09.171" v="228" actId="478"/>
          <ac:spMkLst>
            <pc:docMk/>
            <pc:sldMk cId="1047329288" sldId="500"/>
            <ac:spMk id="3" creationId="{C3C7B1BA-AEAD-7671-4232-064BCAAD5905}"/>
          </ac:spMkLst>
        </pc:spChg>
        <pc:spChg chg="mod">
          <ac:chgData name="sanchitasaroj6@gmail.com" userId="0b6aa9834323d0bc" providerId="LiveId" clId="{435E514B-0F9E-4E60-8266-C7195F9B490F}" dt="2026-09-20T04:31:27.411" v="221" actId="313"/>
          <ac:spMkLst>
            <pc:docMk/>
            <pc:sldMk cId="1047329288" sldId="500"/>
            <ac:spMk id="5" creationId="{00000000-0000-0000-0000-000000000000}"/>
          </ac:spMkLst>
        </pc:spChg>
        <pc:spChg chg="add mod">
          <ac:chgData name="sanchitasaroj6@gmail.com" userId="0b6aa9834323d0bc" providerId="LiveId" clId="{435E514B-0F9E-4E60-8266-C7195F9B490F}" dt="2026-09-20T04:46:08.039" v="875" actId="20577"/>
          <ac:spMkLst>
            <pc:docMk/>
            <pc:sldMk cId="1047329288" sldId="500"/>
            <ac:spMk id="10" creationId="{D4D4C9F8-2A9C-9975-2A77-FDE8F566B77E}"/>
          </ac:spMkLst>
        </pc:spChg>
        <pc:picChg chg="mod">
          <ac:chgData name="sanchitasaroj6@gmail.com" userId="0b6aa9834323d0bc" providerId="LiveId" clId="{435E514B-0F9E-4E60-8266-C7195F9B490F}" dt="2026-09-20T04:34:33.722" v="225" actId="1076"/>
          <ac:picMkLst>
            <pc:docMk/>
            <pc:sldMk cId="1047329288" sldId="500"/>
            <ac:picMk id="4" creationId="{00000000-0000-0000-0000-000000000000}"/>
          </ac:picMkLst>
        </pc:picChg>
      </pc:sldChg>
      <pc:sldChg chg="addSp modSp mod">
        <pc:chgData name="sanchitasaroj6@gmail.com" userId="0b6aa9834323d0bc" providerId="LiveId" clId="{435E514B-0F9E-4E60-8266-C7195F9B490F}" dt="2026-09-20T04:48:56.141" v="880" actId="1076"/>
        <pc:sldMkLst>
          <pc:docMk/>
          <pc:sldMk cId="957423197" sldId="501"/>
        </pc:sldMkLst>
        <pc:spChg chg="add mod">
          <ac:chgData name="sanchitasaroj6@gmail.com" userId="0b6aa9834323d0bc" providerId="LiveId" clId="{435E514B-0F9E-4E60-8266-C7195F9B490F}" dt="2026-09-20T04:48:56.141" v="880" actId="1076"/>
          <ac:spMkLst>
            <pc:docMk/>
            <pc:sldMk cId="957423197" sldId="501"/>
            <ac:spMk id="3" creationId="{482B93CC-B9F2-CD72-AF43-9C55C13B6339}"/>
          </ac:spMkLst>
        </pc:spChg>
      </pc:sldChg>
      <pc:sldChg chg="addSp modSp mod">
        <pc:chgData name="sanchitasaroj6@gmail.com" userId="0b6aa9834323d0bc" providerId="LiveId" clId="{435E514B-0F9E-4E60-8266-C7195F9B490F}" dt="2026-09-20T05:39:32.493" v="1130" actId="1076"/>
        <pc:sldMkLst>
          <pc:docMk/>
          <pc:sldMk cId="3295812248" sldId="502"/>
        </pc:sldMkLst>
        <pc:spChg chg="add mod">
          <ac:chgData name="sanchitasaroj6@gmail.com" userId="0b6aa9834323d0bc" providerId="LiveId" clId="{435E514B-0F9E-4E60-8266-C7195F9B490F}" dt="2026-09-20T05:39:32.493" v="1130" actId="1076"/>
          <ac:spMkLst>
            <pc:docMk/>
            <pc:sldMk cId="3295812248" sldId="502"/>
            <ac:spMk id="3" creationId="{5EB81017-9CDD-099D-E0B5-67DC21EAF57E}"/>
          </ac:spMkLst>
        </pc:spChg>
        <pc:spChg chg="mod">
          <ac:chgData name="sanchitasaroj6@gmail.com" userId="0b6aa9834323d0bc" providerId="LiveId" clId="{435E514B-0F9E-4E60-8266-C7195F9B490F}" dt="2026-09-20T05:11:49.998" v="1002" actId="313"/>
          <ac:spMkLst>
            <pc:docMk/>
            <pc:sldMk cId="3295812248" sldId="502"/>
            <ac:spMk id="5" creationId="{00000000-0000-0000-0000-000000000000}"/>
          </ac:spMkLst>
        </pc:spChg>
      </pc:sldChg>
      <pc:sldChg chg="addSp delSp modSp mod">
        <pc:chgData name="sanchitasaroj6@gmail.com" userId="0b6aa9834323d0bc" providerId="LiveId" clId="{435E514B-0F9E-4E60-8266-C7195F9B490F}" dt="2026-09-20T05:09:41.015" v="1001" actId="20577"/>
        <pc:sldMkLst>
          <pc:docMk/>
          <pc:sldMk cId="2093371696" sldId="503"/>
        </pc:sldMkLst>
        <pc:spChg chg="add del">
          <ac:chgData name="sanchitasaroj6@gmail.com" userId="0b6aa9834323d0bc" providerId="LiveId" clId="{435E514B-0F9E-4E60-8266-C7195F9B490F}" dt="2026-09-20T05:03:53.858" v="949" actId="22"/>
          <ac:spMkLst>
            <pc:docMk/>
            <pc:sldMk cId="2093371696" sldId="503"/>
            <ac:spMk id="3" creationId="{FB674679-9D6C-75D2-8B1C-740C7C68CF79}"/>
          </ac:spMkLst>
        </pc:spChg>
        <pc:spChg chg="mod">
          <ac:chgData name="sanchitasaroj6@gmail.com" userId="0b6aa9834323d0bc" providerId="LiveId" clId="{435E514B-0F9E-4E60-8266-C7195F9B490F}" dt="2026-09-20T04:58:20.965" v="943" actId="14100"/>
          <ac:spMkLst>
            <pc:docMk/>
            <pc:sldMk cId="2093371696" sldId="503"/>
            <ac:spMk id="5" creationId="{00000000-0000-0000-0000-000000000000}"/>
          </ac:spMkLst>
        </pc:spChg>
        <pc:spChg chg="add mod">
          <ac:chgData name="sanchitasaroj6@gmail.com" userId="0b6aa9834323d0bc" providerId="LiveId" clId="{435E514B-0F9E-4E60-8266-C7195F9B490F}" dt="2026-09-20T05:09:41.015" v="1001" actId="20577"/>
          <ac:spMkLst>
            <pc:docMk/>
            <pc:sldMk cId="2093371696" sldId="503"/>
            <ac:spMk id="13" creationId="{1875B69C-C289-0AF6-DE30-512F1D0E2EC1}"/>
          </ac:spMkLst>
        </pc:spChg>
        <pc:picChg chg="mod">
          <ac:chgData name="sanchitasaroj6@gmail.com" userId="0b6aa9834323d0bc" providerId="LiveId" clId="{435E514B-0F9E-4E60-8266-C7195F9B490F}" dt="2026-09-20T05:00:41.114" v="947" actId="1036"/>
          <ac:picMkLst>
            <pc:docMk/>
            <pc:sldMk cId="2093371696" sldId="503"/>
            <ac:picMk id="4" creationId="{00000000-0000-0000-0000-000000000000}"/>
          </ac:picMkLst>
        </pc:picChg>
        <pc:picChg chg="add mod">
          <ac:chgData name="sanchitasaroj6@gmail.com" userId="0b6aa9834323d0bc" providerId="LiveId" clId="{435E514B-0F9E-4E60-8266-C7195F9B490F}" dt="2026-09-20T05:09:28.247" v="999" actId="14100"/>
          <ac:picMkLst>
            <pc:docMk/>
            <pc:sldMk cId="2093371696" sldId="503"/>
            <ac:picMk id="11" creationId="{1B12561B-E1D2-716B-03E7-2CB9CFF5F84D}"/>
          </ac:picMkLst>
        </pc:picChg>
      </pc:sldChg>
      <pc:sldChg chg="addSp modSp mod">
        <pc:chgData name="sanchitasaroj6@gmail.com" userId="0b6aa9834323d0bc" providerId="LiveId" clId="{435E514B-0F9E-4E60-8266-C7195F9B490F}" dt="2026-09-20T05:12:40.694" v="1005" actId="1076"/>
        <pc:sldMkLst>
          <pc:docMk/>
          <pc:sldMk cId="3449068858" sldId="504"/>
        </pc:sldMkLst>
        <pc:spChg chg="add mod">
          <ac:chgData name="sanchitasaroj6@gmail.com" userId="0b6aa9834323d0bc" providerId="LiveId" clId="{435E514B-0F9E-4E60-8266-C7195F9B490F}" dt="2026-09-20T05:12:40.694" v="1005" actId="1076"/>
          <ac:spMkLst>
            <pc:docMk/>
            <pc:sldMk cId="3449068858" sldId="504"/>
            <ac:spMk id="3" creationId="{3A133E55-FE21-0076-0157-09F2DEDBC564}"/>
          </ac:spMkLst>
        </pc:spChg>
      </pc:sldChg>
      <pc:sldChg chg="addSp modSp mod">
        <pc:chgData name="sanchitasaroj6@gmail.com" userId="0b6aa9834323d0bc" providerId="LiveId" clId="{435E514B-0F9E-4E60-8266-C7195F9B490F}" dt="2026-09-20T05:35:18.328" v="1117"/>
        <pc:sldMkLst>
          <pc:docMk/>
          <pc:sldMk cId="1099878333" sldId="505"/>
        </pc:sldMkLst>
        <pc:spChg chg="add mod">
          <ac:chgData name="sanchitasaroj6@gmail.com" userId="0b6aa9834323d0bc" providerId="LiveId" clId="{435E514B-0F9E-4E60-8266-C7195F9B490F}" dt="2026-09-20T05:35:18.328" v="1117"/>
          <ac:spMkLst>
            <pc:docMk/>
            <pc:sldMk cId="1099878333" sldId="505"/>
            <ac:spMk id="3" creationId="{D3210476-50EC-603A-F2C4-848556952EF7}"/>
          </ac:spMkLst>
        </pc:spChg>
        <pc:picChg chg="mod">
          <ac:chgData name="sanchitasaroj6@gmail.com" userId="0b6aa9834323d0bc" providerId="LiveId" clId="{435E514B-0F9E-4E60-8266-C7195F9B490F}" dt="2026-09-20T04:56:39.623" v="928" actId="1076"/>
          <ac:picMkLst>
            <pc:docMk/>
            <pc:sldMk cId="1099878333" sldId="505"/>
            <ac:picMk id="4" creationId="{00000000-0000-0000-0000-000000000000}"/>
          </ac:picMkLst>
        </pc:picChg>
      </pc:sldChg>
      <pc:sldChg chg="addSp modSp mod">
        <pc:chgData name="sanchitasaroj6@gmail.com" userId="0b6aa9834323d0bc" providerId="LiveId" clId="{435E514B-0F9E-4E60-8266-C7195F9B490F}" dt="2026-09-20T05:40:06.197" v="1132"/>
        <pc:sldMkLst>
          <pc:docMk/>
          <pc:sldMk cId="256260487" sldId="506"/>
        </pc:sldMkLst>
        <pc:spChg chg="add mod">
          <ac:chgData name="sanchitasaroj6@gmail.com" userId="0b6aa9834323d0bc" providerId="LiveId" clId="{435E514B-0F9E-4E60-8266-C7195F9B490F}" dt="2026-09-20T05:40:06.197" v="1132"/>
          <ac:spMkLst>
            <pc:docMk/>
            <pc:sldMk cId="256260487" sldId="506"/>
            <ac:spMk id="3" creationId="{276440ED-86C5-F970-104F-2CB74D0D86D3}"/>
          </ac:spMkLst>
        </pc:spChg>
      </pc:sldChg>
      <pc:sldChg chg="addSp delSp modSp mod">
        <pc:chgData name="sanchitasaroj6@gmail.com" userId="0b6aa9834323d0bc" providerId="LiveId" clId="{435E514B-0F9E-4E60-8266-C7195F9B490F}" dt="2026-09-20T05:38:09.549" v="1123" actId="1076"/>
        <pc:sldMkLst>
          <pc:docMk/>
          <pc:sldMk cId="3449508277" sldId="507"/>
        </pc:sldMkLst>
        <pc:spChg chg="add mod">
          <ac:chgData name="sanchitasaroj6@gmail.com" userId="0b6aa9834323d0bc" providerId="LiveId" clId="{435E514B-0F9E-4E60-8266-C7195F9B490F}" dt="2026-09-20T05:38:09.549" v="1123" actId="1076"/>
          <ac:spMkLst>
            <pc:docMk/>
            <pc:sldMk cId="3449508277" sldId="507"/>
            <ac:spMk id="3" creationId="{2D9EA58C-993F-415E-8928-10978492A3DA}"/>
          </ac:spMkLst>
        </pc:spChg>
        <pc:spChg chg="add del mod">
          <ac:chgData name="sanchitasaroj6@gmail.com" userId="0b6aa9834323d0bc" providerId="LiveId" clId="{435E514B-0F9E-4E60-8266-C7195F9B490F}" dt="2026-09-20T05:28:23.778" v="1014" actId="478"/>
          <ac:spMkLst>
            <pc:docMk/>
            <pc:sldMk cId="3449508277" sldId="507"/>
            <ac:spMk id="10" creationId="{AAFFC218-4B5B-9329-E585-4A4C294366E2}"/>
          </ac:spMkLst>
        </pc:spChg>
        <pc:picChg chg="add del">
          <ac:chgData name="sanchitasaroj6@gmail.com" userId="0b6aa9834323d0bc" providerId="LiveId" clId="{435E514B-0F9E-4E60-8266-C7195F9B490F}" dt="2026-09-20T05:28:23.778" v="1014" actId="478"/>
          <ac:picMkLst>
            <pc:docMk/>
            <pc:sldMk cId="3449508277" sldId="507"/>
            <ac:picMk id="4" creationId="{52FB631E-E469-C80D-C58A-99E545F3785B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0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2168" y="2360495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246464"/>
              </p:ext>
            </p:extLst>
          </p:nvPr>
        </p:nvGraphicFramePr>
        <p:xfrm>
          <a:off x="1670447" y="3505366"/>
          <a:ext cx="609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2501730425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Sanchita Saroj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2501730440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Rohit Kushwaha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2501730439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Kevin Gautam Shah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645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2501730500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Khushi Singh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04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2501730328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Manas Kumar Shaw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346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377553" y="976286"/>
            <a:ext cx="66082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 err="1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VoicePay</a:t>
            </a: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-Easy UPI for Everyone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</a:t>
            </a:r>
            <a:r>
              <a:rPr lang="en-IN" b="1" dirty="0"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Himanshi Yadav</a:t>
            </a:r>
            <a:endParaRPr lang="en-IN" sz="1800" b="1" dirty="0"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90038"/>
            <a:ext cx="92661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4000" b="1" dirty="0"/>
              <a:t>Problem Statement &amp; Community Context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47BE6-0221-BC09-1EBB-8DF75E72E08A}"/>
              </a:ext>
            </a:extLst>
          </p:cNvPr>
          <p:cNvSpPr txBox="1"/>
          <p:nvPr/>
        </p:nvSpPr>
        <p:spPr>
          <a:xfrm>
            <a:off x="215516" y="1219305"/>
            <a:ext cx="87129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 Statement</a:t>
            </a:r>
          </a:p>
          <a:p>
            <a:pPr>
              <a:buNone/>
            </a:pPr>
            <a:r>
              <a:rPr lang="en-IN" dirty="0"/>
              <a:t>India has witnessed rapid growth in digital payments through UPI. However, many elderly citizens and low-literacy users struggle to use these services independently due to complex interfaces, unfamiliar banking terminology, and fear of making mistakes during transactions.</a:t>
            </a:r>
          </a:p>
          <a:p>
            <a:pPr>
              <a:buNone/>
            </a:pPr>
            <a:r>
              <a:rPr lang="en-IN" dirty="0"/>
              <a:t>As a result, many users remain dependent on family members or others for digital payments, increasing their vulnerability to financial fraud and limiting financial inclusion.</a:t>
            </a:r>
          </a:p>
          <a:p>
            <a:pPr>
              <a:buNone/>
            </a:pPr>
            <a:r>
              <a:rPr lang="en-IN" b="1" dirty="0"/>
              <a:t>Community Context</a:t>
            </a:r>
          </a:p>
          <a:p>
            <a:pPr>
              <a:buNone/>
            </a:pPr>
            <a:r>
              <a:rPr lang="en-IN" dirty="0"/>
              <a:t>• Many elderly users find smartphone interfaces and banking terminology difficult to understand.</a:t>
            </a:r>
          </a:p>
          <a:p>
            <a:pPr>
              <a:buNone/>
            </a:pPr>
            <a:r>
              <a:rPr lang="en-IN" dirty="0"/>
              <a:t>• Low-literacy individuals often struggle to read instructions, verify payment details, and understand transaction messages.</a:t>
            </a:r>
          </a:p>
          <a:p>
            <a:pPr>
              <a:buNone/>
            </a:pPr>
            <a:r>
              <a:rPr lang="en-IN" dirty="0"/>
              <a:t>• Fear of making mistakes or sending money to the wrong person discourages independent use of digital payment apps.</a:t>
            </a:r>
          </a:p>
          <a:p>
            <a:pPr>
              <a:buNone/>
            </a:pPr>
            <a:r>
              <a:rPr lang="en-IN" dirty="0"/>
              <a:t>• Dependence on family members or others for digital transactions reduces financial independence and privacy.</a:t>
            </a:r>
          </a:p>
          <a:p>
            <a:pPr>
              <a:buNone/>
            </a:pPr>
            <a:r>
              <a:rPr lang="en-IN" dirty="0"/>
              <a:t>• Limited awareness of online frauds, phishing, and fake payment requests increases security risks.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433182"/>
            <a:ext cx="93245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US" sz="3600" b="1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SzPct val="25000"/>
            </a:pPr>
            <a:r>
              <a:rPr lang="en-US" sz="36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 of Project / </a:t>
            </a:r>
          </a:p>
          <a:p>
            <a:pPr lvl="0">
              <a:buSzPct val="25000"/>
            </a:pPr>
            <a:r>
              <a:rPr lang="en-US" sz="36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Requirements of Organization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383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4C9F8-2A9C-9975-2A77-FDE8F566B77E}"/>
              </a:ext>
            </a:extLst>
          </p:cNvPr>
          <p:cNvSpPr txBox="1"/>
          <p:nvPr/>
        </p:nvSpPr>
        <p:spPr>
          <a:xfrm>
            <a:off x="323528" y="1480231"/>
            <a:ext cx="6337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Objectives</a:t>
            </a:r>
          </a:p>
          <a:p>
            <a:pPr>
              <a:buNone/>
            </a:pPr>
            <a:r>
              <a:rPr lang="en-IN" dirty="0"/>
              <a:t>• Help elderly and low-literacy users use UPI services with confidence.</a:t>
            </a:r>
          </a:p>
          <a:p>
            <a:pPr>
              <a:buNone/>
            </a:pPr>
            <a:r>
              <a:rPr lang="en-IN" dirty="0"/>
              <a:t>• Provide simple voice-guided support for digital payment tasks.</a:t>
            </a:r>
          </a:p>
          <a:p>
            <a:pPr>
              <a:buNone/>
            </a:pPr>
            <a:r>
              <a:rPr lang="en-IN" dirty="0"/>
              <a:t>• Guide users through payment-related steps.</a:t>
            </a:r>
          </a:p>
          <a:p>
            <a:pPr>
              <a:buNone/>
            </a:pPr>
            <a:r>
              <a:rPr lang="en-IN" dirty="0"/>
              <a:t>• Reduce confusion and dependence on others for everyday digital transactions.</a:t>
            </a:r>
          </a:p>
          <a:p>
            <a:pPr>
              <a:buNone/>
            </a:pPr>
            <a:r>
              <a:rPr lang="en-IN" dirty="0"/>
              <a:t>• Increase awareness of safe and secure digital payment practices.</a:t>
            </a:r>
          </a:p>
          <a:p>
            <a:pPr>
              <a:buNone/>
            </a:pPr>
            <a:r>
              <a:rPr lang="en-IN" dirty="0"/>
              <a:t>• Help user identify common payment scams and risks.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Requirements of the Organisation (Local NGO)</a:t>
            </a:r>
          </a:p>
          <a:p>
            <a:pPr>
              <a:buNone/>
            </a:pPr>
            <a:r>
              <a:rPr lang="en-IN" dirty="0"/>
              <a:t>• Help people learn how to use UPI.</a:t>
            </a:r>
          </a:p>
          <a:p>
            <a:pPr>
              <a:buNone/>
            </a:pPr>
            <a:r>
              <a:rPr lang="en-IN" dirty="0"/>
              <a:t>• Voice-based guidance for common UPI activities.</a:t>
            </a:r>
          </a:p>
          <a:p>
            <a:pPr>
              <a:buNone/>
            </a:pPr>
            <a:r>
              <a:rPr lang="en-IN" dirty="0"/>
              <a:t>• Teach users how to stay safe from online fraud.</a:t>
            </a:r>
          </a:p>
          <a:p>
            <a:pPr>
              <a:buNone/>
            </a:pPr>
            <a:r>
              <a:rPr lang="en-IN" dirty="0"/>
              <a:t>• Make digital payments easier to understand.</a:t>
            </a:r>
          </a:p>
          <a:p>
            <a:pPr>
              <a:buNone/>
            </a:pPr>
            <a:r>
              <a:rPr lang="en-IN" dirty="0"/>
              <a:t>• Provide simple guidance when they face difficulties.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59259"/>
            <a:ext cx="856895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4400" b="1" dirty="0"/>
              <a:t>SDG </a:t>
            </a:r>
            <a:r>
              <a:rPr lang="en-IN" sz="4000" b="1" dirty="0"/>
              <a:t>Mapping</a:t>
            </a:r>
            <a:r>
              <a:rPr lang="en-IN" sz="4400" b="1" dirty="0"/>
              <a:t> &amp; Justification</a:t>
            </a:r>
            <a:endParaRPr lang="en-IN" sz="44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B93CC-B9F2-CD72-AF43-9C55C13B6339}"/>
              </a:ext>
            </a:extLst>
          </p:cNvPr>
          <p:cNvSpPr txBox="1"/>
          <p:nvPr/>
        </p:nvSpPr>
        <p:spPr>
          <a:xfrm>
            <a:off x="206944" y="1228793"/>
            <a:ext cx="67687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SDG 1 – No Poverty</a:t>
            </a:r>
          </a:p>
          <a:p>
            <a:pPr>
              <a:buNone/>
            </a:pPr>
            <a:r>
              <a:rPr lang="en-IN" dirty="0"/>
              <a:t>VoicePay promotes financial inclusion by helping elderly and low-literacy users access and use digital payment services independently. Easy access to digital transactions can improve participation in financial systems and reduce reliance on cash-based processes.</a:t>
            </a:r>
          </a:p>
          <a:p>
            <a:pPr>
              <a:buNone/>
            </a:pPr>
            <a:r>
              <a:rPr lang="en-IN" b="1" dirty="0"/>
              <a:t>SDG 10 – Reduced Inequalities</a:t>
            </a:r>
          </a:p>
          <a:p>
            <a:pPr>
              <a:buNone/>
            </a:pPr>
            <a:r>
              <a:rPr lang="en-IN" dirty="0"/>
              <a:t>The project addresses barriers faced by digitally challenged users by providing simple voice-guided assistance. It helps bridge the gap between technology and vulnerable populations, ensuring more equitable access to digital financial services.</a:t>
            </a:r>
          </a:p>
          <a:p>
            <a:pPr>
              <a:buNone/>
            </a:pPr>
            <a:r>
              <a:rPr lang="en-IN" b="1" dirty="0"/>
              <a:t>Justification</a:t>
            </a:r>
          </a:p>
          <a:p>
            <a:pPr>
              <a:buNone/>
            </a:pPr>
            <a:r>
              <a:rPr lang="en-IN" dirty="0"/>
              <a:t>Many elderly and low-literacy individuals are unable to fully benefit from digital banking due to usability and accessibility challenges. VoicePay reduces these barriers through voice-based guidance, enabling users to perform UPI transactions with greater confidence, independence, and safety. By improving accessibility and financial inclusion, the project directly contributes to SDG 1 and SDG 10.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74929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and Tech Stack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10476-50EC-603A-F2C4-848556952EF7}"/>
              </a:ext>
            </a:extLst>
          </p:cNvPr>
          <p:cNvSpPr txBox="1"/>
          <p:nvPr/>
        </p:nvSpPr>
        <p:spPr>
          <a:xfrm>
            <a:off x="157792" y="1261802"/>
            <a:ext cx="84969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Methodology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Requirement Analysis</a:t>
            </a:r>
            <a:r>
              <a:rPr lang="en-IN" dirty="0"/>
              <a:t> – Identify challenges faced by elderly and low-literacy users while using UPI services.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System Design</a:t>
            </a:r>
            <a:r>
              <a:rPr lang="en-IN" dirty="0"/>
              <a:t> – Design a simple and accessible voice-guided user interface.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Development</a:t>
            </a:r>
            <a:r>
              <a:rPr lang="en-IN" dirty="0"/>
              <a:t> – Build the application and integrate voice assistance features.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Testing &amp; Feedback</a:t>
            </a:r>
            <a:r>
              <a:rPr lang="en-IN" dirty="0"/>
              <a:t> – Conduct usability testing and collect feedback from target users.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Improvement &amp; Deployment</a:t>
            </a:r>
            <a:r>
              <a:rPr lang="en-IN" dirty="0"/>
              <a:t> – Refine the system based on feedback and prepare the final solution.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Tech Stack</a:t>
            </a:r>
          </a:p>
          <a:p>
            <a:pPr>
              <a:buNone/>
            </a:pPr>
            <a:r>
              <a:rPr lang="en-IN" b="1" dirty="0"/>
              <a:t>Frontend: </a:t>
            </a:r>
            <a:r>
              <a:rPr lang="en-IN" dirty="0"/>
              <a:t>React.js</a:t>
            </a:r>
          </a:p>
          <a:p>
            <a:pPr>
              <a:buNone/>
            </a:pPr>
            <a:r>
              <a:rPr lang="en-IN" b="1" dirty="0"/>
              <a:t>Backend: </a:t>
            </a:r>
            <a:r>
              <a:rPr lang="en-IN" dirty="0"/>
              <a:t>Python</a:t>
            </a:r>
          </a:p>
          <a:p>
            <a:pPr>
              <a:buNone/>
            </a:pPr>
            <a:r>
              <a:rPr lang="en-IN" b="1" dirty="0"/>
              <a:t>Database: </a:t>
            </a:r>
            <a:r>
              <a:rPr lang="en-IN" dirty="0"/>
              <a:t>Firebase</a:t>
            </a:r>
          </a:p>
          <a:p>
            <a:pPr>
              <a:buNone/>
            </a:pPr>
            <a:r>
              <a:rPr lang="en-IN" b="1" dirty="0"/>
              <a:t>Voice Technologies: </a:t>
            </a:r>
            <a:r>
              <a:rPr lang="en-IN" dirty="0"/>
              <a:t>Speech-to-Text API &amp; Text-to-Speech API</a:t>
            </a:r>
          </a:p>
          <a:p>
            <a:pPr>
              <a:buNone/>
            </a:pPr>
            <a:r>
              <a:rPr lang="en-IN" b="1" dirty="0"/>
              <a:t>Development Tools: </a:t>
            </a:r>
            <a:r>
              <a:rPr lang="en-IN" dirty="0"/>
              <a:t>GitHub, VS Code &amp; Figma (UI Design)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2" y="100424"/>
            <a:ext cx="93634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1B12561B-E1D2-716B-03E7-2CB9CFF5F8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459296"/>
            <a:ext cx="5472608" cy="40793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75B69C-C289-0AF6-DE30-512F1D0E2EC1}"/>
              </a:ext>
            </a:extLst>
          </p:cNvPr>
          <p:cNvSpPr txBox="1"/>
          <p:nvPr/>
        </p:nvSpPr>
        <p:spPr>
          <a:xfrm>
            <a:off x="173732" y="1666628"/>
            <a:ext cx="50327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#Architecture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User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React.js Interface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Voice Processing 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Node.js Backend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Firebase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5010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 (Semester Plan)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D9EA58C-993F-415E-8928-10978492A3DA}"/>
              </a:ext>
            </a:extLst>
          </p:cNvPr>
          <p:cNvSpPr txBox="1"/>
          <p:nvPr/>
        </p:nvSpPr>
        <p:spPr>
          <a:xfrm>
            <a:off x="179512" y="1337129"/>
            <a:ext cx="93270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Weeks 1–2: Problem Identification &amp; Community Research</a:t>
            </a:r>
            <a:br>
              <a:rPr lang="en-IN" dirty="0"/>
            </a:br>
            <a:r>
              <a:rPr lang="en-IN" dirty="0"/>
              <a:t>Understand the challenges faced by elderly and low-literacy users while using UPI services.</a:t>
            </a:r>
          </a:p>
          <a:p>
            <a:r>
              <a:rPr lang="en-IN" b="1" dirty="0"/>
              <a:t>Week 3: Requirement Analysis &amp; NGO Consultation</a:t>
            </a:r>
            <a:br>
              <a:rPr lang="en-IN" dirty="0"/>
            </a:br>
            <a:r>
              <a:rPr lang="en-IN" dirty="0"/>
              <a:t>Identify user needs and gather requirements for the proposed solution.</a:t>
            </a:r>
          </a:p>
          <a:p>
            <a:r>
              <a:rPr lang="en-IN" b="1" dirty="0"/>
              <a:t>Weeks 4–5: System Design &amp; UI Planning</a:t>
            </a:r>
            <a:br>
              <a:rPr lang="en-IN" dirty="0"/>
            </a:br>
            <a:r>
              <a:rPr lang="en-IN" dirty="0"/>
              <a:t>Design a simple, accessible interface and define the voice-guided workflow.</a:t>
            </a:r>
          </a:p>
          <a:p>
            <a:r>
              <a:rPr lang="en-IN" b="1" dirty="0"/>
              <a:t>Weeks 6–9: Development &amp; Voice Integration</a:t>
            </a:r>
            <a:br>
              <a:rPr lang="en-IN" dirty="0"/>
            </a:br>
            <a:r>
              <a:rPr lang="en-IN" dirty="0"/>
              <a:t>Develop the application and integrate Speech-to-Text and Text-to-Speech features.</a:t>
            </a:r>
          </a:p>
          <a:p>
            <a:r>
              <a:rPr lang="en-IN" b="1" dirty="0"/>
              <a:t>Weeks 10–11: Backend &amp; Database Integration</a:t>
            </a:r>
            <a:br>
              <a:rPr lang="en-IN" dirty="0"/>
            </a:br>
            <a:r>
              <a:rPr lang="en-IN" dirty="0"/>
              <a:t>Configure Firebase services and connect all system components.</a:t>
            </a:r>
          </a:p>
          <a:p>
            <a:r>
              <a:rPr lang="en-IN" b="1" dirty="0"/>
              <a:t>Weeks 12–13: Testing &amp; User Feedback</a:t>
            </a:r>
            <a:br>
              <a:rPr lang="en-IN" dirty="0"/>
            </a:br>
            <a:r>
              <a:rPr lang="en-IN" dirty="0"/>
              <a:t>Test the application, identify issues, and incorporate user feedback.</a:t>
            </a:r>
          </a:p>
          <a:p>
            <a:r>
              <a:rPr lang="en-IN" b="1" dirty="0"/>
              <a:t>Week 14: Documentation &amp; Report Preparation</a:t>
            </a:r>
            <a:br>
              <a:rPr lang="en-IN" dirty="0"/>
            </a:br>
            <a:r>
              <a:rPr lang="en-IN" dirty="0"/>
              <a:t>Prepare project documentation, reports, and presentation materials.</a:t>
            </a:r>
          </a:p>
          <a:p>
            <a:r>
              <a:rPr lang="en-IN" b="1" dirty="0"/>
              <a:t>Week 15: Final Review &amp; Submission</a:t>
            </a:r>
            <a:br>
              <a:rPr lang="en-IN" dirty="0"/>
            </a:br>
            <a:r>
              <a:rPr lang="en-IN" dirty="0"/>
              <a:t>Conduct final testing, demonstrate the project, and complete submission.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9888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 (if any)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33E55-FE21-0076-0157-09F2DEDBC564}"/>
              </a:ext>
            </a:extLst>
          </p:cNvPr>
          <p:cNvSpPr txBox="1"/>
          <p:nvPr/>
        </p:nvSpPr>
        <p:spPr>
          <a:xfrm>
            <a:off x="294034" y="1646218"/>
            <a:ext cx="66076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Sources</a:t>
            </a:r>
          </a:p>
          <a:p>
            <a:pPr>
              <a:buNone/>
            </a:pPr>
            <a:r>
              <a:rPr lang="en-IN" dirty="0"/>
              <a:t>• Feedback collected from elderly users and individuals with limited digital literacy.</a:t>
            </a:r>
          </a:p>
          <a:p>
            <a:pPr>
              <a:buNone/>
            </a:pPr>
            <a:r>
              <a:rPr lang="en-IN" dirty="0"/>
              <a:t>• Discussions with the collaborating NGO to understand community challenges.</a:t>
            </a:r>
          </a:p>
          <a:p>
            <a:pPr>
              <a:buNone/>
            </a:pPr>
            <a:r>
              <a:rPr lang="en-IN" dirty="0"/>
              <a:t>• RBI and NPCI guidelines on digital payments and UPI safety.</a:t>
            </a:r>
          </a:p>
          <a:p>
            <a:pPr>
              <a:buNone/>
            </a:pPr>
            <a:r>
              <a:rPr lang="en-IN" dirty="0"/>
              <a:t>• Research on common digital payment frauds and user difficulties.</a:t>
            </a:r>
          </a:p>
          <a:p>
            <a:pPr>
              <a:buNone/>
            </a:pPr>
            <a:r>
              <a:rPr lang="en-IN" b="1" dirty="0"/>
              <a:t>Resources Used</a:t>
            </a:r>
          </a:p>
          <a:p>
            <a:pPr>
              <a:buNone/>
            </a:pPr>
            <a:r>
              <a:rPr lang="en-IN" dirty="0"/>
              <a:t>• React.js and Node.js Documentation</a:t>
            </a:r>
          </a:p>
          <a:p>
            <a:pPr>
              <a:buNone/>
            </a:pPr>
            <a:r>
              <a:rPr lang="en-IN" dirty="0"/>
              <a:t>• Firebase Services</a:t>
            </a:r>
          </a:p>
          <a:p>
            <a:pPr>
              <a:buNone/>
            </a:pPr>
            <a:r>
              <a:rPr lang="en-IN" dirty="0"/>
              <a:t>• Speech-to-Text and Text-to-Speech APIs</a:t>
            </a:r>
          </a:p>
          <a:p>
            <a:pPr>
              <a:buNone/>
            </a:pPr>
            <a:r>
              <a:rPr lang="en-IN" dirty="0"/>
              <a:t>• Digital Payment Awareness Resources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 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81017-9CDD-099D-E0B5-67DC21EAF57E}"/>
              </a:ext>
            </a:extLst>
          </p:cNvPr>
          <p:cNvSpPr txBox="1"/>
          <p:nvPr/>
        </p:nvSpPr>
        <p:spPr>
          <a:xfrm>
            <a:off x="99391" y="1149757"/>
            <a:ext cx="84969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Use Cases</a:t>
            </a:r>
          </a:p>
          <a:p>
            <a:pPr>
              <a:buNone/>
            </a:pPr>
            <a:r>
              <a:rPr lang="en-IN" b="1" dirty="0"/>
              <a:t>Voice-Guided Payment Assistance</a:t>
            </a:r>
          </a:p>
          <a:p>
            <a:pPr>
              <a:buNone/>
            </a:pPr>
            <a:r>
              <a:rPr lang="en-IN" dirty="0"/>
              <a:t>Provides step-by-step voice instructions to help users perform UPI transactions confidently.</a:t>
            </a:r>
          </a:p>
          <a:p>
            <a:pPr>
              <a:buNone/>
            </a:pPr>
            <a:r>
              <a:rPr lang="en-IN" b="1" dirty="0"/>
              <a:t>Understanding UPI Prompts</a:t>
            </a:r>
          </a:p>
          <a:p>
            <a:pPr>
              <a:buNone/>
            </a:pPr>
            <a:r>
              <a:rPr lang="en-IN" dirty="0"/>
              <a:t>Explains payment requests, transaction messages, and banking terms in simple language.</a:t>
            </a:r>
          </a:p>
          <a:p>
            <a:pPr>
              <a:buNone/>
            </a:pPr>
            <a:r>
              <a:rPr lang="en-IN" b="1" dirty="0"/>
              <a:t>Digital Safety Awareness</a:t>
            </a:r>
          </a:p>
          <a:p>
            <a:pPr>
              <a:buNone/>
            </a:pPr>
            <a:r>
              <a:rPr lang="en-IN" dirty="0"/>
              <a:t>Alerts users about common payment scams and promotes safe digital payment practices.</a:t>
            </a:r>
          </a:p>
          <a:p>
            <a:pPr>
              <a:buNone/>
            </a:pPr>
            <a:r>
              <a:rPr lang="en-IN" b="1" dirty="0"/>
              <a:t>Support for First-Time Users</a:t>
            </a:r>
          </a:p>
          <a:p>
            <a:pPr>
              <a:buNone/>
            </a:pPr>
            <a:r>
              <a:rPr lang="en-IN" dirty="0"/>
              <a:t>Assists users who are new to digital payments and need guidance while using UPI services.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Project Scope</a:t>
            </a:r>
          </a:p>
          <a:p>
            <a:pPr>
              <a:buNone/>
            </a:pPr>
            <a:r>
              <a:rPr lang="en-IN" dirty="0"/>
              <a:t>VoicePay is designed for elderly citizens, low-literacy individuals, and first-time digital payment users who face difficulties using UPI applications. The solution can be used in community digital literacy programs and NGO-led initiatives to improve financial inclusion, digital confidence, and safe adoption of digital payment services.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440ED-86C5-F970-104F-2CB74D0D86D3}"/>
              </a:ext>
            </a:extLst>
          </p:cNvPr>
          <p:cNvSpPr txBox="1"/>
          <p:nvPr/>
        </p:nvSpPr>
        <p:spPr>
          <a:xfrm>
            <a:off x="251520" y="1951634"/>
            <a:ext cx="79208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Expected Outcome</a:t>
            </a:r>
          </a:p>
          <a:p>
            <a:r>
              <a:rPr lang="en-IN" dirty="0"/>
              <a:t>VoicePay will help elderly and low-literacy users understand and perform basic UPI transactions through simple voice-guided assistance. Users will be able to follow payment instructions more easily, understand common UPI prompts, and learn essential digital payment safety practices with reduced dependence on others.</a:t>
            </a:r>
          </a:p>
          <a:p>
            <a:r>
              <a:rPr lang="en-IN" b="1" dirty="0"/>
              <a:t>Impact</a:t>
            </a:r>
          </a:p>
          <a:p>
            <a:r>
              <a:rPr lang="en-IN" dirty="0"/>
              <a:t>VoicePay can make digital payments more accessible and less intimidating for elderly and low-literacy individuals. By simplifying the payment process and promoting awareness of common online frauds, the project can improve users' confidence, independence, and participation in the digital economy.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6393</TotalTime>
  <Words>1161</Words>
  <Application>Microsoft Office PowerPoint</Application>
  <PresentationFormat>On-screen Show (4:3)</PresentationFormat>
  <Paragraphs>135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sanchitasaroj6@gmail.com</cp:lastModifiedBy>
  <cp:revision>314</cp:revision>
  <cp:lastPrinted>2022-09-05T08:43:44Z</cp:lastPrinted>
  <dcterms:created xsi:type="dcterms:W3CDTF">2020-01-16T09:05:56Z</dcterms:created>
  <dcterms:modified xsi:type="dcterms:W3CDTF">2026-09-20T05:40:15Z</dcterms:modified>
</cp:coreProperties>
</file>