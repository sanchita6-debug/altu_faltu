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917" r:id="rId2"/>
    <p:sldId id="59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57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16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1344" y="6761260"/>
            <a:ext cx="11809312" cy="124124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Ms. Archna, Dr. Preeti &amp; Dr. Vandna                              Theory of Computation                              Finite Automata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5639" y="6620868"/>
            <a:ext cx="284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0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722" y="150276"/>
            <a:ext cx="8682775" cy="6447077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3" y="150275"/>
            <a:ext cx="6396065" cy="920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2550141"/>
            <a:ext cx="86409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Ms. Mansi, Dr. Rishika Ms. Megha Sharma, Dr. Reenu, Dr. Swati, Dr, Surabhi, Dr. Neha Kaushik and Ms. Deepika Garg</a:t>
            </a:r>
            <a:endParaRPr lang="en-IN" sz="2400" b="1" dirty="0" err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80" y="1663572"/>
            <a:ext cx="8496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335" y="4293756"/>
            <a:ext cx="84969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Technology(SOET)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 R. </a:t>
            </a:r>
            <a:r>
              <a:rPr lang="en-US" kern="10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-14447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92053" y="2151975"/>
            <a:ext cx="824440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4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Session 13</a:t>
            </a:r>
          </a:p>
          <a:p>
            <a:pPr algn="ctr"/>
            <a:r>
              <a:rPr lang="en-US" sz="3200" b="1" dirty="0">
                <a:solidFill>
                  <a:srgbClr val="1F4E79"/>
                </a:solidFill>
              </a:rPr>
              <a:t>SQL Fundamentals: DDL Commands (CREATE, ALTER, DROP) </a:t>
            </a:r>
            <a:endParaRPr lang="en-IN" sz="3200" b="1" dirty="0">
              <a:solidFill>
                <a:srgbClr val="E31E24"/>
              </a:solidFill>
              <a:latin typeface="+mj-lt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6381329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390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WILL BE ABLE 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04088" y="210769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704088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and scope of DDL within SQL's command families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Shape 7"/>
          <p:cNvSpPr/>
          <p:nvPr/>
        </p:nvSpPr>
        <p:spPr>
          <a:xfrm>
            <a:off x="6373368" y="210769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6373368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49440" y="1920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CREATE TABLE statements with correct data types &amp; constraints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704088" y="338785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04088" y="3387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ALTER TABLE to add, modify, and drop columns on a live 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6373368" y="338785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6373368" y="3387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49440" y="32004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DROP TABLE correctly, and explain why it differs from DELETE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704088" y="466801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704088" y="46680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auto-commit behaviour and risks of DDL in live production systems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43891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5" name="Shape 23"/>
          <p:cNvSpPr/>
          <p:nvPr/>
        </p:nvSpPr>
        <p:spPr>
          <a:xfrm>
            <a:off x="6373368" y="466801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6373368" y="46680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49440" y="4480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most common structural mistakes beginners make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 — RECAP OF CORE DATABASE CONCEPTS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4023360"/>
          </a:xfrm>
          <a:prstGeom prst="roundRect">
            <a:avLst>
              <a:gd name="adj" fmla="val 2273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organized into tables — the same model behind billion-row datasets at Amazon and Swiggy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283464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has a data type (INT, VARCHAR, DATE) — enforced at petabyte scale by Snowflake &amp; BigQuery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361188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fall into families: DDL (structure), DML (data), DCL (permissions), TCL (transactions)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686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438912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DDL — the exact commands engineers run before any production system goes live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The Architect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House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database table like a house. Before furniture moves in (insert data), someone pours the foundation and puts up walls — that's what DDL does. In real IT teams, this blueprint is version-controlled, just like Terraform or Liquibase define infrastructure and schema before code touches production.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80760" y="182880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SQL 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2240280"/>
            <a:ext cx="5608015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6263640" y="231343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the blueprint &amp; building the house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2569464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80760" y="3108960"/>
            <a:ext cx="5608015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6263640" y="318211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room / knocking down a wall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3438144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80760" y="3977640"/>
            <a:ext cx="5608015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6263640" y="405079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Demolishing the house entirely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4306824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DDL?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structure, not data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statements create and modify the schema — the same statements running inside MySQL, PostgreSQL, Snowflake &amp; MongoDB Atlas today.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761488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77240" y="27340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commands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builds new objects, ALTER modifies existing ones, DROP removes them entirely.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602736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777240" y="35753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Auto-committed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7240" y="387705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RDBMS (MySQL, PostgreSQL, Oracle), DDL commits immediately — one wrong ALTER in production can't be undone.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443984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everyone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7240" y="471830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structure is shared, one DDL change can affect every microservice reading that table across the company.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4327855" cy="4114800"/>
          </a:xfrm>
          <a:prstGeom prst="roundRect">
            <a:avLst>
              <a:gd name="adj" fmla="val 2222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635240" y="1865376"/>
            <a:ext cx="3779215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 Family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ALTER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TRUNCATE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RENAME</a:t>
            </a:r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with: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→ data itself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→ permissions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→ transactions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COMMANDS RELATE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of a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3977640"/>
          </a:xfrm>
          <a:prstGeom prst="roundRect">
            <a:avLst>
              <a:gd name="adj" fmla="val 229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1051560" y="32232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5F5EC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1051560" y="33604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38176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is born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3771900"/>
            <a:ext cx="1478128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Shape 7"/>
          <p:cNvSpPr/>
          <p:nvPr/>
        </p:nvSpPr>
        <p:spPr>
          <a:xfrm>
            <a:off x="4907128" y="32232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DF0DC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4907128" y="33604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07128" y="38176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evolves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84568" y="3771900"/>
            <a:ext cx="1478128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8762695" y="32232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BE7E5"/>
          </a:solidFill>
          <a:ln w="12700">
            <a:solidFill>
              <a:srgbClr val="D6483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762695" y="33604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62695" y="38176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is removed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5948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re-created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07128" y="45948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can repeat any number of times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62695" y="45948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without ROLLBACK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is born with CREATE, evolves with ALTER, and can end with DROP — tracked today via Git-based migration tools like Flyway &amp; Liquibase.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BRAND-NEW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CREATE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2834640"/>
          </a:xfrm>
          <a:prstGeom prst="roundRect">
            <a:avLst>
              <a:gd name="adj" fmla="val 2581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46304" cy="146304"/>
          </a:xfrm>
          <a:prstGeom prst="ellipse">
            <a:avLst/>
          </a:prstGeom>
          <a:solidFill>
            <a:srgbClr val="D648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43584" y="2011680"/>
            <a:ext cx="146304" cy="14630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employees (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employee_id   INT           PRIMARY KEY,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first_name    VARCHAR(50)   NOT NULL,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last_name     VARCHAR(50)   NOT NULL,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hire_date     DATE          DEFAULT (CURRENT_DATE),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salary        DECIMAL(10,2) CHECK (salary &gt; 0),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department_id INT,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(department_id) REFERENCES departments(department_id)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892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gets a name, a data type, and optional constraints (PRIMARY KEY, NOT NULL, CHECK, DEFAULT).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4892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3484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links this table to another — the same relational backbone behind banking, e-commerce &amp; ERP systems worldwide.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/ SHOW COLUMNS CONFIRMS THE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Creating &amp; Describing a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employees 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employee_id INT PRIMARY KEY,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first_name  VARCHAR(50) NOT NULL,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salary      DECIMAL(10,2)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employees;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rows exist yet — CREATE TABLE only builds the empty structure, exactly how a new HR system's table looks on Day 1. Data comes later, via DML (Session 14).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035576"/>
              </p:ext>
            </p:extLst>
          </p:nvPr>
        </p:nvGraphicFramePr>
        <p:xfrm>
          <a:off x="6355080" y="2148840"/>
          <a:ext cx="5333696" cy="3291840"/>
        </p:xfrm>
        <a:graphic>
          <a:graphicData uri="http://schemas.openxmlformats.org/drawingml/2006/table">
            <a:tbl>
              <a:tblPr/>
              <a:tblGrid>
                <a:gridCol w="133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decimal(10,2)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TABLE THAT ALREADY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ALTER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3063240"/>
          </a:xfrm>
          <a:prstGeom prst="roundRect">
            <a:avLst>
              <a:gd name="adj" fmla="val 2581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46304" cy="146304"/>
          </a:xfrm>
          <a:prstGeom prst="ellipse">
            <a:avLst/>
          </a:prstGeom>
          <a:solidFill>
            <a:srgbClr val="D648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43584" y="2011680"/>
            <a:ext cx="146304" cy="14630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45775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Add a column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employees ADD COLUMN email VARCHAR(100);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Modify a column's type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employees MODIFY COLUMN salary DECIMAL(12,2);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Drop a column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employees DROP COLUMN email;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Rename a column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employees RENAME COLUMN last_name TO surname;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892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MODIFY/CHANGE, DROP and RENAME are the four ALTER actions you'll use daily.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4892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3484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rows are preserved — but on huge live tables, MNCs use online-DDL tools like GitHub's gh-ost to avoid locking or downtime.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ROWS AUTOMATICALLY GET THE NEW COLUMN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Adding a Column to a Live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employees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COLUMN bonus DECIMAL(8,2) DEFAULT 0;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employee_id, first_name, bonus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row instantly gets the new 'bonus' column — the same pattern used when Swiggy adds a 'delivery_partner_id' column to live order tables.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44198"/>
              </p:ext>
            </p:extLst>
          </p:nvPr>
        </p:nvGraphicFramePr>
        <p:xfrm>
          <a:off x="6355080" y="2148840"/>
          <a:ext cx="5333694" cy="3291840"/>
        </p:xfrm>
        <a:graphic>
          <a:graphicData uri="http://schemas.openxmlformats.org/drawingml/2006/table">
            <a:tbl>
              <a:tblPr/>
              <a:tblGrid>
                <a:gridCol w="1777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VERY DIFFERENT WAYS TO 'REMOVE'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vs TRUNCATE vs DELETE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257800" cy="548640"/>
          </a:xfrm>
          <a:prstGeom prst="roundRect">
            <a:avLst>
              <a:gd name="adj" fmla="val 16667"/>
            </a:avLst>
          </a:prstGeom>
          <a:solidFill>
            <a:srgbClr val="D6483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257800" cy="274320"/>
          </a:xfrm>
          <a:prstGeom prst="rect">
            <a:avLst/>
          </a:prstGeom>
          <a:solidFill>
            <a:srgbClr val="D6483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 (DDL)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Removes the table AND its structure entirely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644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Table no longer exists — even the schema is gone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92277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Needs a change-approval ticket at most MNCs before running in production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58114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Frees all storage used by the table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257800" cy="54864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5257800" cy="274320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 (DDL)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Removes ALL rows, but keeps the table structure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2644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Faster than DELETE — used to reset staging/test schemas in CI/CD pipelines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392277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use a WHERE clause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458114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Usually cannot be rolled back either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 AFTER EACH COMMAND?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Difference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3977640"/>
          </a:xfrm>
          <a:prstGeom prst="roundRect">
            <a:avLst>
              <a:gd name="adj" fmla="val 229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36244" y="214884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36244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93444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36244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itself is gone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87088" y="214884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87088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44288" y="2834640"/>
            <a:ext cx="2103120" cy="2011680"/>
          </a:xfrm>
          <a:prstGeom prst="rect">
            <a:avLst/>
          </a:prstGeom>
          <a:solidFill>
            <a:srgbClr val="F5F6F8"/>
          </a:solidFill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44288" y="3337560"/>
            <a:ext cx="21031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44288" y="3840480"/>
            <a:ext cx="21031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44288" y="4343400"/>
            <a:ext cx="21031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87088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remains, 0 rows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7931" y="214884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137931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(DML)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131" y="2834640"/>
            <a:ext cx="2103120" cy="2011680"/>
          </a:xfrm>
          <a:prstGeom prst="rect">
            <a:avLst/>
          </a:prstGeom>
          <a:solidFill>
            <a:srgbClr val="F5F6F8"/>
          </a:solidFill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595131" y="3337560"/>
            <a:ext cx="21031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595131" y="3840480"/>
            <a:ext cx="21031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595131" y="4343400"/>
            <a:ext cx="21031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40851" y="2880360"/>
            <a:ext cx="2011680" cy="411480"/>
          </a:xfrm>
          <a:prstGeom prst="rect">
            <a:avLst/>
          </a:prstGeom>
          <a:solidFill>
            <a:srgbClr val="E3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137931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+ some rows remain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is actually a DML command (Session 14) — many companies use a 'soft delete' flag instead of any of these, to preserve audit history.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TABLE PERMANENTLY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DROP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temp_import;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Trying to query it afterwards: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temp_import;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EXISTS prevents an error when the table may not be there — a must-have in every automated migration script (Flyway, Liquibase, Alembic).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49499"/>
              </p:ext>
            </p:extLst>
          </p:nvPr>
        </p:nvGraphicFramePr>
        <p:xfrm>
          <a:off x="6355080" y="2148840"/>
          <a:ext cx="5333695" cy="3291840"/>
        </p:xfrm>
        <a:graphic>
          <a:graphicData uri="http://schemas.openxmlformats.org/drawingml/2006/table">
            <a:tbl>
              <a:tblPr/>
              <a:tblGrid>
                <a:gridCol w="533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Table 'temp_import' doesn't exist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PITFALLS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Shape 3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FBE7E5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4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customers;  -- no backup taken first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ROLLBACK for DROP in most databases — real incidents like GitLab's 2017 production database deletion show why backups &amp; approvals matter.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457200" cy="457200"/>
          </a:xfrm>
          <a:prstGeom prst="ellipse">
            <a:avLst/>
          </a:prstGeom>
          <a:solidFill>
            <a:srgbClr val="FBE7E5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4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orders MODIFY qty VARCHAR(10);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numeric column to text can silently break calculations and existing queries that expect numbers.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5" name="Shape 13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FBE7E5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6" name="Text 14"/>
          <p:cNvSpPr/>
          <p:nvPr/>
        </p:nvSpPr>
        <p:spPr>
          <a:xfrm>
            <a:off x="7315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4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(id INT, id INT);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1206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missing PRIMARY KEY definitions lead to data integrity problems — schema-linting tools like SQLFluff now catch this before deployment.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UNDERSTANDING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Let's Do One Together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2377440"/>
          </a:xfrm>
          <a:prstGeom prst="roundRect">
            <a:avLst>
              <a:gd name="adj" fmla="val 3846"/>
            </a:avLst>
          </a:prstGeom>
          <a:solidFill>
            <a:srgbClr val="EEEBFC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TASK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45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'students' table needs a new column to store an email address (VARCHAR, up to 100 characters), and the existing 'phone' column should have NULL values removed as NOT NULL. Write both ALTER TABLE statements — a real week-one ticket for a junior DBA.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11185855" cy="1463040"/>
          </a:xfrm>
          <a:prstGeom prst="roundRect">
            <a:avLst>
              <a:gd name="adj" fmla="val 6250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ALTER TABLE students ADD COLUMN email VARCHAR(100);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ALTER TABLE students MODIFY COLUMN phone VARCHAR(15) NOT NULL;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family does CREATE, ALTER, and DROP belong to?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685800" y="240030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68580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Data Manipulation Language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6309360" y="24003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30936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Data Definition Language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>
            <a:off x="685800" y="345186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68580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— Data Control Language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16"/>
          <p:cNvSpPr/>
          <p:nvPr/>
        </p:nvSpPr>
        <p:spPr>
          <a:xfrm>
            <a:off x="6309360" y="345186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30936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— Transaction Control Language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B  —  DDL defines and modifies database structure — exactly what schema-migration tools automate in production.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key difference between TRUNCATE and DROP?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Shape 4"/>
          <p:cNvSpPr/>
          <p:nvPr/>
        </p:nvSpPr>
        <p:spPr>
          <a:xfrm>
            <a:off x="685800" y="240030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/>
          <p:nvPr/>
        </p:nvSpPr>
        <p:spPr>
          <a:xfrm>
            <a:off x="68580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removes the table; DROP only removes rows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Shape 8"/>
          <p:cNvSpPr/>
          <p:nvPr/>
        </p:nvSpPr>
        <p:spPr>
          <a:xfrm>
            <a:off x="6309360" y="24003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1" name="Text 9"/>
          <p:cNvSpPr/>
          <p:nvPr/>
        </p:nvSpPr>
        <p:spPr>
          <a:xfrm>
            <a:off x="630936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keeps the table structure and removes rows; DROP removes the entire table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Shape 12"/>
          <p:cNvSpPr/>
          <p:nvPr/>
        </p:nvSpPr>
        <p:spPr>
          <a:xfrm>
            <a:off x="685800" y="345186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5" name="Text 13"/>
          <p:cNvSpPr/>
          <p:nvPr/>
        </p:nvSpPr>
        <p:spPr>
          <a:xfrm>
            <a:off x="68580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exactly the same command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Shape 16"/>
          <p:cNvSpPr/>
          <p:nvPr/>
        </p:nvSpPr>
        <p:spPr>
          <a:xfrm>
            <a:off x="6309360" y="345186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9" name="Text 17"/>
          <p:cNvSpPr/>
          <p:nvPr/>
        </p:nvSpPr>
        <p:spPr>
          <a:xfrm>
            <a:off x="630936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only works on views, DROP only works on tables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B  —  TRUNCATE empties a table but keeps its structure; DROP eliminates it entirely — a key distinction in CI/CD database resets.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Independent Practice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2377440"/>
          </a:xfrm>
          <a:prstGeom prst="roundRect">
            <a:avLst>
              <a:gd name="adj" fmla="val 3846"/>
            </a:avLst>
          </a:prstGeom>
          <a:solidFill>
            <a:srgbClr val="EEEBFC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TASK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45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Create a table 'products' with columns: product_id (INT, PRIMARY KEY), product_name (VARCHAR 100, NOT NULL), price (DECIMAL 8,2, CHECK &gt; 0).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Add a new column 'stock_qty' (INT, DEFAULT 0).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Rename 'product_name' to 'name'.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11185855" cy="1463040"/>
          </a:xfrm>
          <a:prstGeom prst="roundRect">
            <a:avLst>
              <a:gd name="adj" fmla="val 6250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into three separate statements: one CREATE TABLE, and two ALTER TABLE statements — just like onboarding a new client's catalog in a real e-commerce system.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4" name="Shape 2"/>
          <p:cNvSpPr/>
          <p:nvPr/>
        </p:nvSpPr>
        <p:spPr>
          <a:xfrm>
            <a:off x="685800" y="159105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5" name="Text 3"/>
          <p:cNvSpPr/>
          <p:nvPr/>
        </p:nvSpPr>
        <p:spPr>
          <a:xfrm>
            <a:off x="68580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(CREATE, ALTER, DROP) defines and reshapes database structure, not the data itself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8" name="Shape 6"/>
          <p:cNvSpPr/>
          <p:nvPr/>
        </p:nvSpPr>
        <p:spPr>
          <a:xfrm>
            <a:off x="685800" y="245973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9" name="Text 7"/>
          <p:cNvSpPr/>
          <p:nvPr/>
        </p:nvSpPr>
        <p:spPr>
          <a:xfrm>
            <a:off x="68580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builds a new table with columns, data types, and constraints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2" name="Shape 10"/>
          <p:cNvSpPr/>
          <p:nvPr/>
        </p:nvSpPr>
        <p:spPr>
          <a:xfrm>
            <a:off x="685800" y="332841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3" name="Text 11"/>
          <p:cNvSpPr/>
          <p:nvPr/>
        </p:nvSpPr>
        <p:spPr>
          <a:xfrm>
            <a:off x="6858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34440" y="315468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adds, modifies, drops, or renames columns on an existing table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7" name="Text 15"/>
          <p:cNvSpPr/>
          <p:nvPr/>
        </p:nvSpPr>
        <p:spPr>
          <a:xfrm>
            <a:off x="68580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removes the table entirely — it is different from TRUNCATE and DELETE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489204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0" name="Shape 18"/>
          <p:cNvSpPr/>
          <p:nvPr/>
        </p:nvSpPr>
        <p:spPr>
          <a:xfrm>
            <a:off x="685800" y="506577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1" name="Text 19"/>
          <p:cNvSpPr/>
          <p:nvPr/>
        </p:nvSpPr>
        <p:spPr>
          <a:xfrm>
            <a:off x="68580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4440" y="489204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is auto-committed — modern teams manage it safely with version-controlled migration tools (Flyway, Liquibase, Alembic) in CI/CD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95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8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14: SQL Fundamentals: DML Commands (INSERT, UPDATE, DELETE)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we know how to build the structure, next session we'll fill it with data — the same INSERT, UPDATE &amp; DELETE operations behind every checkout, like, and signup you use daily.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 |  DDL Commands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1939</Words>
  <Application>Microsoft Office PowerPoint</Application>
  <PresentationFormat>Widescreen</PresentationFormat>
  <Paragraphs>310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Rishika Mehta-Assistant Professor SOET</cp:lastModifiedBy>
  <cp:revision>3</cp:revision>
  <dcterms:created xsi:type="dcterms:W3CDTF">2026-07-16T04:29:42Z</dcterms:created>
  <dcterms:modified xsi:type="dcterms:W3CDTF">2026-07-20T03:00:26Z</dcterms:modified>
</cp:coreProperties>
</file>