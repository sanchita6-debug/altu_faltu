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917" r:id="rId3"/>
    <p:sldId id="59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2B4D2-BA16-C1F3-D1D7-301EE5FF2518}" v="1" dt="2026-09-18T08:17:43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49edf8e8-7ce8-44bc-8ba6-5e538ffde482::" providerId="AD" clId="Web-{7392B4D2-BA16-C1F3-D1D7-301EE5FF2518}"/>
    <pc:docChg chg="modSld">
      <pc:chgData name="Guest User" userId="S::urn:spo:tenantanon#49edf8e8-7ce8-44bc-8ba6-5e538ffde482::" providerId="AD" clId="Web-{7392B4D2-BA16-C1F3-D1D7-301EE5FF2518}" dt="2026-09-18T08:17:43.581" v="0" actId="1076"/>
      <pc:docMkLst>
        <pc:docMk/>
      </pc:docMkLst>
      <pc:sldChg chg="modSp">
        <pc:chgData name="Guest User" userId="S::urn:spo:tenantanon#49edf8e8-7ce8-44bc-8ba6-5e538ffde482::" providerId="AD" clId="Web-{7392B4D2-BA16-C1F3-D1D7-301EE5FF2518}" dt="2026-09-18T08:17:43.581" v="0" actId="1076"/>
        <pc:sldMkLst>
          <pc:docMk/>
          <pc:sldMk cId="0" sldId="259"/>
        </pc:sldMkLst>
        <pc:spChg chg="mod">
          <ac:chgData name="Guest User" userId="S::urn:spo:tenantanon#49edf8e8-7ce8-44bc-8ba6-5e538ffde482::" providerId="AD" clId="Web-{7392B4D2-BA16-C1F3-D1D7-301EE5FF2518}" dt="2026-09-18T08:17:43.581" v="0" actId="1076"/>
          <ac:spMkLst>
            <pc:docMk/>
            <pc:sldMk cId="0" sldId="259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60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16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1344" y="6761260"/>
            <a:ext cx="11809312" cy="124124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Ms. Archna, Dr. Preeti &amp; Dr. Vandna                              Theory of Computation                              Finite Automata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5639" y="6620868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21C46D-3F04-4F73-BF36-E6D9DA5AE1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9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Fundamentals: DCL &amp; TCL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3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· REVOKE · COMMIT · ROLLBACK — control and safety nets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4261104"/>
            <a:ext cx="128016" cy="12801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13308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Control Language (DCL): who is allowed to do what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128016" cy="12801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59028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Transaction Control Language (TCL): making changes safe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175504"/>
            <a:ext cx="128016" cy="12801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504748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commit, roll back, and set savepoints in a transaction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22" y="150276"/>
            <a:ext cx="8682775" cy="6447077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550141"/>
            <a:ext cx="86409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Ms. Mansi, Dr. Rishika Ms. Megha Sharma, Dr. Reenu, Dr. Swati, Dr, Surabhi, Dr. Neha Kaushik and Ms. Deepika</a:t>
            </a:r>
            <a:endParaRPr lang="en-IN" sz="2400" b="1" dirty="0" err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44" y="-14447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92053" y="2151975"/>
            <a:ext cx="824440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4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Session 15</a:t>
            </a:r>
          </a:p>
          <a:p>
            <a:pPr algn="ctr"/>
            <a:r>
              <a:rPr lang="en-US" sz="3200" b="1" dirty="0">
                <a:solidFill>
                  <a:srgbClr val="1F4E79"/>
                </a:solidFill>
              </a:rPr>
              <a:t>SQL Fundamentals: DCL (GRANT, REVOKE) &amp; TCL (COMMIT, ROLLBACK)</a:t>
            </a:r>
            <a:endParaRPr lang="en-IN" sz="3200" b="1" dirty="0">
              <a:solidFill>
                <a:srgbClr val="E31E24"/>
              </a:solidFill>
              <a:latin typeface="+mj-lt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634" y="169494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9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04088" y="210769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704088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DCL is and why database permissions matter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6373368" y="210769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373368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49440" y="1920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GRANT to give a user specific privileges on a 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704088" y="338785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04088" y="3387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REVOKE to remove privileges from a user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6373368" y="338785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6373368" y="3387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transaction is and why TCL exists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704088" y="466801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04088" y="4668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COMMIT, ROLLBACK, and SAVEPOINT to control a transaction's outcome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3891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5" name="Shape 23"/>
          <p:cNvSpPr/>
          <p:nvPr/>
        </p:nvSpPr>
        <p:spPr>
          <a:xfrm>
            <a:off x="6373368" y="4668012"/>
            <a:ext cx="402336" cy="402336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6373368" y="4668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49440" y="4480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DCL and TCL against the DDL and DML learned in Sessions 13–14, as practiced in real cloud IAM &amp; database roles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 — RECAP OF SESSION 14 — DML COMMANDS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4023360"/>
          </a:xfrm>
          <a:prstGeom prst="roundRect">
            <a:avLst>
              <a:gd name="adj" fmla="val 2273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(INSERT, UPDATE, DELETE) changes the data living inside a table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28346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WHERE clause in UPDATE or DELETE affects every row — a costly mistake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changes can usually be rolled back — the same safety net behind every UPI transfer and bank transaction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DCL &amp; TCL — the access control and safety nets behind every enterprise database, from AWS IAM to Snowflake roles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The Bank Vault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Receipts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gives certain employees keys to the vault (permissions) — a teller might access cash drawers, but only a manager can access the vault itself. Meanwhile, every transaction at the counter is written on a slip first; only when the customer confirms is it finalized. If something goes wrong mid-transaction, it's voided entirely — the same principle behind role-based access control (RBAC) in AWS IAM and Snowflake today.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0760" y="1828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SQL 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24028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0" name="Text 8"/>
          <p:cNvSpPr/>
          <p:nvPr/>
        </p:nvSpPr>
        <p:spPr>
          <a:xfrm>
            <a:off x="6263640" y="231343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employee a vault key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56946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310896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3" name="Text 11"/>
          <p:cNvSpPr/>
          <p:nvPr/>
        </p:nvSpPr>
        <p:spPr>
          <a:xfrm>
            <a:off x="6263640" y="318211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key 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196" y="3466366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397764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6" name="Text 14"/>
          <p:cNvSpPr/>
          <p:nvPr/>
        </p:nvSpPr>
        <p:spPr>
          <a:xfrm>
            <a:off x="6263640" y="405079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the transaction slip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430682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4846320"/>
            <a:ext cx="5608015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9" name="Text 17"/>
          <p:cNvSpPr/>
          <p:nvPr/>
        </p:nvSpPr>
        <p:spPr>
          <a:xfrm>
            <a:off x="6263640" y="491947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Voiding the transaction slip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5175504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DCL?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access, not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manages who can read, write, or modify database objects — the same model behind AWS IAM, Snowflake roles &amp; database-level RBAC today.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61488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commands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gives a user specific privileges; REVOKE takes those privileges away.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602736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are specific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grant just SELECT, or SELECT + INSERT, or ALL PRIVILEGES — as narrow or broad as needed.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443984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71830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give users only the access they truly need — over-permissioned accounts are a leading cause of real data breaches.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4327855" cy="4114800"/>
          </a:xfrm>
          <a:prstGeom prst="roundRect">
            <a:avLst>
              <a:gd name="adj" fmla="val 2222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7" name="Text 15"/>
          <p:cNvSpPr/>
          <p:nvPr/>
        </p:nvSpPr>
        <p:spPr>
          <a:xfrm>
            <a:off x="7635240" y="2103120"/>
            <a:ext cx="377921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Command Family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REVOKE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privileges: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ALL PRIVILEGES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to: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AND REMOVING ACCESS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GRANT &amp; REVOKE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3063240"/>
          </a:xfrm>
          <a:prstGeom prst="roundRect">
            <a:avLst>
              <a:gd name="adj" fmla="val 2581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46304" cy="146304"/>
          </a:xfrm>
          <a:prstGeom prst="ellipse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7" name="Shape 5"/>
          <p:cNvSpPr/>
          <p:nvPr/>
        </p:nvSpPr>
        <p:spPr>
          <a:xfrm>
            <a:off x="1243584" y="201168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Give one user SELECT &amp; INSERT rights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 ON employees TO 'analyst_ravi'@'localhost';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Give full access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company_db.* TO 'admin_user'@'localhost';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Take away UPDATE rights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UPDATE ON employees FROM 'analyst_ravi'@'localhost';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5013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0" name="Text 8"/>
          <p:cNvSpPr/>
          <p:nvPr/>
        </p:nvSpPr>
        <p:spPr>
          <a:xfrm>
            <a:off x="685800" y="50749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specifies which object (table, or database.* for everything).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2" name="Text 10"/>
          <p:cNvSpPr/>
          <p:nvPr/>
        </p:nvSpPr>
        <p:spPr>
          <a:xfrm>
            <a:off x="4434840" y="51054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FROM specifies which user account the privilege applies to — the same pattern behind service-account roles in production microservices.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AN ANALYST READ EMPLOYEE DATA ONLY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GRANT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employees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'analyst_ravi'@'localhost';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GRANTS FOR 'analyst_ravi'@'localhost';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analyst_ravi can now run SELECT queries on employees, but cannot INSERT, UPDATE, or DELETE — exactly how a read-only BI/analytics role is set up at most companies.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820050"/>
              </p:ext>
            </p:extLst>
          </p:nvPr>
        </p:nvGraphicFramePr>
        <p:xfrm>
          <a:off x="6355080" y="2148840"/>
          <a:ext cx="5333695" cy="3291840"/>
        </p:xfrm>
        <a:graphic>
          <a:graphicData uri="http://schemas.openxmlformats.org/drawingml/2006/table">
            <a:tbl>
              <a:tblPr/>
              <a:tblGrid>
                <a:gridCol w="533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Grants for analyst_ravi@localhost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USAGE ON *.* TO 'analyst_ravi'@'localhost'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SELECT ON `company_db`.`employees` TO 'analyst_ravi'@'localhost'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PRIVILEGE THAT'S NO LONGER NEEDED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REVOKE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analyst_ravi no longer needs INSERT access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INSERT ON employees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'analyst_ravi'@'localhost';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GRANTS FOR 'analyst_ravi'@'localhost';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INSERT privilege has been removed — only SELECT remains, the kind of access review real security teams run every quarter.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872750"/>
              </p:ext>
            </p:extLst>
          </p:nvPr>
        </p:nvGraphicFramePr>
        <p:xfrm>
          <a:off x="6355080" y="2148840"/>
          <a:ext cx="5333695" cy="3291840"/>
        </p:xfrm>
        <a:graphic>
          <a:graphicData uri="http://schemas.openxmlformats.org/drawingml/2006/table">
            <a:tbl>
              <a:tblPr/>
              <a:tblGrid>
                <a:gridCol w="533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Grants for analyst_ravi@localhost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USAGE ON *.* TO 'analyst_ravi'@'localhost'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SELECT ON `company_db`.`employees` TO 'analyst_ravi'@'localhost'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TCL?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statements safely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bundles one or more DML statements so they succeed or fail together, as a single unit.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761488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commands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saves all changes permanently; ROLLBACK undoes them; SAVEPOINT marks a point to roll back 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602736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777240" y="35753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reliability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give databases Atomicity — the same guarantee that keeps a UPI payment or Amazon checkout from double-charging or losing money.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443984"/>
            <a:ext cx="73152" cy="658368"/>
          </a:xfrm>
          <a:prstGeom prst="round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DML, not DDL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471830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DDL auto-commits and usually can't be rolled back; DML inside a transaction can.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4327855" cy="4114800"/>
          </a:xfrm>
          <a:prstGeom prst="roundRect">
            <a:avLst>
              <a:gd name="adj" fmla="val 2222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635240" y="2103120"/>
            <a:ext cx="377921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 Family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/ START TRANSACTION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SAVEPOINT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an editable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before 'Save'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 TO COMMIT OR ROLLBACK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Transaction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3977640"/>
          </a:xfrm>
          <a:prstGeom prst="roundRect">
            <a:avLst>
              <a:gd name="adj" fmla="val 229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Shape 3"/>
          <p:cNvSpPr/>
          <p:nvPr/>
        </p:nvSpPr>
        <p:spPr>
          <a:xfrm>
            <a:off x="960120" y="25857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3F5F5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Text 4"/>
          <p:cNvSpPr/>
          <p:nvPr/>
        </p:nvSpPr>
        <p:spPr>
          <a:xfrm>
            <a:off x="960120" y="2585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258572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5F6F8"/>
          </a:solidFill>
          <a:ln w="12700">
            <a:solidFill>
              <a:srgbClr val="5B6472"/>
            </a:solidFill>
            <a:prstDash val="dash"/>
          </a:ln>
        </p:spPr>
        <p:txBody>
          <a:bodyPr/>
          <a:lstStyle/>
          <a:p>
            <a:endParaRPr lang="en-IN" sz="2000"/>
          </a:p>
        </p:txBody>
      </p:sp>
      <p:sp>
        <p:nvSpPr>
          <p:cNvPr id="8" name="Text 6"/>
          <p:cNvSpPr/>
          <p:nvPr/>
        </p:nvSpPr>
        <p:spPr>
          <a:xfrm>
            <a:off x="3337560" y="2585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— not yet permanent)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997200"/>
            <a:ext cx="36576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2000"/>
          </a:p>
        </p:txBody>
      </p:sp>
      <p:sp>
        <p:nvSpPr>
          <p:cNvPr id="10" name="Shape 8"/>
          <p:cNvSpPr/>
          <p:nvPr/>
        </p:nvSpPr>
        <p:spPr>
          <a:xfrm>
            <a:off x="6263640" y="2997200"/>
            <a:ext cx="36576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2000"/>
          </a:p>
        </p:txBody>
      </p:sp>
      <p:sp>
        <p:nvSpPr>
          <p:cNvPr id="11" name="Shape 9"/>
          <p:cNvSpPr/>
          <p:nvPr/>
        </p:nvSpPr>
        <p:spPr>
          <a:xfrm>
            <a:off x="6903720" y="20828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5F5EC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2" name="Text 10"/>
          <p:cNvSpPr/>
          <p:nvPr/>
        </p:nvSpPr>
        <p:spPr>
          <a:xfrm>
            <a:off x="6903720" y="2082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saved permanently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1800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BE7E5"/>
          </a:solidFill>
          <a:ln w="12700">
            <a:solidFill>
              <a:srgbClr val="D6483F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4" name="Text 12"/>
          <p:cNvSpPr/>
          <p:nvPr/>
        </p:nvSpPr>
        <p:spPr>
          <a:xfrm>
            <a:off x="6903720" y="3180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undone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333239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sp1  →  can roll back to just this point, instead of the very beginning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BEGIN and COMMIT/ROLLBACK is one all-or-nothing unit — the same pattern behind every 'payment successful' screen you see.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THE OUTCOME OF A TRANSACTION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COMMIT, ROLLBACK, SAVEPOINT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3063240"/>
          </a:xfrm>
          <a:prstGeom prst="roundRect">
            <a:avLst>
              <a:gd name="adj" fmla="val 2581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46304" cy="146304"/>
          </a:xfrm>
          <a:prstGeom prst="ellipse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201168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43584" y="2011680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- 500 WHERE id = 1;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after_withdrawal;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+ 500 WHERE id = 2;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        -- makes both updates permanent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 --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                      -- undoes everything since START TRANSACTION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TO after_withdrawal;   -- undoes only the second UPDATE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50241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85800" y="5115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is the point of no return — changes become visible to all other users.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50241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34840" y="5115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a savepoint is a partial undo — the same technique behind checkout flows that fail at payment but keep the cart.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COMMIT/ROLLBACK PROTECTS DATA INTEGRITY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Money Transfer Transaction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- 500 WHERE id = 1;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+ 500 WHERE id = 2;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 anything fails here...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F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  -- both updates are undone, money is safe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transaction, a failure between the two UPDATEs could vanish 500 from one account without ever crediting the other — exactly the bug transactions prevent in every banking app.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167840"/>
              </p:ext>
            </p:extLst>
          </p:nvPr>
        </p:nvGraphicFramePr>
        <p:xfrm>
          <a:off x="6355080" y="2148840"/>
          <a:ext cx="5333694" cy="3291840"/>
        </p:xfrm>
        <a:graphic>
          <a:graphicData uri="http://schemas.openxmlformats.org/drawingml/2006/table">
            <a:tbl>
              <a:tblPr/>
              <a:tblGrid>
                <a:gridCol w="1777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(if COMMIT)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(if ROLLBACK)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(deducted)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(unchanged)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(received)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(unchanged)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KINDS OF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vs TCL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257800" cy="27432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— Access Control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GRANT and REVOKE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Controls WHO can act on the 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92277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Managed by DBAs &amp; cloud IAM policies (AWS, GCP, Azure)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5811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Changes to permissions, not to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257800" cy="548640"/>
          </a:xfrm>
          <a:prstGeom prst="roundRect">
            <a:avLst>
              <a:gd name="adj" fmla="val 16667"/>
            </a:avLst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257800" cy="274320"/>
          </a:xfrm>
          <a:prstGeom prst="rect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COMMIT, ROLLBACK, SAVEPOINT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2644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Controls WHETHER a group of changes sticks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92277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by every backend service handling payments or orders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58114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Changes to the fate of data, not who can see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PITFALLS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*.* TO 'intern_user'@'%';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broad, global privileges to a low-trust account violates least privilege — a leading cause of real cloud data breaches.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- 500 WHERE id = 1;  (no transaction, no COMMIT)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START TRANSACTION, some databases auto-commit each statement instantly — no chance to ROLLBACK if the next step fails, a bug that has caused real payment double-deduction incidents.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FBE7E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48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ROLLBACK after already running COMMIT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206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 executes, the changes are permanent — ROLLBACK afterwards has nothing left to undo.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UNDERSTANDING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Let's Do One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377440"/>
          </a:xfrm>
          <a:prstGeom prst="roundRect">
            <a:avLst>
              <a:gd name="adj" fmla="val 3846"/>
            </a:avLst>
          </a:prstGeom>
          <a:solidFill>
            <a:srgbClr val="EEEBF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 HR-payroll access request: a manager account should be able to SELECT and UPDATE the 'salaries' table, but never DELETE from it. Write the GRANT statement, and then a transaction that safely gives everyone in department 4 a bonus of 2000, rolling back if anything looks wrong.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6250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SELECT, UPDATE ON salaries TO 'manager_x'@'localhost';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salaries SET bonus = bonus + 2000 WHERE department_id = 4;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COMMIT; -- or ROLLBACK;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permanently saves all changes made during a transaction?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685800" y="240030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68580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6309360" y="240030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30936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685800" y="34518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8580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630936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30936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C  —  COMMIT makes every change permanent and visible — exactly the moment a payment API returns 'success' to the customer.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command would you use to take away a user's INSERT privilege on a table?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685800" y="240030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7" name="Text 5"/>
          <p:cNvSpPr/>
          <p:nvPr/>
        </p:nvSpPr>
        <p:spPr>
          <a:xfrm>
            <a:off x="68580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0" name="Shape 8"/>
          <p:cNvSpPr/>
          <p:nvPr/>
        </p:nvSpPr>
        <p:spPr>
          <a:xfrm>
            <a:off x="6309360" y="24003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Text 9"/>
          <p:cNvSpPr/>
          <p:nvPr/>
        </p:nvSpPr>
        <p:spPr>
          <a:xfrm>
            <a:off x="630936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4" name="Shape 12"/>
          <p:cNvSpPr/>
          <p:nvPr/>
        </p:nvSpPr>
        <p:spPr>
          <a:xfrm>
            <a:off x="68580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5" name="Text 13"/>
          <p:cNvSpPr/>
          <p:nvPr/>
        </p:nvSpPr>
        <p:spPr>
          <a:xfrm>
            <a:off x="68580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2943"/>
          </a:solidFill>
          <a:ln w="12700">
            <a:solidFill>
              <a:srgbClr val="3A557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8" name="Shape 16"/>
          <p:cNvSpPr/>
          <p:nvPr/>
        </p:nvSpPr>
        <p:spPr>
          <a:xfrm>
            <a:off x="6309360" y="3451860"/>
            <a:ext cx="365760" cy="365760"/>
          </a:xfrm>
          <a:prstGeom prst="ellipse">
            <a:avLst/>
          </a:prstGeom>
          <a:solidFill>
            <a:srgbClr val="2A436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9" name="Text 17"/>
          <p:cNvSpPr/>
          <p:nvPr/>
        </p:nvSpPr>
        <p:spPr>
          <a:xfrm>
            <a:off x="6309360" y="3451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E3F5F5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Answer: B  —  REVOKE removes a previously granted privilege — the same action security teams take when an employee changes roles or leaves.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Independent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85855" cy="2377440"/>
          </a:xfrm>
          <a:prstGeom prst="roundRect">
            <a:avLst>
              <a:gd name="adj" fmla="val 3846"/>
            </a:avLst>
          </a:prstGeom>
          <a:solidFill>
            <a:srgbClr val="EEEBF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onboarding a new BI analyst: 1) Grant SELECT-only access on an 'orders' table to a new read-only user.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Start a transaction that updates two related tables, set a SAVEPOINT between them, and roll back only to that savepoint.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Explain in one sentence why this is safer than not using a transaction at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6250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START TRANSACTION → statement 1 → SAVEPOINT sp1 → statement 2 → ROLLBACK TO sp1 (or COMMIT).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" name="Shape 2"/>
          <p:cNvSpPr/>
          <p:nvPr/>
        </p:nvSpPr>
        <p:spPr>
          <a:xfrm>
            <a:off x="685800" y="159105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" name="Text 3"/>
          <p:cNvSpPr/>
          <p:nvPr/>
        </p:nvSpPr>
        <p:spPr>
          <a:xfrm>
            <a:off x="68580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(GRANT, REVOKE) controls who can access or modify database objects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" name="Shape 6"/>
          <p:cNvSpPr/>
          <p:nvPr/>
        </p:nvSpPr>
        <p:spPr>
          <a:xfrm>
            <a:off x="685800" y="245973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9" name="Text 7"/>
          <p:cNvSpPr/>
          <p:nvPr/>
        </p:nvSpPr>
        <p:spPr>
          <a:xfrm>
            <a:off x="68580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principle of least privilege — grant only what's truly needed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2" name="Shape 10"/>
          <p:cNvSpPr/>
          <p:nvPr/>
        </p:nvSpPr>
        <p:spPr>
          <a:xfrm>
            <a:off x="685800" y="332841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5468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(COMMIT, ROLLBACK, SAVEPOINT) controls the fate of a group of DML changes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7" name="Text 15"/>
          <p:cNvSpPr/>
          <p:nvPr/>
        </p:nvSpPr>
        <p:spPr>
          <a:xfrm>
            <a:off x="6858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makes multi-step changes all-or-nothing — the same guarantee behind every digital payment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892040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142943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0" name="Shape 18"/>
          <p:cNvSpPr/>
          <p:nvPr/>
        </p:nvSpPr>
        <p:spPr>
          <a:xfrm>
            <a:off x="685800" y="5065776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1" name="Text 19"/>
          <p:cNvSpPr/>
          <p:nvPr/>
        </p:nvSpPr>
        <p:spPr>
          <a:xfrm>
            <a:off x="68580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89204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is permanent; ROLLBACK (or ROLLBACK TO a savepoint) can undo pending changes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9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16: Complex Queries: INNER, OUTER, Self &amp; Cross Joins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structure, data, permissions, and safety all in place, it's time to start asking real questions across multiple tables — the JOINs powering every dashboard and analytics report you've seen.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  |  DCL &amp; TCL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2104</Words>
  <Application>Microsoft Office PowerPoint</Application>
  <PresentationFormat>Widescreen</PresentationFormat>
  <Paragraphs>314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Rishika Mehta-Assistant Professor SOET</cp:lastModifiedBy>
  <cp:revision>4</cp:revision>
  <dcterms:created xsi:type="dcterms:W3CDTF">2026-07-16T04:31:38Z</dcterms:created>
  <dcterms:modified xsi:type="dcterms:W3CDTF">2026-09-18T08:17:43Z</dcterms:modified>
</cp:coreProperties>
</file>