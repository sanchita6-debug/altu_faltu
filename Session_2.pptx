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84"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7"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42234-CD64-09D6-ADE9-0A37280DBC1A}" v="2" dt="2026-08-05T08:19:20.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1" autoAdjust="0"/>
    <p:restoredTop sz="92810" autoAdjust="0"/>
  </p:normalViewPr>
  <p:slideViewPr>
    <p:cSldViewPr snapToGrid="0">
      <p:cViewPr varScale="1">
        <p:scale>
          <a:sx n="79" d="100"/>
          <a:sy n="79" d="100"/>
        </p:scale>
        <p:origin x="619" y="72"/>
      </p:cViewPr>
      <p:guideLst/>
    </p:cSldViewPr>
  </p:slideViewPr>
  <p:notesTextViewPr>
    <p:cViewPr>
      <p:scale>
        <a:sx n="100" d="100"/>
        <a:sy n="100" d="100"/>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si Kajal-Assistant Professor SOET" userId="S::mansi.kajal@krmangalam.edu.in::3c99de1c-7603-4b32-be41-7faffefca8f3" providerId="AD" clId="Web-{B0F9CF07-1B2C-439D-F0C6-A102686E9506}"/>
    <pc:docChg chg="modSld">
      <pc:chgData name="Mansi Kajal-Assistant Professor SOET" userId="S::mansi.kajal@krmangalam.edu.in::3c99de1c-7603-4b32-be41-7faffefca8f3" providerId="AD" clId="Web-{B0F9CF07-1B2C-439D-F0C6-A102686E9506}" dt="2026-08-01T18:33:13.666" v="3"/>
      <pc:docMkLst>
        <pc:docMk/>
      </pc:docMkLst>
      <pc:sldChg chg="delSp">
        <pc:chgData name="Mansi Kajal-Assistant Professor SOET" userId="S::mansi.kajal@krmangalam.edu.in::3c99de1c-7603-4b32-be41-7faffefca8f3" providerId="AD" clId="Web-{B0F9CF07-1B2C-439D-F0C6-A102686E9506}" dt="2026-08-01T18:32:41.180" v="0"/>
        <pc:sldMkLst>
          <pc:docMk/>
          <pc:sldMk cId="0" sldId="258"/>
        </pc:sldMkLst>
      </pc:sldChg>
      <pc:sldChg chg="delSp">
        <pc:chgData name="Mansi Kajal-Assistant Professor SOET" userId="S::mansi.kajal@krmangalam.edu.in::3c99de1c-7603-4b32-be41-7faffefca8f3" providerId="AD" clId="Web-{B0F9CF07-1B2C-439D-F0C6-A102686E9506}" dt="2026-08-01T18:32:45.102" v="1"/>
        <pc:sldMkLst>
          <pc:docMk/>
          <pc:sldMk cId="0" sldId="259"/>
        </pc:sldMkLst>
      </pc:sldChg>
      <pc:sldChg chg="delSp">
        <pc:chgData name="Mansi Kajal-Assistant Professor SOET" userId="S::mansi.kajal@krmangalam.edu.in::3c99de1c-7603-4b32-be41-7faffefca8f3" providerId="AD" clId="Web-{B0F9CF07-1B2C-439D-F0C6-A102686E9506}" dt="2026-08-01T18:33:13.666" v="3"/>
        <pc:sldMkLst>
          <pc:docMk/>
          <pc:sldMk cId="0" sldId="271"/>
        </pc:sldMkLst>
      </pc:sldChg>
    </pc:docChg>
  </pc:docChgLst>
  <pc:docChgLst>
    <pc:chgData name="Dr. Reenu-Assistant Professor SOET" userId="S::reenu@krmangalam.edu.in::78b23ad6-b210-4206-8d45-c661e2dcb0d2" providerId="AD" clId="Web-{ADC42234-CD64-09D6-ADE9-0A37280DBC1A}"/>
    <pc:docChg chg="addSld delSld">
      <pc:chgData name="Dr. Reenu-Assistant Professor SOET" userId="S::reenu@krmangalam.edu.in::78b23ad6-b210-4206-8d45-c661e2dcb0d2" providerId="AD" clId="Web-{ADC42234-CD64-09D6-ADE9-0A37280DBC1A}" dt="2026-08-05T08:19:20.547" v="1"/>
      <pc:docMkLst>
        <pc:docMk/>
      </pc:docMkLst>
      <pc:sldChg chg="new del">
        <pc:chgData name="Dr. Reenu-Assistant Professor SOET" userId="S::reenu@krmangalam.edu.in::78b23ad6-b210-4206-8d45-c661e2dcb0d2" providerId="AD" clId="Web-{ADC42234-CD64-09D6-ADE9-0A37280DBC1A}" dt="2026-08-05T08:19:20.547" v="1"/>
        <pc:sldMkLst>
          <pc:docMk/>
          <pc:sldMk cId="141717463" sldId="28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508E98-516E-8722-4E6C-986147824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9B8D797-628E-27C7-DC6E-68CA6C4A4F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E04B2D-4144-451F-9E99-CB2373F04C77}" type="datetimeFigureOut">
              <a:rPr lang="en-IN" smtClean="0"/>
              <a:t>05-08-2026</a:t>
            </a:fld>
            <a:endParaRPr lang="en-IN"/>
          </a:p>
        </p:txBody>
      </p:sp>
      <p:sp>
        <p:nvSpPr>
          <p:cNvPr id="4" name="Footer Placeholder 3">
            <a:extLst>
              <a:ext uri="{FF2B5EF4-FFF2-40B4-BE49-F238E27FC236}">
                <a16:creationId xmlns:a16="http://schemas.microsoft.com/office/drawing/2014/main" id="{39F3E6EA-D009-5AB9-FDE7-F7C5F2BAC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4B929CE-F094-D971-CFDB-7DEA798322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4E235A6-961F-4367-B296-CC463E8D49FC}" type="slidenum">
              <a:rPr lang="en-IN" smtClean="0"/>
              <a:t>‹#›</a:t>
            </a:fld>
            <a:endParaRPr lang="en-IN"/>
          </a:p>
        </p:txBody>
      </p:sp>
    </p:spTree>
    <p:extLst>
      <p:ext uri="{BB962C8B-B14F-4D97-AF65-F5344CB8AC3E}">
        <p14:creationId xmlns:p14="http://schemas.microsoft.com/office/powerpoint/2010/main" val="2205469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2B4A9-3E34-4136-B3C8-4E0E0A851C07}"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AF95F-2C82-4E7F-9E28-8EEEDF06760A}" type="slidenum">
              <a:rPr lang="en-IN" smtClean="0"/>
              <a:t>‹#›</a:t>
            </a:fld>
            <a:endParaRPr lang="en-IN"/>
          </a:p>
        </p:txBody>
      </p:sp>
    </p:spTree>
    <p:extLst>
      <p:ext uri="{BB962C8B-B14F-4D97-AF65-F5344CB8AC3E}">
        <p14:creationId xmlns:p14="http://schemas.microsoft.com/office/powerpoint/2010/main" val="723243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to three minutes, no slides beyond this one. Session 1 defined data, database and DBMS. Ask the three questions and collect answers without settling them — today's session answers all three. Expected replies: a folder of files cannot enforce rules or handle two people writing at once; spreadsheets break past a few hundred thousand rows and have no concurrency control; 'modern' now means distributed, cloud-hosted and replicated rather than one server in a room.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map to CO1 — recalling and explaining core database concepts. Bloom's Level 2 (Understand): students must be able to describe each characteristic and give an example, not yet design a schema. Session 1 was Level 1 (Remember); the step up here is that every characteristic must be tied to a real system.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A spreadsheet has no concept of a user, a role or a transaction — it will happily let two people overwrite each other. A DBMS refuses. (2) Students often assume each service should own a private copy for speed; the cost is that the copies disagree within hours and nobody knows which is right. This is exactly why Netflix keeps one profile service. (3) Cloud databases fail constantly at the hardware level — the difference is that replication and automatic failover make the failure invisible. Availability is engineered, not guaranteed.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chain top to bottom using a food-delivery order as the example. The point students must take away is that the application never opens a file — it asks the DBMS, and the DBMS decides whether the request is allowed, whether it clashes with another request running at the same time, and how to fetch it quickly. That middle layer is the whole subject of this course. Today that layer is usually a managed cloud engine such as Amazon Aurora or Cloud Spanner rather than a server in the building.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the pressure that shaped the design. Scale: Instagram and YouTube add petabytes a day, so storing anything twice is expensive at that volume. Concurrency: users arrive from every time zone, so there is no quiet window for maintenance. Compliance: GDPR in Europe, RBI rules for Indian banking and the DPDP Act all carry penalties for mishandled personal data. Speed: research on user behaviour consistently shows abandonment rises sharply past about a second of wait. Every characteristic in the next slide exists to answer one of these.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map for the rest of the session — the next three slides unpack these six, two at a time, each with an industry example. Do not explain them here; just read them out and say which pressure from the previous slide each one answers. Ask students to copy these six down, because the summary slide and the exit ticket both come back to them.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Redundancy: the classic teaching example is a college storing a student's address in the admissions file, the hostel file and the exam file — change it once and two are now wrong. Microservices recreated this problem at scale, which is why the industry moved to a single system of record read through an API. Concurrency: ask what happens if two customers order the last item at the same instant. Concurrency control (locking or multi-version) is what stops both succeeding. Distributed SQL engines such as Cloud Spanner and CockroachDB extended that guarantee across regions, which older single-server RDBMS could not do.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make the distinction between authentication (who are you) and authorisation (what may you do). Add that modern cloud platforms layer on row-level security, column masking and encryption at rest by default. Integrity and ACID: spell out the four letters — Atomicity, Consistency, Isolation, Durability — but keep the emphasis on atomicity, which is the one students can feel. Mention the trade-off honestly: NoSQL stores such as DynamoDB relax consistency (BASE) to gain scale, so real systems deliberately mix both models. Full ACID coverage comes later in the transactions unit.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Recovery: separate the three ideas — backup (a copy taken earlier), recovery (getting back to a known good point) and high availability (never going down in the first place). Multi-AZ replication buys the third. Data independence: this is the oldest idea on the list, from the three-schema architecture, and it is why the field survived fifty years of hardware change. Logical independence protects applications from schema changes; physical independence protects them from storage changes. Cloud migration is simply the newest thing it protects you from.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quickly here — one line each, then ask students to add a sector you have not listed (telecom, insurance, logistics and government ID systems all work). The teaching point is coverage: there is no large digital service that does not sit on a database. Note also that these sectors pick different engines for different jobs — a bank needs ACID for the ledger but a document store for KYC scans, and a streaming service needs a vector database for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slow down on, because every student in the room has done this today. Trace the four steps and name the characteristic behind each: the request needs concurrency control because millions are in flight; the fraud model reads history that must not be duplicated or stale; the transfer needs atomicity across two different banks' databases; and the confirmation needs consistency so both apps agree. NPCI publishes monthly UPI volumes — worth showing the current figure to make the scale concrete.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down the columns, not across, so students see the direction of travel. The middle column is where most of this course lives; the right column is what they will meet at work. Stress that the right column does not replace the middle one — a cloud-native database is still relational underneath in most cases, with replication and elastic storage added around it. Ask which column a college ERP or a hostel register belongs to.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 minutes in pairs, on paper — no machines needed for this one. Circulate and push for specifics: 'orders' is not enough, ask which fields and what breaks if two people write at once. Common gaps to correct: students name security for everything, or confuse backup with redundancy. Take two examples on the board at the end. Fast finishers can add which column of the previous comparison slide their app belongs to, and why.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minute alone, two in pairs, two sharing. Guide them towards the failure mode rather than the label: a price is updated in one service and not the others, so the customer sees one price in search, another at checkout and is charged a third. The fix is reduced redundancy — one menu service that everything reads. If a group argues that copies are needed for speed, that is a good answer: introduce caching as a controlled, expiring copy, which is different from five independent sources of truth.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Answers: (1) FALSE — atomicity means a transaction either completes or is rolled back entirely; a half-finished transfer is exactly what ACID prevents. (2) TRUE — one copy costs less to store and removes the possibility of copies disagreeing. (3) FALSE — data independence exists precisely so the storage layer can change underneath a stable interface. Ask for hands before revealing each answer, then link answer 1 back to the UPI slide and answer 3 back to the misconceptions slide.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in three minutes and close the loop on the three opening questions: a DBMS adds rules, roles and transactions that a file system has no notion of; spreadsheets have no concurrency control and collapse well before internet scale; and 'modern' means distributed, replicated and managed in the cloud. Next session moves to database architecture and data models — the three-schema architecture here is the formal version of the data independence idea. Reading: Silberschatz Chapter 1, or Elmasri &amp; Navathe Chapters 1 and 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Editions listed are the most recent published at the time of writing; check the library catalogue before ordering, as publishers reissue these titles. Silberschatz is the prescribed text for this course and covers every characteristic in this session in Chapter 1. Elmasri &amp; Navathe is the better reference for the ER modelling that follows in Session 3. Ramakrishnan &amp; Gehrke and Date remain standard references although both are older. Kleppmann is the book to point strong students at — it is the industry text on exactly the distributed and cloud-scale material referenced throughout this session.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476EE-2639-CA65-AF74-DEC30BF91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D383A-95D6-057B-A805-F1147765AE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323212-A229-61B6-0EA3-0AF040886031}"/>
              </a:ext>
            </a:extLst>
          </p:cNvPr>
          <p:cNvSpPr>
            <a:spLocks noGrp="1"/>
          </p:cNvSpPr>
          <p:nvPr>
            <p:ph type="body" sz="quarter" idx="3"/>
          </p:nvPr>
        </p:nvSpPr>
        <p:spPr/>
        <p:txBody>
          <a:bodyPr/>
          <a:lstStyle/>
          <a:p>
            <a:r>
              <a:t>Point students at the NPTEL course as the structured option and MongoDB University for hands-on NoSQL, which the prescribed textbooks cover only briefly. The cloud vendor architecture pages are short and current, and are the quickest way to see the characteristics from this session described as product features. Restate the assessment note — this is examinable material, not optional enrichment.</a:t>
            </a:r>
          </a:p>
        </p:txBody>
      </p:sp>
      <p:sp>
        <p:nvSpPr>
          <p:cNvPr id="4" name="Slide Number Placeholder 3">
            <a:extLst>
              <a:ext uri="{FF2B5EF4-FFF2-40B4-BE49-F238E27FC236}">
                <a16:creationId xmlns:a16="http://schemas.microsoft.com/office/drawing/2014/main" id="{1C3BA262-D56B-04A9-A063-1550D270769B}"/>
              </a:ext>
            </a:extLst>
          </p:cNvPr>
          <p:cNvSpPr>
            <a:spLocks noGrp="1"/>
          </p:cNvSpPr>
          <p:nvPr>
            <p:ph type="sldNum" sz="quarter" idx="5"/>
          </p:nvPr>
        </p:nvSpPr>
        <p:spPr/>
      </p:sp>
    </p:spTree>
    <p:extLst>
      <p:ext uri="{BB962C8B-B14F-4D97-AF65-F5344CB8AC3E}">
        <p14:creationId xmlns:p14="http://schemas.microsoft.com/office/powerpoint/2010/main" val="2386072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minutes on a slip of paper before they leave. Question 1 is the Level-2 check — look for a characteristic correctly paired with a company that genuinely depends on it, not just any well-known name. Question 2 surfaces what to revisit; expect ACID and data independence to dominate. Read the slips before the next session and spend the first two minutes there on the most common gap.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9423F-2007-CB14-E56B-2AAF17585FBA}"/>
              </a:ext>
            </a:extLst>
          </p:cNvPr>
          <p:cNvSpPr>
            <a:spLocks noGrp="1"/>
          </p:cNvSpPr>
          <p:nvPr>
            <p:ph type="ctrTitle" hasCustomPrompt="1"/>
          </p:nvPr>
        </p:nvSpPr>
        <p:spPr>
          <a:xfrm>
            <a:off x="1524000" y="1122363"/>
            <a:ext cx="9144000" cy="2387600"/>
          </a:xfrm>
        </p:spPr>
        <p:txBody>
          <a:bodyPr anchor="b"/>
          <a:lstStyle>
            <a:lvl1pPr algn="l">
              <a:defRPr sz="6000">
                <a:latin typeface="Arial Black" panose="020B0A04020102020204" pitchFamily="34" charset="0"/>
                <a:cs typeface="Arial" panose="020B0604020202020204" pitchFamily="34" charset="0"/>
              </a:defRPr>
            </a:lvl1pPr>
          </a:lstStyle>
          <a:p>
            <a:r>
              <a:rPr lang="en-US" dirty="0"/>
              <a:t>Click to add title</a:t>
            </a:r>
            <a:endParaRPr lang="en-IN" dirty="0"/>
          </a:p>
        </p:txBody>
      </p:sp>
      <p:sp>
        <p:nvSpPr>
          <p:cNvPr id="3" name="Subtitle 2">
            <a:extLst>
              <a:ext uri="{FF2B5EF4-FFF2-40B4-BE49-F238E27FC236}">
                <a16:creationId xmlns:a16="http://schemas.microsoft.com/office/drawing/2014/main" id="{4F96F8EF-AF60-7878-9113-E73D9E50A9E5}"/>
              </a:ext>
            </a:extLst>
          </p:cNvPr>
          <p:cNvSpPr>
            <a:spLocks noGrp="1"/>
          </p:cNvSpPr>
          <p:nvPr>
            <p:ph type="subTitle" idx="1" hasCustomPrompt="1"/>
          </p:nvPr>
        </p:nvSpPr>
        <p:spPr>
          <a:xfrm>
            <a:off x="1524000" y="3602038"/>
            <a:ext cx="9144000" cy="1930544"/>
          </a:xfrm>
        </p:spPr>
        <p:txBody>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IN" dirty="0"/>
              <a:t>Course Title</a:t>
            </a:r>
          </a:p>
          <a:p>
            <a:r>
              <a:rPr lang="en-IN" dirty="0"/>
              <a:t>Program &amp; Semester:</a:t>
            </a:r>
          </a:p>
          <a:p>
            <a:r>
              <a:rPr lang="en-IN" dirty="0"/>
              <a:t>Course Instructor:</a:t>
            </a:r>
          </a:p>
          <a:p>
            <a:r>
              <a:rPr lang="en-IN" dirty="0"/>
              <a:t>School:</a:t>
            </a:r>
          </a:p>
        </p:txBody>
      </p:sp>
      <p:sp>
        <p:nvSpPr>
          <p:cNvPr id="4" name="Date Placeholder 3">
            <a:extLst>
              <a:ext uri="{FF2B5EF4-FFF2-40B4-BE49-F238E27FC236}">
                <a16:creationId xmlns:a16="http://schemas.microsoft.com/office/drawing/2014/main" id="{62B3C3E9-620C-4E85-EC2C-556F7A48C319}"/>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5" name="Footer Placeholder 4">
            <a:extLst>
              <a:ext uri="{FF2B5EF4-FFF2-40B4-BE49-F238E27FC236}">
                <a16:creationId xmlns:a16="http://schemas.microsoft.com/office/drawing/2014/main" id="{D0174DE5-0947-12E8-EC01-D88698BC79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1A5590-C389-8515-B443-27A30C0E2C07}"/>
              </a:ext>
            </a:extLst>
          </p:cNvPr>
          <p:cNvSpPr>
            <a:spLocks noGrp="1"/>
          </p:cNvSpPr>
          <p:nvPr>
            <p:ph type="sldNum" sz="quarter" idx="12"/>
          </p:nvPr>
        </p:nvSpPr>
        <p:spPr/>
        <p:txBody>
          <a:bodyPr/>
          <a:lstStyle/>
          <a:p>
            <a:fld id="{9F351B64-867A-4F20-90C3-3BD18464E5B3}" type="slidenum">
              <a:rPr lang="en-IN" smtClean="0"/>
              <a:t>‹#›</a:t>
            </a:fld>
            <a:endParaRPr lang="en-IN"/>
          </a:p>
        </p:txBody>
      </p:sp>
      <p:sp>
        <p:nvSpPr>
          <p:cNvPr id="8" name="Rectangle 7">
            <a:extLst>
              <a:ext uri="{FF2B5EF4-FFF2-40B4-BE49-F238E27FC236}">
                <a16:creationId xmlns:a16="http://schemas.microsoft.com/office/drawing/2014/main" id="{78996607-E988-409F-4C68-02FAE0E5787E}"/>
              </a:ext>
            </a:extLst>
          </p:cNvPr>
          <p:cNvSpPr/>
          <p:nvPr userDrawn="1"/>
        </p:nvSpPr>
        <p:spPr>
          <a:xfrm>
            <a:off x="0" y="6289964"/>
            <a:ext cx="12192000" cy="568037"/>
          </a:xfrm>
          <a:prstGeom prst="rect">
            <a:avLst/>
          </a:prstGeom>
          <a:solidFill>
            <a:srgbClr val="006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KRMU LMS Moodle">
            <a:extLst>
              <a:ext uri="{FF2B5EF4-FFF2-40B4-BE49-F238E27FC236}">
                <a16:creationId xmlns:a16="http://schemas.microsoft.com/office/drawing/2014/main" id="{3218B9C3-E974-7A20-E6E2-061333C30D5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424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652AF2E-1B2A-6FAC-83D2-C37E01113B9C}"/>
              </a:ext>
            </a:extLst>
          </p:cNvPr>
          <p:cNvSpPr/>
          <p:nvPr userDrawn="1"/>
        </p:nvSpPr>
        <p:spPr>
          <a:xfrm>
            <a:off x="0" y="6289964"/>
            <a:ext cx="12192000" cy="568037"/>
          </a:xfrm>
          <a:prstGeom prst="rect">
            <a:avLst/>
          </a:prstGeom>
          <a:solidFill>
            <a:srgbClr val="006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0E8BAA8-846F-7DBB-83B8-E5A908ADBAD9}"/>
              </a:ext>
            </a:extLst>
          </p:cNvPr>
          <p:cNvSpPr>
            <a:spLocks noGrp="1"/>
          </p:cNvSpPr>
          <p:nvPr>
            <p:ph type="title"/>
          </p:nvPr>
        </p:nvSpPr>
        <p:spPr>
          <a:xfrm>
            <a:off x="838200" y="692149"/>
            <a:ext cx="10515600" cy="794906"/>
          </a:xfrm>
        </p:spPr>
        <p:txBody>
          <a:bodyPr>
            <a:normAutofit/>
          </a:bodyPr>
          <a:lstStyle>
            <a:lvl1pPr>
              <a:defRPr sz="3600">
                <a:latin typeface="Arial Black" panose="020B0A040201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6E10BD45-BA60-59B6-1790-CC80E9B26DFD}"/>
              </a:ext>
            </a:extLst>
          </p:cNvPr>
          <p:cNvSpPr>
            <a:spLocks noGrp="1"/>
          </p:cNvSpPr>
          <p:nvPr>
            <p:ph idx="1" hasCustomPrompt="1"/>
          </p:nvPr>
        </p:nvSpPr>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Max 25 words per slide and at least 40% visuals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882AFA75-DE6F-7C82-B9F0-DC87D4ECDECC}"/>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05-08-2026</a:t>
            </a:fld>
            <a:endParaRPr lang="en-IN" dirty="0">
              <a:solidFill>
                <a:schemeClr val="bg1">
                  <a:lumMod val="95000"/>
                </a:schemeClr>
              </a:solidFill>
            </a:endParaRPr>
          </a:p>
        </p:txBody>
      </p:sp>
      <p:sp>
        <p:nvSpPr>
          <p:cNvPr id="5" name="Footer Placeholder 4">
            <a:extLst>
              <a:ext uri="{FF2B5EF4-FFF2-40B4-BE49-F238E27FC236}">
                <a16:creationId xmlns:a16="http://schemas.microsoft.com/office/drawing/2014/main" id="{0CE59B29-7DEA-00FB-D372-97265A5814F5}"/>
              </a:ext>
            </a:extLst>
          </p:cNvPr>
          <p:cNvSpPr>
            <a:spLocks noGrp="1"/>
          </p:cNvSpPr>
          <p:nvPr>
            <p:ph type="ftr" sz="quarter" idx="11"/>
          </p:nvPr>
        </p:nvSpPr>
        <p:spPr/>
        <p:txBody>
          <a:bodyPr/>
          <a:lstStyle>
            <a:lvl1pPr>
              <a:defRPr>
                <a:solidFill>
                  <a:schemeClr val="bg1"/>
                </a:solidFill>
              </a:defRPr>
            </a:lvl1pPr>
          </a:lstStyle>
          <a:p>
            <a:endParaRPr lang="en-IN" dirty="0">
              <a:solidFill>
                <a:schemeClr val="bg1"/>
              </a:solidFill>
            </a:endParaRPr>
          </a:p>
        </p:txBody>
      </p:sp>
      <p:sp>
        <p:nvSpPr>
          <p:cNvPr id="6" name="Slide Number Placeholder 5">
            <a:extLst>
              <a:ext uri="{FF2B5EF4-FFF2-40B4-BE49-F238E27FC236}">
                <a16:creationId xmlns:a16="http://schemas.microsoft.com/office/drawing/2014/main" id="{F8C1B182-07C2-4D9B-4F8A-63E4509B1D3A}"/>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8" name="Picture 2" descr="KRMU LMS Moodle">
            <a:extLst>
              <a:ext uri="{FF2B5EF4-FFF2-40B4-BE49-F238E27FC236}">
                <a16:creationId xmlns:a16="http://schemas.microsoft.com/office/drawing/2014/main" id="{73C48843-CB0F-EB0D-8690-318613C704B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4365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A6FC-9F92-9937-2BC6-4FE2C575E3A5}"/>
              </a:ext>
            </a:extLst>
          </p:cNvPr>
          <p:cNvSpPr>
            <a:spLocks noGrp="1"/>
          </p:cNvSpPr>
          <p:nvPr>
            <p:ph type="title"/>
          </p:nvPr>
        </p:nvSpPr>
        <p:spPr>
          <a:xfrm>
            <a:off x="831850" y="1709738"/>
            <a:ext cx="10515600" cy="2852737"/>
          </a:xfrm>
        </p:spPr>
        <p:txBody>
          <a:bodyPr anchor="b">
            <a:normAutofit/>
          </a:bodyPr>
          <a:lstStyle>
            <a:lvl1pPr>
              <a:defRPr sz="4400">
                <a:latin typeface="Arial Black" panose="020B0A04020102020204" pitchFamily="34" charset="0"/>
                <a:cs typeface="Arial" panose="020B0604020202020204" pitchFamily="34" charset="0"/>
              </a:defRPr>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6CC667B-A0FA-B065-4292-EE4364C7B3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Arial" panose="020B0604020202020204" pitchFamily="34" charset="0"/>
                <a:cs typeface="Arial" panose="020B06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EF47B87A-35A2-0020-909C-965D937D828F}"/>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05-08-2026</a:t>
            </a:fld>
            <a:endParaRPr lang="en-IN" dirty="0"/>
          </a:p>
        </p:txBody>
      </p:sp>
      <p:sp>
        <p:nvSpPr>
          <p:cNvPr id="5" name="Footer Placeholder 4">
            <a:extLst>
              <a:ext uri="{FF2B5EF4-FFF2-40B4-BE49-F238E27FC236}">
                <a16:creationId xmlns:a16="http://schemas.microsoft.com/office/drawing/2014/main" id="{7E746634-8309-8CA1-CA16-F0A3EE174D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0C8C78-40C8-B70D-4627-3DF756985D92}"/>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7" name="Picture 2" descr="KRMU LMS Moodle">
            <a:extLst>
              <a:ext uri="{FF2B5EF4-FFF2-40B4-BE49-F238E27FC236}">
                <a16:creationId xmlns:a16="http://schemas.microsoft.com/office/drawing/2014/main" id="{EAF21BB4-2C1B-C8AB-71BD-E7414560376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59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C9B5-1B78-CEE9-8ED8-826788124B98}"/>
              </a:ext>
            </a:extLst>
          </p:cNvPr>
          <p:cNvSpPr>
            <a:spLocks noGrp="1"/>
          </p:cNvSpPr>
          <p:nvPr>
            <p:ph type="title" hasCustomPrompt="1"/>
          </p:nvPr>
        </p:nvSpPr>
        <p:spPr/>
        <p:txBody>
          <a:bodyPr/>
          <a:lstStyle>
            <a:lvl1pPr>
              <a:defRPr sz="3600">
                <a:latin typeface="Arial Black" panose="020B0A04020102020204" pitchFamily="34" charset="0"/>
              </a:defRPr>
            </a:lvl1pPr>
          </a:lstStyle>
          <a:p>
            <a:r>
              <a:rPr lang="en-IN" dirty="0"/>
              <a:t>Prior Knowledge Activation</a:t>
            </a:r>
          </a:p>
        </p:txBody>
      </p:sp>
      <p:sp>
        <p:nvSpPr>
          <p:cNvPr id="3" name="Content Placeholder 2">
            <a:extLst>
              <a:ext uri="{FF2B5EF4-FFF2-40B4-BE49-F238E27FC236}">
                <a16:creationId xmlns:a16="http://schemas.microsoft.com/office/drawing/2014/main" id="{1E8AE091-2973-1619-4B83-91DCAE07ECAE}"/>
              </a:ext>
            </a:extLst>
          </p:cNvPr>
          <p:cNvSpPr>
            <a:spLocks noGrp="1"/>
          </p:cNvSpPr>
          <p:nvPr>
            <p:ph sz="half" idx="1" hasCustomPrompt="1"/>
          </p:nvPr>
        </p:nvSpPr>
        <p:spPr>
          <a:xfrm>
            <a:off x="838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Add content here</a:t>
            </a:r>
          </a:p>
          <a:p>
            <a:pPr lvl="0"/>
            <a:r>
              <a:rPr lang="en-US" dirty="0"/>
              <a:t>Max 25–30 words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4691D502-5E03-0BDD-A0D1-55C015DD16AE}"/>
              </a:ext>
            </a:extLst>
          </p:cNvPr>
          <p:cNvSpPr>
            <a:spLocks noGrp="1"/>
          </p:cNvSpPr>
          <p:nvPr>
            <p:ph sz="half" idx="2" hasCustomPrompt="1"/>
          </p:nvPr>
        </p:nvSpPr>
        <p:spPr>
          <a:xfrm>
            <a:off x="6172200" y="1825625"/>
            <a:ext cx="51816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Add visuals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a:extLst>
              <a:ext uri="{FF2B5EF4-FFF2-40B4-BE49-F238E27FC236}">
                <a16:creationId xmlns:a16="http://schemas.microsoft.com/office/drawing/2014/main" id="{98517726-9A47-DF8F-0485-9EBC770B8FA8}"/>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05-08-2026</a:t>
            </a:fld>
            <a:endParaRPr lang="en-IN" dirty="0"/>
          </a:p>
        </p:txBody>
      </p:sp>
      <p:sp>
        <p:nvSpPr>
          <p:cNvPr id="6" name="Footer Placeholder 5">
            <a:extLst>
              <a:ext uri="{FF2B5EF4-FFF2-40B4-BE49-F238E27FC236}">
                <a16:creationId xmlns:a16="http://schemas.microsoft.com/office/drawing/2014/main" id="{05DA415F-D17E-1DB3-3EB6-14DB5BDF28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187CA1-1A88-945D-45CD-FDF219D17308}"/>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8" name="Picture 2" descr="KRMU LMS Moodle">
            <a:extLst>
              <a:ext uri="{FF2B5EF4-FFF2-40B4-BE49-F238E27FC236}">
                <a16:creationId xmlns:a16="http://schemas.microsoft.com/office/drawing/2014/main" id="{A54A61D2-2F0B-9E27-728D-EDF2949BD5E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490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A7D1-DC15-EA41-2BF9-0D195368F8E4}"/>
              </a:ext>
            </a:extLst>
          </p:cNvPr>
          <p:cNvSpPr>
            <a:spLocks noGrp="1"/>
          </p:cNvSpPr>
          <p:nvPr>
            <p:ph type="title"/>
          </p:nvPr>
        </p:nvSpPr>
        <p:spPr>
          <a:xfrm>
            <a:off x="839788" y="555624"/>
            <a:ext cx="10515600" cy="823912"/>
          </a:xfrm>
        </p:spPr>
        <p:txBody>
          <a:bodyPr>
            <a:normAutofit/>
          </a:bodyPr>
          <a:lstStyle>
            <a:lvl1pPr>
              <a:defRPr sz="3600">
                <a:latin typeface="Arial Black" panose="020B0A04020102020204" pitchFamily="34" charset="0"/>
              </a:defRPr>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8E45A01D-8931-B0E5-B752-8632115E03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F7EFD7-AB41-860E-35A9-D54CEB92B0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F9E0F5-419C-CD96-786D-E2C1D00D4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80B29-9EEE-EF2F-539B-AA9EAF876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B652DB-B91D-D81B-DC88-591029F173F9}"/>
              </a:ext>
            </a:extLst>
          </p:cNvPr>
          <p:cNvSpPr>
            <a:spLocks noGrp="1"/>
          </p:cNvSpPr>
          <p:nvPr>
            <p:ph type="dt" sz="half" idx="10"/>
          </p:nvPr>
        </p:nvSpPr>
        <p:spPr/>
        <p:txBody>
          <a:bodyPr/>
          <a:lstStyle>
            <a:lvl1pPr>
              <a:defRPr>
                <a:solidFill>
                  <a:schemeClr val="bg1">
                    <a:lumMod val="95000"/>
                  </a:schemeClr>
                </a:solidFill>
              </a:defRPr>
            </a:lvl1pPr>
          </a:lstStyle>
          <a:p>
            <a:fld id="{C888F347-2569-4226-9022-DE8088F87A84}" type="datetimeFigureOut">
              <a:rPr lang="en-IN" smtClean="0"/>
              <a:pPr/>
              <a:t>05-08-2026</a:t>
            </a:fld>
            <a:endParaRPr lang="en-IN" dirty="0"/>
          </a:p>
        </p:txBody>
      </p:sp>
      <p:sp>
        <p:nvSpPr>
          <p:cNvPr id="8" name="Footer Placeholder 7">
            <a:extLst>
              <a:ext uri="{FF2B5EF4-FFF2-40B4-BE49-F238E27FC236}">
                <a16:creationId xmlns:a16="http://schemas.microsoft.com/office/drawing/2014/main" id="{4BDE8BDF-5737-3F0E-4831-AAAF670C6E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759D2A-8170-5271-5E20-868FA444B83A}"/>
              </a:ext>
            </a:extLst>
          </p:cNvPr>
          <p:cNvSpPr>
            <a:spLocks noGrp="1"/>
          </p:cNvSpPr>
          <p:nvPr>
            <p:ph type="sldNum" sz="quarter" idx="12"/>
          </p:nvPr>
        </p:nvSpPr>
        <p:spPr/>
        <p:txBody>
          <a:bodyPr/>
          <a:lstStyle>
            <a:lvl1pPr>
              <a:defRPr>
                <a:solidFill>
                  <a:schemeClr val="bg1">
                    <a:lumMod val="95000"/>
                  </a:schemeClr>
                </a:solidFill>
              </a:defRPr>
            </a:lvl1pPr>
          </a:lstStyle>
          <a:p>
            <a:fld id="{9F351B64-867A-4F20-90C3-3BD18464E5B3}" type="slidenum">
              <a:rPr lang="en-IN" smtClean="0"/>
              <a:pPr/>
              <a:t>‹#›</a:t>
            </a:fld>
            <a:endParaRPr lang="en-IN" dirty="0"/>
          </a:p>
        </p:txBody>
      </p:sp>
      <p:pic>
        <p:nvPicPr>
          <p:cNvPr id="10" name="Picture 2" descr="KRMU LMS Moodle">
            <a:extLst>
              <a:ext uri="{FF2B5EF4-FFF2-40B4-BE49-F238E27FC236}">
                <a16:creationId xmlns:a16="http://schemas.microsoft.com/office/drawing/2014/main" id="{317EEC63-6AE2-AC54-A662-320B20EB01D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4693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57C4-BC08-7799-60E5-5DC1A7D38F31}"/>
              </a:ext>
            </a:extLst>
          </p:cNvPr>
          <p:cNvSpPr>
            <a:spLocks noGrp="1"/>
          </p:cNvSpPr>
          <p:nvPr>
            <p:ph type="title" hasCustomPrompt="1"/>
          </p:nvPr>
        </p:nvSpPr>
        <p:spPr/>
        <p:txBody>
          <a:bodyPr/>
          <a:lstStyle>
            <a:lvl1pPr>
              <a:defRPr>
                <a:latin typeface="Arial Black" panose="020B0A04020102020204" pitchFamily="34" charset="0"/>
                <a:cs typeface="Arial" panose="020B0604020202020204" pitchFamily="34" charset="0"/>
              </a:defRPr>
            </a:lvl1pPr>
          </a:lstStyle>
          <a:p>
            <a:r>
              <a:rPr lang="en-US" dirty="0"/>
              <a:t>Check for understanding</a:t>
            </a:r>
            <a:endParaRPr lang="en-IN" dirty="0"/>
          </a:p>
        </p:txBody>
      </p:sp>
      <p:sp>
        <p:nvSpPr>
          <p:cNvPr id="3" name="Date Placeholder 2">
            <a:extLst>
              <a:ext uri="{FF2B5EF4-FFF2-40B4-BE49-F238E27FC236}">
                <a16:creationId xmlns:a16="http://schemas.microsoft.com/office/drawing/2014/main" id="{C0A3006B-81DD-02D1-F5EC-FA296B030F19}"/>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4" name="Footer Placeholder 3">
            <a:extLst>
              <a:ext uri="{FF2B5EF4-FFF2-40B4-BE49-F238E27FC236}">
                <a16:creationId xmlns:a16="http://schemas.microsoft.com/office/drawing/2014/main" id="{C9F63F23-50D0-1B28-DC9D-016383C67B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F70BB8-193B-2320-1328-B4AAEA4D54AD}"/>
              </a:ext>
            </a:extLst>
          </p:cNvPr>
          <p:cNvSpPr>
            <a:spLocks noGrp="1"/>
          </p:cNvSpPr>
          <p:nvPr>
            <p:ph type="sldNum" sz="quarter" idx="12"/>
          </p:nvPr>
        </p:nvSpPr>
        <p:spPr/>
        <p:txBody>
          <a:bodyPr/>
          <a:lstStyle/>
          <a:p>
            <a:fld id="{9F351B64-867A-4F20-90C3-3BD18464E5B3}" type="slidenum">
              <a:rPr lang="en-IN" smtClean="0"/>
              <a:t>‹#›</a:t>
            </a:fld>
            <a:endParaRPr lang="en-IN"/>
          </a:p>
        </p:txBody>
      </p:sp>
      <p:sp>
        <p:nvSpPr>
          <p:cNvPr id="6" name="Content Placeholder 2">
            <a:extLst>
              <a:ext uri="{FF2B5EF4-FFF2-40B4-BE49-F238E27FC236}">
                <a16:creationId xmlns:a16="http://schemas.microsoft.com/office/drawing/2014/main" id="{D7F5DEA6-124E-4662-F0E3-5D6A7A8A317E}"/>
              </a:ext>
            </a:extLst>
          </p:cNvPr>
          <p:cNvSpPr>
            <a:spLocks noGrp="1"/>
          </p:cNvSpPr>
          <p:nvPr>
            <p:ph idx="1" hasCustomPrompt="1"/>
          </p:nvPr>
        </p:nvSpPr>
        <p:spPr>
          <a:xfrm>
            <a:off x="838200" y="1825625"/>
            <a:ext cx="10515600" cy="43513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Encourage summary of Key Concepts, True-False questions, Short quiz, etc.</a:t>
            </a:r>
          </a:p>
          <a:p>
            <a:pPr marL="685800" marR="0" lvl="1"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875553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DA6F77-199A-18A0-BB14-D2ADAA06AD97}"/>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3" name="Footer Placeholder 2">
            <a:extLst>
              <a:ext uri="{FF2B5EF4-FFF2-40B4-BE49-F238E27FC236}">
                <a16:creationId xmlns:a16="http://schemas.microsoft.com/office/drawing/2014/main" id="{90322086-ECF2-D80D-9A5E-42D342B983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2C2C518-F236-6472-7AAD-E8D3A092A3FA}"/>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5" name="Picture 2" descr="KRMU LMS Moodle">
            <a:extLst>
              <a:ext uri="{FF2B5EF4-FFF2-40B4-BE49-F238E27FC236}">
                <a16:creationId xmlns:a16="http://schemas.microsoft.com/office/drawing/2014/main" id="{10D92CCE-27E5-854A-4CB1-C7A7DC46B9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58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B03B-0BB4-1264-7442-34DFFD61FE96}"/>
              </a:ext>
            </a:extLst>
          </p:cNvPr>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0B24CD5F-2A17-14F5-D6DE-9086B571CA0A}"/>
              </a:ext>
            </a:extLst>
          </p:cNvPr>
          <p:cNvSpPr>
            <a:spLocks noGrp="1"/>
          </p:cNvSpPr>
          <p:nvPr>
            <p:ph idx="1"/>
          </p:nvPr>
        </p:nvSpPr>
        <p:spPr>
          <a:xfrm>
            <a:off x="5183188" y="987425"/>
            <a:ext cx="6172200" cy="4873625"/>
          </a:xfrm>
        </p:spPr>
        <p:txBody>
          <a:bodyPr/>
          <a:lstStyle>
            <a:lvl1pPr>
              <a:defRPr sz="3200">
                <a:latin typeface="Arial" panose="020B0604020202020204" pitchFamily="34" charset="0"/>
                <a:cs typeface="Arial" panose="020B0604020202020204" pitchFamily="34" charset="0"/>
              </a:defRPr>
            </a:lvl1pPr>
            <a:lvl2pPr>
              <a:defRPr sz="2800">
                <a:latin typeface="Arial" panose="020B0604020202020204" pitchFamily="34" charset="0"/>
                <a:cs typeface="Arial" panose="020B0604020202020204" pitchFamily="34" charset="0"/>
              </a:defRPr>
            </a:lvl2pPr>
            <a:lvl3pPr>
              <a:defRPr sz="2400">
                <a:latin typeface="Arial" panose="020B0604020202020204" pitchFamily="34" charset="0"/>
                <a:cs typeface="Arial" panose="020B0604020202020204" pitchFamily="34" charset="0"/>
              </a:defRPr>
            </a:lvl3pPr>
            <a:lvl4pPr>
              <a:defRPr sz="2000">
                <a:latin typeface="Arial" panose="020B0604020202020204" pitchFamily="34" charset="0"/>
                <a:cs typeface="Arial" panose="020B0604020202020204" pitchFamily="34" charset="0"/>
              </a:defRPr>
            </a:lvl4pPr>
            <a:lvl5pPr>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a:extLst>
              <a:ext uri="{FF2B5EF4-FFF2-40B4-BE49-F238E27FC236}">
                <a16:creationId xmlns:a16="http://schemas.microsoft.com/office/drawing/2014/main" id="{07D81F65-4714-4640-304C-BCCD643F0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1E1D4-7D97-ADCF-67D4-B795793FCEC0}"/>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6" name="Footer Placeholder 5">
            <a:extLst>
              <a:ext uri="{FF2B5EF4-FFF2-40B4-BE49-F238E27FC236}">
                <a16:creationId xmlns:a16="http://schemas.microsoft.com/office/drawing/2014/main" id="{1C176284-62D9-F812-FB2D-246A9CA36C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6D5426-6FE2-93D6-4CD3-D31B994DABEE}"/>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8" name="Picture 2" descr="KRMU LMS Moodle">
            <a:extLst>
              <a:ext uri="{FF2B5EF4-FFF2-40B4-BE49-F238E27FC236}">
                <a16:creationId xmlns:a16="http://schemas.microsoft.com/office/drawing/2014/main" id="{89F1494A-62C8-347E-F8BA-D30D031A1AC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484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0198-87A5-27B7-62C2-AD485CA206D0}"/>
              </a:ext>
            </a:extLst>
          </p:cNvPr>
          <p:cNvSpPr>
            <a:spLocks noGrp="1"/>
          </p:cNvSpPr>
          <p:nvPr>
            <p:ph type="title"/>
          </p:nvPr>
        </p:nvSpPr>
        <p:spPr>
          <a:xfrm>
            <a:off x="839788" y="457200"/>
            <a:ext cx="3932237" cy="1600200"/>
          </a:xfrm>
        </p:spPr>
        <p:txBody>
          <a:bodyPr anchor="b"/>
          <a:lstStyle>
            <a:lvl1pPr>
              <a:defRPr sz="3200">
                <a:latin typeface="Arial" panose="020B0604020202020204" pitchFamily="34" charset="0"/>
                <a:cs typeface="Arial" panose="020B0604020202020204" pitchFamily="34" charset="0"/>
              </a:defRPr>
            </a:lvl1pPr>
          </a:lstStyle>
          <a:p>
            <a:r>
              <a:rPr lang="en-US" dirty="0"/>
              <a:t>Click to edit Master title style</a:t>
            </a:r>
            <a:endParaRPr lang="en-IN" dirty="0"/>
          </a:p>
        </p:txBody>
      </p:sp>
      <p:sp>
        <p:nvSpPr>
          <p:cNvPr id="3" name="Picture Placeholder 2">
            <a:extLst>
              <a:ext uri="{FF2B5EF4-FFF2-40B4-BE49-F238E27FC236}">
                <a16:creationId xmlns:a16="http://schemas.microsoft.com/office/drawing/2014/main" id="{C068C6E2-D9DC-1F07-8573-6914ADE8A6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9B4D08-C1FC-2EBA-1939-1E82F2482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283172-DCE1-4873-0B29-D3926590A766}"/>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6" name="Footer Placeholder 5">
            <a:extLst>
              <a:ext uri="{FF2B5EF4-FFF2-40B4-BE49-F238E27FC236}">
                <a16:creationId xmlns:a16="http://schemas.microsoft.com/office/drawing/2014/main" id="{745B7DA4-0D87-CDD1-E2DA-8FA05C5745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A7D77B-C745-43E7-28A9-AAA91A90C1B8}"/>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8" name="Picture 2" descr="KRMU LMS Moodle">
            <a:extLst>
              <a:ext uri="{FF2B5EF4-FFF2-40B4-BE49-F238E27FC236}">
                <a16:creationId xmlns:a16="http://schemas.microsoft.com/office/drawing/2014/main" id="{E030362E-D069-DA33-67F7-62D480A25A9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440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38FE-236F-8D1A-F112-FE71E1800262}"/>
              </a:ext>
            </a:extLst>
          </p:cNvPr>
          <p:cNvSpPr>
            <a:spLocks noGrp="1"/>
          </p:cNvSpPr>
          <p:nvPr>
            <p:ph type="title"/>
          </p:nvPr>
        </p:nvSpPr>
        <p:spPr>
          <a:xfrm>
            <a:off x="838200" y="555624"/>
            <a:ext cx="10515600" cy="931432"/>
          </a:xfrm>
        </p:spPr>
        <p:txBody>
          <a:bodyPr/>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46FB1C90-10CF-BC4F-3FA1-0D853994AA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2A9946-1B4D-EB25-84E1-9B76C52100A7}"/>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5" name="Footer Placeholder 4">
            <a:extLst>
              <a:ext uri="{FF2B5EF4-FFF2-40B4-BE49-F238E27FC236}">
                <a16:creationId xmlns:a16="http://schemas.microsoft.com/office/drawing/2014/main" id="{657B1018-BC17-F834-7A4E-3FABF45BE8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EB66F2-87A4-0BEB-BDE7-B3B32E14FEE6}"/>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7" name="Picture 2" descr="KRMU LMS Moodle">
            <a:extLst>
              <a:ext uri="{FF2B5EF4-FFF2-40B4-BE49-F238E27FC236}">
                <a16:creationId xmlns:a16="http://schemas.microsoft.com/office/drawing/2014/main" id="{A704C666-439E-DA27-6CC7-EE2E1774303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702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FAC744-3E28-DBCE-93D1-B138AFCB8F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6D750F-E7A0-1AE8-3BC0-F7E6CAC8CC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4EA64F-96A5-AF6F-DF2F-B77635014975}"/>
              </a:ext>
            </a:extLst>
          </p:cNvPr>
          <p:cNvSpPr>
            <a:spLocks noGrp="1"/>
          </p:cNvSpPr>
          <p:nvPr>
            <p:ph type="dt" sz="half" idx="10"/>
          </p:nvPr>
        </p:nvSpPr>
        <p:spPr/>
        <p:txBody>
          <a:bodyPr/>
          <a:lstStyle/>
          <a:p>
            <a:fld id="{C888F347-2569-4226-9022-DE8088F87A84}" type="datetimeFigureOut">
              <a:rPr lang="en-IN" smtClean="0"/>
              <a:t>05-08-2026</a:t>
            </a:fld>
            <a:endParaRPr lang="en-IN"/>
          </a:p>
        </p:txBody>
      </p:sp>
      <p:sp>
        <p:nvSpPr>
          <p:cNvPr id="5" name="Footer Placeholder 4">
            <a:extLst>
              <a:ext uri="{FF2B5EF4-FFF2-40B4-BE49-F238E27FC236}">
                <a16:creationId xmlns:a16="http://schemas.microsoft.com/office/drawing/2014/main" id="{2A3C3410-0E6E-7BB3-E9AB-F1836339A0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9A9CFF-82C0-CB32-3626-081A4B8ABD26}"/>
              </a:ext>
            </a:extLst>
          </p:cNvPr>
          <p:cNvSpPr>
            <a:spLocks noGrp="1"/>
          </p:cNvSpPr>
          <p:nvPr>
            <p:ph type="sldNum" sz="quarter" idx="12"/>
          </p:nvPr>
        </p:nvSpPr>
        <p:spPr/>
        <p:txBody>
          <a:bodyPr/>
          <a:lstStyle/>
          <a:p>
            <a:fld id="{9F351B64-867A-4F20-90C3-3BD18464E5B3}" type="slidenum">
              <a:rPr lang="en-IN" smtClean="0"/>
              <a:t>‹#›</a:t>
            </a:fld>
            <a:endParaRPr lang="en-IN"/>
          </a:p>
        </p:txBody>
      </p:sp>
      <p:pic>
        <p:nvPicPr>
          <p:cNvPr id="7" name="Picture 2" descr="KRMU LMS Moodle">
            <a:extLst>
              <a:ext uri="{FF2B5EF4-FFF2-40B4-BE49-F238E27FC236}">
                <a16:creationId xmlns:a16="http://schemas.microsoft.com/office/drawing/2014/main" id="{375A0EB8-5D9F-63DD-2BAE-2A973A31599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1480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5017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A60DD6-C638-2183-20C3-900D3C969F56}"/>
              </a:ext>
            </a:extLst>
          </p:cNvPr>
          <p:cNvSpPr/>
          <p:nvPr userDrawn="1"/>
        </p:nvSpPr>
        <p:spPr>
          <a:xfrm>
            <a:off x="0" y="6289964"/>
            <a:ext cx="12192000" cy="568037"/>
          </a:xfrm>
          <a:prstGeom prst="rect">
            <a:avLst/>
          </a:prstGeom>
          <a:solidFill>
            <a:srgbClr val="0060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Placeholder 1">
            <a:extLst>
              <a:ext uri="{FF2B5EF4-FFF2-40B4-BE49-F238E27FC236}">
                <a16:creationId xmlns:a16="http://schemas.microsoft.com/office/drawing/2014/main" id="{2436C7EB-04B0-139F-68F6-3D0C1F647A7F}"/>
              </a:ext>
            </a:extLst>
          </p:cNvPr>
          <p:cNvSpPr>
            <a:spLocks noGrp="1"/>
          </p:cNvSpPr>
          <p:nvPr>
            <p:ph type="title"/>
          </p:nvPr>
        </p:nvSpPr>
        <p:spPr>
          <a:xfrm>
            <a:off x="838200" y="555623"/>
            <a:ext cx="10515600" cy="857541"/>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E960E9B-89A7-96EB-B53E-CA4E991695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FEDCB760-9D68-2E34-1012-00C8C2DDA2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lumMod val="95000"/>
                  </a:schemeClr>
                </a:solidFill>
              </a:defRPr>
            </a:lvl1pPr>
          </a:lstStyle>
          <a:p>
            <a:fld id="{C888F347-2569-4226-9022-DE8088F87A84}" type="datetimeFigureOut">
              <a:rPr lang="en-IN" smtClean="0"/>
              <a:pPr/>
              <a:t>05-08-2026</a:t>
            </a:fld>
            <a:endParaRPr lang="en-IN" dirty="0">
              <a:solidFill>
                <a:schemeClr val="bg1">
                  <a:lumMod val="95000"/>
                </a:schemeClr>
              </a:solidFill>
            </a:endParaRPr>
          </a:p>
        </p:txBody>
      </p:sp>
      <p:sp>
        <p:nvSpPr>
          <p:cNvPr id="5" name="Footer Placeholder 4">
            <a:extLst>
              <a:ext uri="{FF2B5EF4-FFF2-40B4-BE49-F238E27FC236}">
                <a16:creationId xmlns:a16="http://schemas.microsoft.com/office/drawing/2014/main" id="{B1977E5E-34E1-2053-5C2A-E26871D93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endParaRPr lang="en-IN" dirty="0">
              <a:solidFill>
                <a:schemeClr val="bg1">
                  <a:lumMod val="95000"/>
                </a:schemeClr>
              </a:solidFill>
            </a:endParaRPr>
          </a:p>
        </p:txBody>
      </p:sp>
      <p:sp>
        <p:nvSpPr>
          <p:cNvPr id="6" name="Slide Number Placeholder 5">
            <a:extLst>
              <a:ext uri="{FF2B5EF4-FFF2-40B4-BE49-F238E27FC236}">
                <a16:creationId xmlns:a16="http://schemas.microsoft.com/office/drawing/2014/main" id="{04536B8F-4D10-B799-A131-A7AF4DA7F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lumMod val="95000"/>
                  </a:schemeClr>
                </a:solidFill>
              </a:defRPr>
            </a:lvl1pPr>
          </a:lstStyle>
          <a:p>
            <a:fld id="{9F351B64-867A-4F20-90C3-3BD18464E5B3}" type="slidenum">
              <a:rPr lang="en-IN" smtClean="0"/>
              <a:pPr/>
              <a:t>‹#›</a:t>
            </a:fld>
            <a:endParaRPr lang="en-IN" dirty="0"/>
          </a:p>
        </p:txBody>
      </p:sp>
      <p:pic>
        <p:nvPicPr>
          <p:cNvPr id="7" name="Picture 2" descr="KRMU LMS Moodle">
            <a:extLst>
              <a:ext uri="{FF2B5EF4-FFF2-40B4-BE49-F238E27FC236}">
                <a16:creationId xmlns:a16="http://schemas.microsoft.com/office/drawing/2014/main" id="{16309F3E-58E1-C940-96AC-28985BE1219A}"/>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9655769" y="239711"/>
            <a:ext cx="1698031" cy="315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473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600" kern="1200">
          <a:solidFill>
            <a:schemeClr val="tx1"/>
          </a:solidFill>
          <a:latin typeface="Arial Black" panose="020B0A040201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krmu_bg.png"/>
          <p:cNvPicPr>
            <a:picLocks noChangeAspect="1"/>
          </p:cNvPicPr>
          <p:nvPr/>
        </p:nvPicPr>
        <p:blipFill>
          <a:blip r:embed="rId3"/>
          <a:stretch>
            <a:fillRect/>
          </a:stretch>
        </p:blipFill>
        <p:spPr>
          <a:xfrm>
            <a:off x="0" y="0"/>
            <a:ext cx="12192000" cy="6858000"/>
          </a:xfrm>
          <a:prstGeom prst="rect">
            <a:avLst/>
          </a:prstGeom>
        </p:spPr>
      </p:pic>
      <p:pic>
        <p:nvPicPr>
          <p:cNvPr id="3" name="Image 1" descr="krmu_logo.png"/>
          <p:cNvPicPr>
            <a:picLocks noChangeAspect="1"/>
          </p:cNvPicPr>
          <p:nvPr/>
        </p:nvPicPr>
        <p:blipFill>
          <a:blip r:embed="rId4"/>
          <a:stretch>
            <a:fillRect/>
          </a:stretch>
        </p:blipFill>
        <p:spPr>
          <a:xfrm>
            <a:off x="2893162" y="149962"/>
            <a:ext cx="6397142" cy="920801"/>
          </a:xfrm>
          <a:prstGeom prst="rect">
            <a:avLst/>
          </a:prstGeom>
        </p:spPr>
      </p:pic>
      <p:sp>
        <p:nvSpPr>
          <p:cNvPr id="4" name="Text 0"/>
          <p:cNvSpPr/>
          <p:nvPr/>
        </p:nvSpPr>
        <p:spPr>
          <a:xfrm>
            <a:off x="1783994" y="1600200"/>
            <a:ext cx="8494776" cy="594360"/>
          </a:xfrm>
          <a:prstGeom prst="rect">
            <a:avLst/>
          </a:prstGeom>
          <a:noFill/>
          <a:ln/>
        </p:spPr>
        <p:txBody>
          <a:bodyPr wrap="square" lIns="0" tIns="0" rIns="0" bIns="0" rtlCol="0" anchor="ctr"/>
          <a:lstStyle/>
          <a:p>
            <a:pPr marL="0" indent="0" algn="ctr">
              <a:buNone/>
            </a:pPr>
            <a:r>
              <a:rPr lang="en-US" sz="3200" b="1" dirty="0">
                <a:solidFill>
                  <a:srgbClr val="E31E24"/>
                </a:solidFill>
                <a:latin typeface="Times New Roman" pitchFamily="34" charset="0"/>
                <a:ea typeface="Times New Roman" pitchFamily="34" charset="-122"/>
                <a:cs typeface="Times New Roman" pitchFamily="34" charset="-120"/>
              </a:rPr>
              <a:t>Database Management Systems</a:t>
            </a:r>
            <a:endParaRPr lang="en-US" sz="3200" dirty="0"/>
          </a:p>
        </p:txBody>
      </p:sp>
      <p:sp>
        <p:nvSpPr>
          <p:cNvPr id="5" name="Text 1"/>
          <p:cNvSpPr/>
          <p:nvPr/>
        </p:nvSpPr>
        <p:spPr>
          <a:xfrm>
            <a:off x="1097280" y="2697480"/>
            <a:ext cx="9966960" cy="914400"/>
          </a:xfrm>
          <a:prstGeom prst="rect">
            <a:avLst/>
          </a:prstGeom>
          <a:noFill/>
          <a:ln/>
        </p:spPr>
        <p:txBody>
          <a:bodyPr wrap="square" lIns="0" tIns="0" rIns="0" bIns="0" rtlCol="0" anchor="ctr"/>
          <a:lstStyle/>
          <a:p>
            <a:pPr marL="0" indent="0" algn="ctr">
              <a:buNone/>
            </a:pPr>
            <a:r>
              <a:rPr lang="en-US" sz="2200" b="1" dirty="0">
                <a:solidFill>
                  <a:srgbClr val="E31E24"/>
                </a:solidFill>
                <a:latin typeface="Times New Roman" pitchFamily="34" charset="0"/>
                <a:ea typeface="Times New Roman" pitchFamily="34" charset="-122"/>
                <a:cs typeface="Times New Roman" pitchFamily="34" charset="-120"/>
              </a:rPr>
              <a:t>Ms. Mansi, Dr. Rishika, Ms. Megha Sharma, Dr. Reenu, Dr. Swati,</a:t>
            </a:r>
            <a:endParaRPr lang="en-US" sz="2200" dirty="0"/>
          </a:p>
          <a:p>
            <a:pPr marL="0" indent="0" algn="ctr">
              <a:buNone/>
            </a:pPr>
            <a:r>
              <a:rPr lang="en-US" sz="2200" b="1" dirty="0">
                <a:solidFill>
                  <a:srgbClr val="E31E24"/>
                </a:solidFill>
                <a:latin typeface="Times New Roman" pitchFamily="34" charset="0"/>
                <a:ea typeface="Times New Roman" pitchFamily="34" charset="-122"/>
                <a:cs typeface="Times New Roman" pitchFamily="34" charset="-120"/>
              </a:rPr>
              <a:t>Dr. Surabhi, Dr. Neha Kaushik </a:t>
            </a:r>
            <a:endParaRPr lang="en-US" sz="2200" dirty="0"/>
          </a:p>
        </p:txBody>
      </p:sp>
      <p:sp>
        <p:nvSpPr>
          <p:cNvPr id="6" name="Text 2"/>
          <p:cNvSpPr/>
          <p:nvPr/>
        </p:nvSpPr>
        <p:spPr>
          <a:xfrm>
            <a:off x="1819656" y="4251960"/>
            <a:ext cx="8494776" cy="960120"/>
          </a:xfrm>
          <a:prstGeom prst="rect">
            <a:avLst/>
          </a:prstGeom>
          <a:noFill/>
          <a:ln/>
        </p:spPr>
        <p:txBody>
          <a:bodyPr wrap="square" lIns="0" tIns="0" rIns="0" bIns="0" rtlCol="0" anchor="ctr"/>
          <a:lstStyle/>
          <a:p>
            <a:pPr marL="0" indent="0" algn="ctr">
              <a:buNone/>
            </a:pPr>
            <a:r>
              <a:rPr lang="en-US" sz="1300" b="1" dirty="0">
                <a:solidFill>
                  <a:srgbClr val="1F3864"/>
                </a:solidFill>
                <a:latin typeface="Verdana" pitchFamily="34" charset="0"/>
                <a:ea typeface="Verdana" pitchFamily="34" charset="-122"/>
                <a:cs typeface="Verdana" pitchFamily="34" charset="-120"/>
              </a:rPr>
              <a:t>Faculty</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School of Engineering &amp; Technology (SOET)</a:t>
            </a:r>
            <a:endParaRPr lang="en-US" sz="1300" dirty="0"/>
          </a:p>
          <a:p>
            <a:pPr marL="0" indent="0" algn="ctr">
              <a:buNone/>
            </a:pPr>
            <a:r>
              <a:rPr lang="en-US" sz="1300" b="1" dirty="0">
                <a:solidFill>
                  <a:srgbClr val="1F3864"/>
                </a:solidFill>
                <a:latin typeface="Verdana" pitchFamily="34" charset="0"/>
                <a:ea typeface="Verdana" pitchFamily="34" charset="-122"/>
                <a:cs typeface="Verdana" pitchFamily="34" charset="-120"/>
              </a:rPr>
              <a:t>K. R. Mangalam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a:spLocks noGrp="1"/>
          </p:cNvSpPr>
          <p:nvPr>
            <p:ph type="title"/>
          </p:nvPr>
        </p:nvSpPr>
        <p:spPr/>
        <p:txBody>
          <a:bodyPr>
            <a:normAutofit/>
          </a:bodyPr>
          <a:lstStyle/>
          <a:p>
            <a:r>
              <a:rPr sz="3600" b="1">
                <a:solidFill>
                  <a:srgbClr val="0E2841"/>
                </a:solidFill>
                <a:latin typeface="Times New Roman"/>
              </a:rPr>
              <a:t>Prior Knowledge Activation</a:t>
            </a:r>
          </a:p>
        </p:txBody>
      </p:sp>
      <p:sp>
        <p:nvSpPr>
          <p:cNvPr id="3" name="Panel"/>
          <p:cNvSpPr/>
          <p:nvPr/>
        </p:nvSpPr>
        <p:spPr>
          <a:xfrm>
            <a:off x="841248" y="2286000"/>
            <a:ext cx="10515600" cy="822960"/>
          </a:xfrm>
          <a:prstGeom prst="roundRect">
            <a:avLst>
              <a:gd name="adj" fmla="val 7000"/>
            </a:avLst>
          </a:prstGeom>
          <a:solidFill>
            <a:srgbClr val="E8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841248" y="2286000"/>
            <a:ext cx="10515600" cy="822960"/>
          </a:xfrm>
          <a:prstGeom prst="rect">
            <a:avLst/>
          </a:prstGeom>
          <a:noFill/>
        </p:spPr>
        <p:txBody>
          <a:bodyPr wrap="square" lIns="0" tIns="18288" rIns="0" bIns="18288" anchor="ctr"/>
          <a:lstStyle/>
          <a:p>
            <a:pPr algn="ctr">
              <a:spcAft>
                <a:spcPts val="400"/>
              </a:spcAft>
            </a:pPr>
            <a:r>
              <a:rPr sz="2400" b="1" i="0">
                <a:solidFill>
                  <a:srgbClr val="0E2841"/>
                </a:solidFill>
                <a:latin typeface="Consolas"/>
              </a:rPr>
              <a:t>Data   →   Database   →   DBMS   →   Tables</a:t>
            </a:r>
          </a:p>
        </p:txBody>
      </p:sp>
      <p:sp>
        <p:nvSpPr>
          <p:cNvPr id="5" name="Card"/>
          <p:cNvSpPr/>
          <p:nvPr/>
        </p:nvSpPr>
        <p:spPr>
          <a:xfrm>
            <a:off x="841248" y="3383280"/>
            <a:ext cx="3261360" cy="1554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ard Bar"/>
          <p:cNvSpPr/>
          <p:nvPr/>
        </p:nvSpPr>
        <p:spPr>
          <a:xfrm>
            <a:off x="841248" y="3383280"/>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1069848" y="3502152"/>
            <a:ext cx="2804160" cy="1435608"/>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What can a DBMS do that a folder of files cannot?</a:t>
            </a:r>
          </a:p>
        </p:txBody>
      </p:sp>
      <p:sp>
        <p:nvSpPr>
          <p:cNvPr id="8" name="Card"/>
          <p:cNvSpPr/>
          <p:nvPr/>
        </p:nvSpPr>
        <p:spPr>
          <a:xfrm>
            <a:off x="4468368" y="3383280"/>
            <a:ext cx="3261360" cy="1554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Card Bar"/>
          <p:cNvSpPr/>
          <p:nvPr/>
        </p:nvSpPr>
        <p:spPr>
          <a:xfrm>
            <a:off x="4468368" y="3383280"/>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4696968" y="3502152"/>
            <a:ext cx="2804160" cy="1435608"/>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Why do Netflix and Amazon not run on spreadsheets?</a:t>
            </a:r>
          </a:p>
        </p:txBody>
      </p:sp>
      <p:sp>
        <p:nvSpPr>
          <p:cNvPr id="11" name="Card"/>
          <p:cNvSpPr/>
          <p:nvPr/>
        </p:nvSpPr>
        <p:spPr>
          <a:xfrm>
            <a:off x="8095488" y="3383280"/>
            <a:ext cx="3261360" cy="1554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Card Bar"/>
          <p:cNvSpPr/>
          <p:nvPr/>
        </p:nvSpPr>
        <p:spPr>
          <a:xfrm>
            <a:off x="8095488" y="3383280"/>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8324088" y="3502152"/>
            <a:ext cx="2804160" cy="1435608"/>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What makes a database “modern”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p:txBody>
          <a:bodyPr>
            <a:normAutofit/>
          </a:bodyPr>
          <a:lstStyle/>
          <a:p>
            <a:r>
              <a:rPr sz="3600" b="1">
                <a:solidFill>
                  <a:srgbClr val="0E2841"/>
                </a:solidFill>
                <a:latin typeface="Times New Roman"/>
              </a:rPr>
              <a:t>Session Outcomes</a:t>
            </a:r>
          </a:p>
        </p:txBody>
      </p:sp>
      <p:sp>
        <p:nvSpPr>
          <p:cNvPr id="3" name="Panel"/>
          <p:cNvSpPr/>
          <p:nvPr/>
        </p:nvSpPr>
        <p:spPr>
          <a:xfrm>
            <a:off x="841248" y="2286000"/>
            <a:ext cx="10515600" cy="9601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Badge"/>
          <p:cNvSpPr/>
          <p:nvPr/>
        </p:nvSpPr>
        <p:spPr>
          <a:xfrm>
            <a:off x="1069848" y="2468880"/>
            <a:ext cx="594360" cy="594360"/>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1069848" y="2468880"/>
            <a:ext cx="594360" cy="594360"/>
          </a:xfrm>
          <a:prstGeom prst="rect">
            <a:avLst/>
          </a:prstGeom>
          <a:noFill/>
        </p:spPr>
        <p:txBody>
          <a:bodyPr wrap="square" lIns="0" tIns="18288" rIns="0" bIns="18288" anchor="ctr"/>
          <a:lstStyle/>
          <a:p>
            <a:pPr algn="ctr">
              <a:spcAft>
                <a:spcPts val="400"/>
              </a:spcAft>
            </a:pPr>
            <a:r>
              <a:rPr sz="2400" b="1" i="0">
                <a:solidFill>
                  <a:srgbClr val="FFFFFF"/>
                </a:solidFill>
                <a:latin typeface="Times New Roman"/>
              </a:rPr>
              <a:t>1</a:t>
            </a:r>
          </a:p>
        </p:txBody>
      </p:sp>
      <p:sp>
        <p:nvSpPr>
          <p:cNvPr id="6" name="TextBox 6"/>
          <p:cNvSpPr txBox="1"/>
          <p:nvPr/>
        </p:nvSpPr>
        <p:spPr>
          <a:xfrm>
            <a:off x="1938528" y="2286000"/>
            <a:ext cx="7772400" cy="960120"/>
          </a:xfrm>
          <a:prstGeom prst="rect">
            <a:avLst/>
          </a:prstGeom>
          <a:noFill/>
        </p:spPr>
        <p:txBody>
          <a:bodyPr wrap="square" lIns="0" tIns="18288" rIns="0" bIns="18288" anchor="ctr"/>
          <a:lstStyle/>
          <a:p>
            <a:pPr algn="l">
              <a:spcAft>
                <a:spcPts val="400"/>
              </a:spcAft>
            </a:pPr>
            <a:r>
              <a:rPr sz="2300" b="0" i="0">
                <a:solidFill>
                  <a:srgbClr val="2B2B2B"/>
                </a:solidFill>
                <a:latin typeface="Times New Roman"/>
              </a:rPr>
              <a:t>Describe the key characteristics of a modern DBMS</a:t>
            </a:r>
          </a:p>
        </p:txBody>
      </p:sp>
      <p:sp>
        <p:nvSpPr>
          <p:cNvPr id="7" name="Panel"/>
          <p:cNvSpPr/>
          <p:nvPr/>
        </p:nvSpPr>
        <p:spPr>
          <a:xfrm>
            <a:off x="841248" y="3383280"/>
            <a:ext cx="10515600" cy="9601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adge"/>
          <p:cNvSpPr/>
          <p:nvPr/>
        </p:nvSpPr>
        <p:spPr>
          <a:xfrm>
            <a:off x="1069848" y="3566160"/>
            <a:ext cx="594360" cy="594360"/>
          </a:xfrm>
          <a:prstGeom prst="roundRect">
            <a:avLst>
              <a:gd name="adj" fmla="val 2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9"/>
          <p:cNvSpPr txBox="1"/>
          <p:nvPr/>
        </p:nvSpPr>
        <p:spPr>
          <a:xfrm>
            <a:off x="1069848" y="3566160"/>
            <a:ext cx="594360" cy="594360"/>
          </a:xfrm>
          <a:prstGeom prst="rect">
            <a:avLst/>
          </a:prstGeom>
          <a:noFill/>
        </p:spPr>
        <p:txBody>
          <a:bodyPr wrap="square" lIns="0" tIns="18288" rIns="0" bIns="18288" anchor="ctr"/>
          <a:lstStyle/>
          <a:p>
            <a:pPr algn="ctr">
              <a:spcAft>
                <a:spcPts val="400"/>
              </a:spcAft>
            </a:pPr>
            <a:r>
              <a:rPr sz="2400" b="1" i="0">
                <a:solidFill>
                  <a:srgbClr val="FFFFFF"/>
                </a:solidFill>
                <a:latin typeface="Times New Roman"/>
              </a:rPr>
              <a:t>2</a:t>
            </a:r>
          </a:p>
        </p:txBody>
      </p:sp>
      <p:sp>
        <p:nvSpPr>
          <p:cNvPr id="10" name="TextBox 10"/>
          <p:cNvSpPr txBox="1"/>
          <p:nvPr/>
        </p:nvSpPr>
        <p:spPr>
          <a:xfrm>
            <a:off x="1938528" y="3383280"/>
            <a:ext cx="7772400" cy="960120"/>
          </a:xfrm>
          <a:prstGeom prst="rect">
            <a:avLst/>
          </a:prstGeom>
          <a:noFill/>
        </p:spPr>
        <p:txBody>
          <a:bodyPr wrap="square" lIns="0" tIns="18288" rIns="0" bIns="18288" anchor="ctr"/>
          <a:lstStyle/>
          <a:p>
            <a:pPr algn="l">
              <a:spcAft>
                <a:spcPts val="400"/>
              </a:spcAft>
            </a:pPr>
            <a:r>
              <a:rPr sz="2300" b="0" i="0">
                <a:solidFill>
                  <a:srgbClr val="2B2B2B"/>
                </a:solidFill>
                <a:latin typeface="Times New Roman"/>
              </a:rPr>
              <a:t>Match each characteristic to a real industry example</a:t>
            </a:r>
          </a:p>
        </p:txBody>
      </p:sp>
      <p:sp>
        <p:nvSpPr>
          <p:cNvPr id="11" name="Panel"/>
          <p:cNvSpPr/>
          <p:nvPr/>
        </p:nvSpPr>
        <p:spPr>
          <a:xfrm>
            <a:off x="841248" y="4480560"/>
            <a:ext cx="10515600" cy="9601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Badge"/>
          <p:cNvSpPr/>
          <p:nvPr/>
        </p:nvSpPr>
        <p:spPr>
          <a:xfrm>
            <a:off x="1069848" y="4663440"/>
            <a:ext cx="594360" cy="59436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1069848" y="4663440"/>
            <a:ext cx="594360" cy="594360"/>
          </a:xfrm>
          <a:prstGeom prst="rect">
            <a:avLst/>
          </a:prstGeom>
          <a:noFill/>
        </p:spPr>
        <p:txBody>
          <a:bodyPr wrap="square" lIns="0" tIns="18288" rIns="0" bIns="18288" anchor="ctr"/>
          <a:lstStyle/>
          <a:p>
            <a:pPr algn="ctr">
              <a:spcAft>
                <a:spcPts val="400"/>
              </a:spcAft>
            </a:pPr>
            <a:r>
              <a:rPr sz="2400" b="1" i="0">
                <a:solidFill>
                  <a:srgbClr val="FFFFFF"/>
                </a:solidFill>
                <a:latin typeface="Times New Roman"/>
              </a:rPr>
              <a:t>3</a:t>
            </a:r>
          </a:p>
        </p:txBody>
      </p:sp>
      <p:sp>
        <p:nvSpPr>
          <p:cNvPr id="14" name="TextBox 14"/>
          <p:cNvSpPr txBox="1"/>
          <p:nvPr/>
        </p:nvSpPr>
        <p:spPr>
          <a:xfrm>
            <a:off x="1938528" y="4480560"/>
            <a:ext cx="7772400" cy="960120"/>
          </a:xfrm>
          <a:prstGeom prst="rect">
            <a:avLst/>
          </a:prstGeom>
          <a:noFill/>
        </p:spPr>
        <p:txBody>
          <a:bodyPr wrap="square" lIns="0" tIns="18288" rIns="0" bIns="18288" anchor="ctr"/>
          <a:lstStyle/>
          <a:p>
            <a:pPr algn="l">
              <a:spcAft>
                <a:spcPts val="400"/>
              </a:spcAft>
            </a:pPr>
            <a:r>
              <a:rPr sz="2300" b="0" i="0">
                <a:solidFill>
                  <a:srgbClr val="2B2B2B"/>
                </a:solidFill>
                <a:latin typeface="Times New Roman"/>
              </a:rPr>
              <a:t>Compare file systems, RDBMS and cloud-native databases</a:t>
            </a:r>
          </a:p>
        </p:txBody>
      </p:sp>
      <p:sp>
        <p:nvSpPr>
          <p:cNvPr id="15" name="Chip"/>
          <p:cNvSpPr/>
          <p:nvPr/>
        </p:nvSpPr>
        <p:spPr>
          <a:xfrm>
            <a:off x="8339328" y="5532120"/>
            <a:ext cx="3017520" cy="548640"/>
          </a:xfrm>
          <a:prstGeom prst="roundRect">
            <a:avLst>
              <a:gd name="adj" fmla="val 2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8339328" y="5532120"/>
            <a:ext cx="3017520" cy="548640"/>
          </a:xfrm>
          <a:prstGeom prst="rect">
            <a:avLst/>
          </a:prstGeom>
          <a:noFill/>
        </p:spPr>
        <p:txBody>
          <a:bodyPr wrap="square" lIns="0" tIns="18288" rIns="0" bIns="18288" anchor="ctr"/>
          <a:lstStyle/>
          <a:p>
            <a:pPr algn="ctr">
              <a:spcAft>
                <a:spcPts val="400"/>
              </a:spcAft>
            </a:pPr>
            <a:r>
              <a:rPr sz="1600" b="1" i="0">
                <a:solidFill>
                  <a:srgbClr val="FFFFFF"/>
                </a:solidFill>
                <a:latin typeface="Times New Roman"/>
              </a:rPr>
              <a:t>CO1   |   Bloom’s L2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a:spLocks noGrp="1"/>
          </p:cNvSpPr>
          <p:nvPr>
            <p:ph type="title"/>
          </p:nvPr>
        </p:nvSpPr>
        <p:spPr/>
        <p:txBody>
          <a:bodyPr>
            <a:normAutofit/>
          </a:bodyPr>
          <a:lstStyle/>
          <a:p>
            <a:r>
              <a:rPr sz="3600" b="1">
                <a:solidFill>
                  <a:srgbClr val="0E2841"/>
                </a:solidFill>
                <a:latin typeface="Times New Roman"/>
              </a:rPr>
              <a:t>Common Misconceptions</a:t>
            </a:r>
          </a:p>
        </p:txBody>
      </p:sp>
      <p:sp>
        <p:nvSpPr>
          <p:cNvPr id="2" name="TextBox 2"/>
          <p:cNvSpPr txBox="1"/>
          <p:nvPr/>
        </p:nvSpPr>
        <p:spPr>
          <a:xfrm>
            <a:off x="841248" y="1691640"/>
            <a:ext cx="4937760" cy="411480"/>
          </a:xfrm>
          <a:prstGeom prst="rect">
            <a:avLst/>
          </a:prstGeom>
          <a:noFill/>
        </p:spPr>
        <p:txBody>
          <a:bodyPr wrap="square" lIns="0" tIns="18288" rIns="0" bIns="18288" anchor="ctr"/>
          <a:lstStyle/>
          <a:p>
            <a:pPr algn="l">
              <a:spcAft>
                <a:spcPts val="400"/>
              </a:spcAft>
            </a:pPr>
            <a:r>
              <a:rPr sz="2400" b="1" i="0">
                <a:solidFill>
                  <a:srgbClr val="C03030"/>
                </a:solidFill>
                <a:latin typeface="Times New Roman"/>
              </a:rPr>
              <a:t>✗   Myth</a:t>
            </a:r>
          </a:p>
        </p:txBody>
      </p:sp>
      <p:sp>
        <p:nvSpPr>
          <p:cNvPr id="3" name="TextBox 3"/>
          <p:cNvSpPr txBox="1"/>
          <p:nvPr/>
        </p:nvSpPr>
        <p:spPr>
          <a:xfrm>
            <a:off x="6419088" y="1691640"/>
            <a:ext cx="4937760" cy="411480"/>
          </a:xfrm>
          <a:prstGeom prst="rect">
            <a:avLst/>
          </a:prstGeom>
          <a:noFill/>
        </p:spPr>
        <p:txBody>
          <a:bodyPr wrap="square" lIns="0" tIns="18288" rIns="0" bIns="18288" anchor="ctr"/>
          <a:lstStyle/>
          <a:p>
            <a:pPr algn="l">
              <a:spcAft>
                <a:spcPts val="400"/>
              </a:spcAft>
            </a:pPr>
            <a:r>
              <a:rPr sz="2400" b="1" i="0">
                <a:solidFill>
                  <a:srgbClr val="196B24"/>
                </a:solidFill>
                <a:latin typeface="Times New Roman"/>
              </a:rPr>
              <a:t>✓   Fact</a:t>
            </a:r>
          </a:p>
        </p:txBody>
      </p:sp>
      <p:sp>
        <p:nvSpPr>
          <p:cNvPr id="4" name="Panel"/>
          <p:cNvSpPr/>
          <p:nvPr/>
        </p:nvSpPr>
        <p:spPr>
          <a:xfrm>
            <a:off x="841248" y="2286000"/>
            <a:ext cx="4937760" cy="960120"/>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1069848" y="2286000"/>
            <a:ext cx="4480560" cy="960120"/>
          </a:xfrm>
          <a:prstGeom prst="rect">
            <a:avLst/>
          </a:prstGeom>
          <a:noFill/>
        </p:spPr>
        <p:txBody>
          <a:bodyPr wrap="square" lIns="0" tIns="18288" rIns="0" bIns="18288" anchor="ctr"/>
          <a:lstStyle/>
          <a:p>
            <a:pPr algn="l">
              <a:spcAft>
                <a:spcPts val="400"/>
              </a:spcAft>
            </a:pPr>
            <a:r>
              <a:rPr sz="2200" b="0" i="0">
                <a:solidFill>
                  <a:srgbClr val="2B2B2B"/>
                </a:solidFill>
                <a:latin typeface="Times New Roman"/>
              </a:rPr>
              <a:t>A DBMS is just a large Excel file</a:t>
            </a:r>
          </a:p>
        </p:txBody>
      </p:sp>
      <p:sp>
        <p:nvSpPr>
          <p:cNvPr id="6" name="Arrow"/>
          <p:cNvSpPr/>
          <p:nvPr/>
        </p:nvSpPr>
        <p:spPr>
          <a:xfrm>
            <a:off x="5925312" y="2624328"/>
            <a:ext cx="347472" cy="274320"/>
          </a:xfrm>
          <a:prstGeom prst="right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Panel"/>
          <p:cNvSpPr/>
          <p:nvPr/>
        </p:nvSpPr>
        <p:spPr>
          <a:xfrm>
            <a:off x="6419088" y="2286000"/>
            <a:ext cx="4937760" cy="960120"/>
          </a:xfrm>
          <a:prstGeom prst="roundRect">
            <a:avLst>
              <a:gd name="adj" fmla="val 7000"/>
            </a:avLst>
          </a:prstGeom>
          <a:solidFill>
            <a:srgbClr val="EF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6647688" y="2286000"/>
            <a:ext cx="4480560" cy="960120"/>
          </a:xfrm>
          <a:prstGeom prst="rect">
            <a:avLst/>
          </a:prstGeom>
          <a:noFill/>
        </p:spPr>
        <p:txBody>
          <a:bodyPr wrap="square" lIns="0" tIns="18288" rIns="0" bIns="18288" anchor="ctr"/>
          <a:lstStyle/>
          <a:p>
            <a:pPr algn="l">
              <a:spcAft>
                <a:spcPts val="400"/>
              </a:spcAft>
            </a:pPr>
            <a:r>
              <a:rPr sz="2200" b="0" i="0">
                <a:solidFill>
                  <a:srgbClr val="196B24"/>
                </a:solidFill>
                <a:latin typeface="Times New Roman"/>
              </a:rPr>
              <a:t>It enforces roles, rules and transactions</a:t>
            </a:r>
          </a:p>
        </p:txBody>
      </p:sp>
      <p:sp>
        <p:nvSpPr>
          <p:cNvPr id="9" name="Panel"/>
          <p:cNvSpPr/>
          <p:nvPr/>
        </p:nvSpPr>
        <p:spPr>
          <a:xfrm>
            <a:off x="841248" y="3401568"/>
            <a:ext cx="4937760" cy="960120"/>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069848" y="3401568"/>
            <a:ext cx="4480560" cy="960120"/>
          </a:xfrm>
          <a:prstGeom prst="rect">
            <a:avLst/>
          </a:prstGeom>
          <a:noFill/>
        </p:spPr>
        <p:txBody>
          <a:bodyPr wrap="square" lIns="0" tIns="18288" rIns="0" bIns="18288" anchor="ctr"/>
          <a:lstStyle/>
          <a:p>
            <a:pPr algn="l">
              <a:spcAft>
                <a:spcPts val="400"/>
              </a:spcAft>
            </a:pPr>
            <a:r>
              <a:rPr sz="2200" b="0" i="0">
                <a:solidFill>
                  <a:srgbClr val="2B2B2B"/>
                </a:solidFill>
                <a:latin typeface="Times New Roman"/>
              </a:rPr>
              <a:t>Every app should keep its own copy</a:t>
            </a:r>
          </a:p>
        </p:txBody>
      </p:sp>
      <p:sp>
        <p:nvSpPr>
          <p:cNvPr id="11" name="Arrow"/>
          <p:cNvSpPr/>
          <p:nvPr/>
        </p:nvSpPr>
        <p:spPr>
          <a:xfrm>
            <a:off x="5925312" y="3739896"/>
            <a:ext cx="347472" cy="274320"/>
          </a:xfrm>
          <a:prstGeom prst="right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Panel"/>
          <p:cNvSpPr/>
          <p:nvPr/>
        </p:nvSpPr>
        <p:spPr>
          <a:xfrm>
            <a:off x="6419088" y="3401568"/>
            <a:ext cx="4937760" cy="960120"/>
          </a:xfrm>
          <a:prstGeom prst="roundRect">
            <a:avLst>
              <a:gd name="adj" fmla="val 7000"/>
            </a:avLst>
          </a:prstGeom>
          <a:solidFill>
            <a:srgbClr val="EF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6647688" y="3401568"/>
            <a:ext cx="4480560" cy="960120"/>
          </a:xfrm>
          <a:prstGeom prst="rect">
            <a:avLst/>
          </a:prstGeom>
          <a:noFill/>
        </p:spPr>
        <p:txBody>
          <a:bodyPr wrap="square" lIns="0" tIns="18288" rIns="0" bIns="18288" anchor="ctr"/>
          <a:lstStyle/>
          <a:p>
            <a:pPr algn="l">
              <a:spcAft>
                <a:spcPts val="400"/>
              </a:spcAft>
            </a:pPr>
            <a:r>
              <a:rPr sz="2200" b="0" i="0">
                <a:solidFill>
                  <a:srgbClr val="196B24"/>
                </a:solidFill>
                <a:latin typeface="Times New Roman"/>
              </a:rPr>
              <a:t>Duplicate copies drift out of sync</a:t>
            </a:r>
          </a:p>
        </p:txBody>
      </p:sp>
      <p:sp>
        <p:nvSpPr>
          <p:cNvPr id="14" name="Panel"/>
          <p:cNvSpPr/>
          <p:nvPr/>
        </p:nvSpPr>
        <p:spPr>
          <a:xfrm>
            <a:off x="841248" y="4517136"/>
            <a:ext cx="4937760" cy="960120"/>
          </a:xfrm>
          <a:prstGeom prst="roundRect">
            <a:avLst>
              <a:gd name="adj" fmla="val 7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5"/>
          <p:cNvSpPr txBox="1"/>
          <p:nvPr/>
        </p:nvSpPr>
        <p:spPr>
          <a:xfrm>
            <a:off x="1069848" y="4517136"/>
            <a:ext cx="4480560" cy="960120"/>
          </a:xfrm>
          <a:prstGeom prst="rect">
            <a:avLst/>
          </a:prstGeom>
          <a:noFill/>
        </p:spPr>
        <p:txBody>
          <a:bodyPr wrap="square" lIns="0" tIns="18288" rIns="0" bIns="18288" anchor="ctr"/>
          <a:lstStyle/>
          <a:p>
            <a:pPr algn="l">
              <a:spcAft>
                <a:spcPts val="400"/>
              </a:spcAft>
            </a:pPr>
            <a:r>
              <a:rPr sz="2200" b="0" i="0">
                <a:solidFill>
                  <a:srgbClr val="2B2B2B"/>
                </a:solidFill>
                <a:latin typeface="Times New Roman"/>
              </a:rPr>
              <a:t>Cloud databases never fail</a:t>
            </a:r>
          </a:p>
        </p:txBody>
      </p:sp>
      <p:sp>
        <p:nvSpPr>
          <p:cNvPr id="16" name="Arrow"/>
          <p:cNvSpPr/>
          <p:nvPr/>
        </p:nvSpPr>
        <p:spPr>
          <a:xfrm>
            <a:off x="5925312" y="4855464"/>
            <a:ext cx="347472" cy="274320"/>
          </a:xfrm>
          <a:prstGeom prst="right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Panel"/>
          <p:cNvSpPr/>
          <p:nvPr/>
        </p:nvSpPr>
        <p:spPr>
          <a:xfrm>
            <a:off x="6419088" y="4517136"/>
            <a:ext cx="4937760" cy="960120"/>
          </a:xfrm>
          <a:prstGeom prst="roundRect">
            <a:avLst>
              <a:gd name="adj" fmla="val 7000"/>
            </a:avLst>
          </a:prstGeom>
          <a:solidFill>
            <a:srgbClr val="EF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6647688" y="4517136"/>
            <a:ext cx="4480560" cy="960120"/>
          </a:xfrm>
          <a:prstGeom prst="rect">
            <a:avLst/>
          </a:prstGeom>
          <a:noFill/>
        </p:spPr>
        <p:txBody>
          <a:bodyPr wrap="square" lIns="0" tIns="18288" rIns="0" bIns="18288" anchor="ctr"/>
          <a:lstStyle/>
          <a:p>
            <a:pPr algn="l">
              <a:spcAft>
                <a:spcPts val="400"/>
              </a:spcAft>
            </a:pPr>
            <a:r>
              <a:rPr sz="2200" b="0" i="0">
                <a:solidFill>
                  <a:srgbClr val="196B24"/>
                </a:solidFill>
                <a:latin typeface="Times New Roman"/>
              </a:rPr>
              <a:t>They expect failure and replicate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a:spLocks noGrp="1"/>
          </p:cNvSpPr>
          <p:nvPr>
            <p:ph type="title"/>
          </p:nvPr>
        </p:nvSpPr>
        <p:spPr/>
        <p:txBody>
          <a:bodyPr>
            <a:normAutofit/>
          </a:bodyPr>
          <a:lstStyle/>
          <a:p>
            <a:r>
              <a:rPr sz="3600" b="1">
                <a:solidFill>
                  <a:srgbClr val="0E2841"/>
                </a:solidFill>
                <a:latin typeface="Times New Roman"/>
              </a:rPr>
              <a:t>Anatomy of a DBMS Request</a:t>
            </a:r>
          </a:p>
        </p:txBody>
      </p:sp>
      <p:sp>
        <p:nvSpPr>
          <p:cNvPr id="2" name="Panel"/>
          <p:cNvSpPr/>
          <p:nvPr/>
        </p:nvSpPr>
        <p:spPr>
          <a:xfrm>
            <a:off x="841248" y="1737360"/>
            <a:ext cx="4389120" cy="4297680"/>
          </a:xfrm>
          <a:prstGeom prst="roundRect">
            <a:avLst>
              <a:gd name="adj" fmla="val 7000"/>
            </a:avLst>
          </a:prstGeom>
          <a:solidFill>
            <a:srgbClr val="E8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hip"/>
          <p:cNvSpPr/>
          <p:nvPr/>
        </p:nvSpPr>
        <p:spPr>
          <a:xfrm>
            <a:off x="1435608" y="1965960"/>
            <a:ext cx="3200400" cy="54864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435608" y="1965960"/>
            <a:ext cx="3200400" cy="54864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User</a:t>
            </a:r>
          </a:p>
        </p:txBody>
      </p:sp>
      <p:sp>
        <p:nvSpPr>
          <p:cNvPr id="5" name="Arrow"/>
          <p:cNvSpPr/>
          <p:nvPr/>
        </p:nvSpPr>
        <p:spPr>
          <a:xfrm>
            <a:off x="2898648" y="2606040"/>
            <a:ext cx="274320" cy="274320"/>
          </a:xfrm>
          <a:prstGeom prst="down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hip"/>
          <p:cNvSpPr/>
          <p:nvPr/>
        </p:nvSpPr>
        <p:spPr>
          <a:xfrm>
            <a:off x="1435608" y="2971800"/>
            <a:ext cx="3200400" cy="548640"/>
          </a:xfrm>
          <a:prstGeom prst="roundRect">
            <a:avLst>
              <a:gd name="adj" fmla="val 25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1435608" y="2971800"/>
            <a:ext cx="3200400" cy="54864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Application</a:t>
            </a:r>
          </a:p>
        </p:txBody>
      </p:sp>
      <p:sp>
        <p:nvSpPr>
          <p:cNvPr id="8" name="Arrow"/>
          <p:cNvSpPr/>
          <p:nvPr/>
        </p:nvSpPr>
        <p:spPr>
          <a:xfrm>
            <a:off x="2898648" y="3611880"/>
            <a:ext cx="274320" cy="274320"/>
          </a:xfrm>
          <a:prstGeom prst="down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Chip"/>
          <p:cNvSpPr/>
          <p:nvPr/>
        </p:nvSpPr>
        <p:spPr>
          <a:xfrm>
            <a:off x="1435608" y="3977640"/>
            <a:ext cx="3200400" cy="548640"/>
          </a:xfrm>
          <a:prstGeom prst="roundRect">
            <a:avLst>
              <a:gd name="adj" fmla="val 2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435608" y="3977640"/>
            <a:ext cx="3200400" cy="54864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DBMS</a:t>
            </a:r>
          </a:p>
        </p:txBody>
      </p:sp>
      <p:sp>
        <p:nvSpPr>
          <p:cNvPr id="11" name="Arrow"/>
          <p:cNvSpPr/>
          <p:nvPr/>
        </p:nvSpPr>
        <p:spPr>
          <a:xfrm>
            <a:off x="2898648" y="4617720"/>
            <a:ext cx="274320" cy="274320"/>
          </a:xfrm>
          <a:prstGeom prst="down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Chip"/>
          <p:cNvSpPr/>
          <p:nvPr/>
        </p:nvSpPr>
        <p:spPr>
          <a:xfrm>
            <a:off x="1435608" y="4983480"/>
            <a:ext cx="3200400" cy="548640"/>
          </a:xfrm>
          <a:prstGeom prst="roundRect">
            <a:avLst>
              <a:gd name="adj" fmla="val 2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1435608" y="4983480"/>
            <a:ext cx="3200400" cy="54864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Database</a:t>
            </a:r>
          </a:p>
        </p:txBody>
      </p:sp>
      <p:sp>
        <p:nvSpPr>
          <p:cNvPr id="14" name="Row"/>
          <p:cNvSpPr/>
          <p:nvPr/>
        </p:nvSpPr>
        <p:spPr>
          <a:xfrm>
            <a:off x="5596128" y="1737360"/>
            <a:ext cx="57607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w Bar"/>
          <p:cNvSpPr/>
          <p:nvPr/>
        </p:nvSpPr>
        <p:spPr>
          <a:xfrm>
            <a:off x="5596128" y="1737360"/>
            <a:ext cx="109728"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5916168" y="1737360"/>
            <a:ext cx="5303520" cy="914400"/>
          </a:xfrm>
          <a:prstGeom prst="rect">
            <a:avLst/>
          </a:prstGeom>
          <a:noFill/>
        </p:spPr>
        <p:txBody>
          <a:bodyPr wrap="square" lIns="0" tIns="18288" rIns="0" bIns="18288" anchor="ctr"/>
          <a:lstStyle/>
          <a:p>
            <a:pPr algn="l">
              <a:spcAft>
                <a:spcPts val="400"/>
              </a:spcAft>
            </a:pPr>
            <a:r>
              <a:rPr sz="2000" b="1" i="0">
                <a:solidFill>
                  <a:srgbClr val="0E2841"/>
                </a:solidFill>
                <a:latin typeface="Times New Roman"/>
              </a:rPr>
              <a:t>User</a:t>
            </a:r>
          </a:p>
          <a:p>
            <a:pPr algn="l">
              <a:spcAft>
                <a:spcPts val="400"/>
              </a:spcAft>
            </a:pPr>
            <a:r>
              <a:rPr sz="1600" b="0" i="0">
                <a:solidFill>
                  <a:srgbClr val="5A6472"/>
                </a:solidFill>
                <a:latin typeface="Times New Roman"/>
              </a:rPr>
              <a:t>Taps a button in the app</a:t>
            </a:r>
          </a:p>
        </p:txBody>
      </p:sp>
      <p:sp>
        <p:nvSpPr>
          <p:cNvPr id="17" name="Row"/>
          <p:cNvSpPr/>
          <p:nvPr/>
        </p:nvSpPr>
        <p:spPr>
          <a:xfrm>
            <a:off x="5596128" y="2834640"/>
            <a:ext cx="57607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w Bar"/>
          <p:cNvSpPr/>
          <p:nvPr/>
        </p:nvSpPr>
        <p:spPr>
          <a:xfrm>
            <a:off x="5596128" y="2834640"/>
            <a:ext cx="109728" cy="914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9"/>
          <p:cNvSpPr txBox="1"/>
          <p:nvPr/>
        </p:nvSpPr>
        <p:spPr>
          <a:xfrm>
            <a:off x="5916168" y="2834640"/>
            <a:ext cx="5303520" cy="914400"/>
          </a:xfrm>
          <a:prstGeom prst="rect">
            <a:avLst/>
          </a:prstGeom>
          <a:noFill/>
        </p:spPr>
        <p:txBody>
          <a:bodyPr wrap="square" lIns="0" tIns="18288" rIns="0" bIns="18288" anchor="ctr"/>
          <a:lstStyle/>
          <a:p>
            <a:pPr algn="l">
              <a:spcAft>
                <a:spcPts val="400"/>
              </a:spcAft>
            </a:pPr>
            <a:r>
              <a:rPr sz="2000" b="1" i="0">
                <a:solidFill>
                  <a:srgbClr val="0E2841"/>
                </a:solidFill>
                <a:latin typeface="Times New Roman"/>
              </a:rPr>
              <a:t>Application</a:t>
            </a:r>
          </a:p>
          <a:p>
            <a:pPr algn="l">
              <a:spcAft>
                <a:spcPts val="400"/>
              </a:spcAft>
            </a:pPr>
            <a:r>
              <a:rPr sz="1600" b="0" i="0">
                <a:solidFill>
                  <a:srgbClr val="5A6472"/>
                </a:solidFill>
                <a:latin typeface="Times New Roman"/>
              </a:rPr>
              <a:t>Sends a query — it never opens a file</a:t>
            </a:r>
          </a:p>
        </p:txBody>
      </p:sp>
      <p:sp>
        <p:nvSpPr>
          <p:cNvPr id="20" name="Row"/>
          <p:cNvSpPr/>
          <p:nvPr/>
        </p:nvSpPr>
        <p:spPr>
          <a:xfrm>
            <a:off x="5596128" y="3931920"/>
            <a:ext cx="57607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w Bar"/>
          <p:cNvSpPr/>
          <p:nvPr/>
        </p:nvSpPr>
        <p:spPr>
          <a:xfrm>
            <a:off x="5596128" y="3931920"/>
            <a:ext cx="109728" cy="9144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2"/>
          <p:cNvSpPr txBox="1"/>
          <p:nvPr/>
        </p:nvSpPr>
        <p:spPr>
          <a:xfrm>
            <a:off x="5916168" y="3931920"/>
            <a:ext cx="5303520" cy="914400"/>
          </a:xfrm>
          <a:prstGeom prst="rect">
            <a:avLst/>
          </a:prstGeom>
          <a:noFill/>
        </p:spPr>
        <p:txBody>
          <a:bodyPr wrap="square" lIns="0" tIns="18288" rIns="0" bIns="18288" anchor="ctr"/>
          <a:lstStyle/>
          <a:p>
            <a:pPr algn="l">
              <a:spcAft>
                <a:spcPts val="400"/>
              </a:spcAft>
            </a:pPr>
            <a:r>
              <a:rPr sz="2000" b="1" i="0">
                <a:solidFill>
                  <a:srgbClr val="0E2841"/>
                </a:solidFill>
                <a:latin typeface="Times New Roman"/>
              </a:rPr>
              <a:t>DBMS</a:t>
            </a:r>
          </a:p>
          <a:p>
            <a:pPr algn="l">
              <a:spcAft>
                <a:spcPts val="400"/>
              </a:spcAft>
            </a:pPr>
            <a:r>
              <a:rPr sz="1600" b="0" i="0">
                <a:solidFill>
                  <a:srgbClr val="5A6472"/>
                </a:solidFill>
                <a:latin typeface="Times New Roman"/>
              </a:rPr>
              <a:t>Checks rights, then runs the transaction</a:t>
            </a:r>
          </a:p>
        </p:txBody>
      </p:sp>
      <p:sp>
        <p:nvSpPr>
          <p:cNvPr id="23" name="Row"/>
          <p:cNvSpPr/>
          <p:nvPr/>
        </p:nvSpPr>
        <p:spPr>
          <a:xfrm>
            <a:off x="5596128" y="5029200"/>
            <a:ext cx="57607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w Bar"/>
          <p:cNvSpPr/>
          <p:nvPr/>
        </p:nvSpPr>
        <p:spPr>
          <a:xfrm>
            <a:off x="5596128" y="5029200"/>
            <a:ext cx="109728" cy="9144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5"/>
          <p:cNvSpPr txBox="1"/>
          <p:nvPr/>
        </p:nvSpPr>
        <p:spPr>
          <a:xfrm>
            <a:off x="5916168" y="5029200"/>
            <a:ext cx="5303520" cy="914400"/>
          </a:xfrm>
          <a:prstGeom prst="rect">
            <a:avLst/>
          </a:prstGeom>
          <a:noFill/>
        </p:spPr>
        <p:txBody>
          <a:bodyPr wrap="square" lIns="0" tIns="18288" rIns="0" bIns="18288" anchor="ctr"/>
          <a:lstStyle/>
          <a:p>
            <a:pPr algn="l">
              <a:spcAft>
                <a:spcPts val="400"/>
              </a:spcAft>
            </a:pPr>
            <a:r>
              <a:rPr sz="2000" b="1" i="0">
                <a:solidFill>
                  <a:srgbClr val="0E2841"/>
                </a:solidFill>
                <a:latin typeface="Times New Roman"/>
              </a:rPr>
              <a:t>Database</a:t>
            </a:r>
          </a:p>
          <a:p>
            <a:pPr algn="l">
              <a:spcAft>
                <a:spcPts val="400"/>
              </a:spcAft>
            </a:pPr>
            <a:r>
              <a:rPr sz="1600" b="0" i="0">
                <a:solidFill>
                  <a:srgbClr val="5A6472"/>
                </a:solidFill>
                <a:latin typeface="Times New Roman"/>
              </a:rPr>
              <a:t>Stores each fact once, on disk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p:cNvSpPr>
            <a:spLocks noGrp="1"/>
          </p:cNvSpPr>
          <p:nvPr>
            <p:ph type="title"/>
          </p:nvPr>
        </p:nvSpPr>
        <p:spPr/>
        <p:txBody>
          <a:bodyPr>
            <a:normAutofit/>
          </a:bodyPr>
          <a:lstStyle/>
          <a:p>
            <a:r>
              <a:rPr sz="3600" b="1">
                <a:solidFill>
                  <a:srgbClr val="0E2841"/>
                </a:solidFill>
                <a:latin typeface="Times New Roman"/>
              </a:rPr>
              <a:t>Why These Characteristics Matter</a:t>
            </a:r>
          </a:p>
        </p:txBody>
      </p:sp>
      <p:sp>
        <p:nvSpPr>
          <p:cNvPr id="2" name="Card"/>
          <p:cNvSpPr/>
          <p:nvPr/>
        </p:nvSpPr>
        <p:spPr>
          <a:xfrm>
            <a:off x="841248" y="1783080"/>
            <a:ext cx="507492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p:cNvSpPr/>
          <p:nvPr/>
        </p:nvSpPr>
        <p:spPr>
          <a:xfrm>
            <a:off x="841248" y="1783080"/>
            <a:ext cx="507492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115568" y="1993392"/>
            <a:ext cx="4526280" cy="1664208"/>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Massive Data</a:t>
            </a:r>
          </a:p>
          <a:p>
            <a:pPr algn="ctr">
              <a:spcAft>
                <a:spcPts val="400"/>
              </a:spcAft>
            </a:pPr>
            <a:r>
              <a:rPr sz="1700" b="0" i="0">
                <a:solidFill>
                  <a:srgbClr val="5A6472"/>
                </a:solidFill>
                <a:latin typeface="Times New Roman"/>
              </a:rPr>
              <a:t>Petabytes added every day by apps like YouTube and Instagram</a:t>
            </a:r>
          </a:p>
        </p:txBody>
      </p:sp>
      <p:sp>
        <p:nvSpPr>
          <p:cNvPr id="5" name="Card"/>
          <p:cNvSpPr/>
          <p:nvPr/>
        </p:nvSpPr>
        <p:spPr>
          <a:xfrm>
            <a:off x="6281928" y="1783080"/>
            <a:ext cx="507492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ard Bar"/>
          <p:cNvSpPr/>
          <p:nvPr/>
        </p:nvSpPr>
        <p:spPr>
          <a:xfrm>
            <a:off x="6281928" y="1783080"/>
            <a:ext cx="507492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6556248" y="1993392"/>
            <a:ext cx="4526280" cy="1664208"/>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Millions of Users</a:t>
            </a:r>
          </a:p>
          <a:p>
            <a:pPr algn="ctr">
              <a:spcAft>
                <a:spcPts val="400"/>
              </a:spcAft>
            </a:pPr>
            <a:r>
              <a:rPr sz="1700" b="0" i="0">
                <a:solidFill>
                  <a:srgbClr val="5A6472"/>
                </a:solidFill>
                <a:latin typeface="Times New Roman"/>
              </a:rPr>
              <a:t>Concurrent access from every time zone, every second</a:t>
            </a:r>
          </a:p>
        </p:txBody>
      </p:sp>
      <p:sp>
        <p:nvSpPr>
          <p:cNvPr id="8" name="Card"/>
          <p:cNvSpPr/>
          <p:nvPr/>
        </p:nvSpPr>
        <p:spPr>
          <a:xfrm>
            <a:off x="841248" y="4023360"/>
            <a:ext cx="507492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Card Bar"/>
          <p:cNvSpPr/>
          <p:nvPr/>
        </p:nvSpPr>
        <p:spPr>
          <a:xfrm>
            <a:off x="841248" y="4023360"/>
            <a:ext cx="507492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115568" y="4233672"/>
            <a:ext cx="4526280" cy="1664208"/>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Security &amp; Compliance</a:t>
            </a:r>
          </a:p>
          <a:p>
            <a:pPr algn="ctr">
              <a:spcAft>
                <a:spcPts val="400"/>
              </a:spcAft>
            </a:pPr>
            <a:r>
              <a:rPr sz="1700" b="0" i="0">
                <a:solidFill>
                  <a:srgbClr val="5A6472"/>
                </a:solidFill>
                <a:latin typeface="Times New Roman"/>
              </a:rPr>
              <a:t>GDPR, RBI and the DPDP Act all demand strict control</a:t>
            </a:r>
          </a:p>
        </p:txBody>
      </p:sp>
      <p:sp>
        <p:nvSpPr>
          <p:cNvPr id="11" name="Card"/>
          <p:cNvSpPr/>
          <p:nvPr/>
        </p:nvSpPr>
        <p:spPr>
          <a:xfrm>
            <a:off x="6281928" y="4023360"/>
            <a:ext cx="507492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Card Bar"/>
          <p:cNvSpPr/>
          <p:nvPr/>
        </p:nvSpPr>
        <p:spPr>
          <a:xfrm>
            <a:off x="6281928" y="4023360"/>
            <a:ext cx="5074920" cy="1188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6556248" y="4233672"/>
            <a:ext cx="4526280" cy="1664208"/>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Real-Time Speed</a:t>
            </a:r>
          </a:p>
          <a:p>
            <a:pPr algn="ctr">
              <a:spcAft>
                <a:spcPts val="400"/>
              </a:spcAft>
            </a:pPr>
            <a:r>
              <a:rPr sz="1700" b="0" i="0">
                <a:solidFill>
                  <a:srgbClr val="5A6472"/>
                </a:solidFill>
                <a:latin typeface="Times New Roman"/>
              </a:rPr>
              <a:t>Users abandon an app that makes them wait a second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p:cNvSpPr>
            <a:spLocks noGrp="1"/>
          </p:cNvSpPr>
          <p:nvPr>
            <p:ph type="title"/>
          </p:nvPr>
        </p:nvSpPr>
        <p:spPr/>
        <p:txBody>
          <a:bodyPr>
            <a:normAutofit/>
          </a:bodyPr>
          <a:lstStyle/>
          <a:p>
            <a:r>
              <a:rPr sz="3600" b="1">
                <a:solidFill>
                  <a:srgbClr val="0E2841"/>
                </a:solidFill>
                <a:latin typeface="Times New Roman"/>
              </a:rPr>
              <a:t>Six Characteristics at a Glance</a:t>
            </a:r>
          </a:p>
        </p:txBody>
      </p:sp>
      <p:sp>
        <p:nvSpPr>
          <p:cNvPr id="2" name="Card"/>
          <p:cNvSpPr/>
          <p:nvPr/>
        </p:nvSpPr>
        <p:spPr>
          <a:xfrm>
            <a:off x="841248" y="1737360"/>
            <a:ext cx="326136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p:cNvSpPr/>
          <p:nvPr/>
        </p:nvSpPr>
        <p:spPr>
          <a:xfrm>
            <a:off x="841248" y="1737360"/>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ircle"/>
          <p:cNvSpPr/>
          <p:nvPr/>
        </p:nvSpPr>
        <p:spPr>
          <a:xfrm>
            <a:off x="2174748" y="1993392"/>
            <a:ext cx="594360" cy="59436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2174748" y="1993392"/>
            <a:ext cx="594360" cy="59436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1</a:t>
            </a:r>
          </a:p>
        </p:txBody>
      </p:sp>
      <p:sp>
        <p:nvSpPr>
          <p:cNvPr id="6" name="TextBox 6"/>
          <p:cNvSpPr txBox="1"/>
          <p:nvPr/>
        </p:nvSpPr>
        <p:spPr>
          <a:xfrm>
            <a:off x="978408" y="2743200"/>
            <a:ext cx="2987040" cy="457200"/>
          </a:xfrm>
          <a:prstGeom prst="rect">
            <a:avLst/>
          </a:prstGeom>
          <a:noFill/>
        </p:spPr>
        <p:txBody>
          <a:bodyPr wrap="square" lIns="0" tIns="18288" rIns="0" bIns="18288" anchor="ctr"/>
          <a:lstStyle/>
          <a:p>
            <a:pPr algn="ctr">
              <a:spcAft>
                <a:spcPts val="400"/>
              </a:spcAft>
            </a:pPr>
            <a:r>
              <a:rPr sz="1900" b="1" i="0">
                <a:solidFill>
                  <a:srgbClr val="0E2841"/>
                </a:solidFill>
                <a:latin typeface="Times New Roman"/>
              </a:rPr>
              <a:t>Reduced Redundancy</a:t>
            </a:r>
          </a:p>
        </p:txBody>
      </p:sp>
      <p:sp>
        <p:nvSpPr>
          <p:cNvPr id="7" name="TextBox 7"/>
          <p:cNvSpPr txBox="1"/>
          <p:nvPr/>
        </p:nvSpPr>
        <p:spPr>
          <a:xfrm>
            <a:off x="978408" y="3154680"/>
            <a:ext cx="2987040" cy="45720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Each fact stored once</a:t>
            </a:r>
          </a:p>
        </p:txBody>
      </p:sp>
      <p:sp>
        <p:nvSpPr>
          <p:cNvPr id="8" name="Card"/>
          <p:cNvSpPr/>
          <p:nvPr/>
        </p:nvSpPr>
        <p:spPr>
          <a:xfrm>
            <a:off x="4468368" y="1737360"/>
            <a:ext cx="326136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Card Bar"/>
          <p:cNvSpPr/>
          <p:nvPr/>
        </p:nvSpPr>
        <p:spPr>
          <a:xfrm>
            <a:off x="4468368" y="1737360"/>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Circle"/>
          <p:cNvSpPr/>
          <p:nvPr/>
        </p:nvSpPr>
        <p:spPr>
          <a:xfrm>
            <a:off x="5801868" y="1993392"/>
            <a:ext cx="594360" cy="59436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5801868" y="1993392"/>
            <a:ext cx="594360" cy="59436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2</a:t>
            </a:r>
          </a:p>
        </p:txBody>
      </p:sp>
      <p:sp>
        <p:nvSpPr>
          <p:cNvPr id="12" name="TextBox 12"/>
          <p:cNvSpPr txBox="1"/>
          <p:nvPr/>
        </p:nvSpPr>
        <p:spPr>
          <a:xfrm>
            <a:off x="4605528" y="2743200"/>
            <a:ext cx="2987040" cy="457200"/>
          </a:xfrm>
          <a:prstGeom prst="rect">
            <a:avLst/>
          </a:prstGeom>
          <a:noFill/>
        </p:spPr>
        <p:txBody>
          <a:bodyPr wrap="square" lIns="0" tIns="18288" rIns="0" bIns="18288" anchor="ctr"/>
          <a:lstStyle/>
          <a:p>
            <a:pPr algn="ctr">
              <a:spcAft>
                <a:spcPts val="400"/>
              </a:spcAft>
            </a:pPr>
            <a:r>
              <a:rPr sz="1900" b="1" i="0">
                <a:solidFill>
                  <a:srgbClr val="0E2841"/>
                </a:solidFill>
                <a:latin typeface="Times New Roman"/>
              </a:rPr>
              <a:t>Concurrent Access</a:t>
            </a:r>
          </a:p>
        </p:txBody>
      </p:sp>
      <p:sp>
        <p:nvSpPr>
          <p:cNvPr id="13" name="TextBox 13"/>
          <p:cNvSpPr txBox="1"/>
          <p:nvPr/>
        </p:nvSpPr>
        <p:spPr>
          <a:xfrm>
            <a:off x="4605528" y="3154680"/>
            <a:ext cx="2987040" cy="45720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Many users, no clashes</a:t>
            </a:r>
          </a:p>
        </p:txBody>
      </p:sp>
      <p:sp>
        <p:nvSpPr>
          <p:cNvPr id="14" name="Card"/>
          <p:cNvSpPr/>
          <p:nvPr/>
        </p:nvSpPr>
        <p:spPr>
          <a:xfrm>
            <a:off x="8095488" y="1737360"/>
            <a:ext cx="326136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Card Bar"/>
          <p:cNvSpPr/>
          <p:nvPr/>
        </p:nvSpPr>
        <p:spPr>
          <a:xfrm>
            <a:off x="8095488" y="1737360"/>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ircle"/>
          <p:cNvSpPr/>
          <p:nvPr/>
        </p:nvSpPr>
        <p:spPr>
          <a:xfrm>
            <a:off x="9428988" y="1993392"/>
            <a:ext cx="594360" cy="594360"/>
          </a:xfrm>
          <a:prstGeom prst="ellipse">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7"/>
          <p:cNvSpPr txBox="1"/>
          <p:nvPr/>
        </p:nvSpPr>
        <p:spPr>
          <a:xfrm>
            <a:off x="9428988" y="1993392"/>
            <a:ext cx="594360" cy="59436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3</a:t>
            </a:r>
          </a:p>
        </p:txBody>
      </p:sp>
      <p:sp>
        <p:nvSpPr>
          <p:cNvPr id="18" name="TextBox 18"/>
          <p:cNvSpPr txBox="1"/>
          <p:nvPr/>
        </p:nvSpPr>
        <p:spPr>
          <a:xfrm>
            <a:off x="8232648" y="2743200"/>
            <a:ext cx="2987040" cy="457200"/>
          </a:xfrm>
          <a:prstGeom prst="rect">
            <a:avLst/>
          </a:prstGeom>
          <a:noFill/>
        </p:spPr>
        <p:txBody>
          <a:bodyPr wrap="square" lIns="0" tIns="18288" rIns="0" bIns="18288" anchor="ctr"/>
          <a:lstStyle/>
          <a:p>
            <a:pPr algn="ctr">
              <a:spcAft>
                <a:spcPts val="400"/>
              </a:spcAft>
            </a:pPr>
            <a:r>
              <a:rPr sz="1900" b="1" i="0">
                <a:solidFill>
                  <a:srgbClr val="0E2841"/>
                </a:solidFill>
                <a:latin typeface="Times New Roman"/>
              </a:rPr>
              <a:t>Security &amp; Roles</a:t>
            </a:r>
          </a:p>
        </p:txBody>
      </p:sp>
      <p:sp>
        <p:nvSpPr>
          <p:cNvPr id="19" name="TextBox 19"/>
          <p:cNvSpPr txBox="1"/>
          <p:nvPr/>
        </p:nvSpPr>
        <p:spPr>
          <a:xfrm>
            <a:off x="8232648" y="3154680"/>
            <a:ext cx="2987040" cy="45720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Who may see what</a:t>
            </a:r>
          </a:p>
        </p:txBody>
      </p:sp>
      <p:sp>
        <p:nvSpPr>
          <p:cNvPr id="20" name="Card"/>
          <p:cNvSpPr/>
          <p:nvPr/>
        </p:nvSpPr>
        <p:spPr>
          <a:xfrm>
            <a:off x="841248" y="4069080"/>
            <a:ext cx="326136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Card Bar"/>
          <p:cNvSpPr/>
          <p:nvPr/>
        </p:nvSpPr>
        <p:spPr>
          <a:xfrm>
            <a:off x="841248" y="4069080"/>
            <a:ext cx="3261360" cy="11887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Circle"/>
          <p:cNvSpPr/>
          <p:nvPr/>
        </p:nvSpPr>
        <p:spPr>
          <a:xfrm>
            <a:off x="2174748" y="4325112"/>
            <a:ext cx="594360" cy="594360"/>
          </a:xfrm>
          <a:prstGeom prst="ellipse">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3"/>
          <p:cNvSpPr txBox="1"/>
          <p:nvPr/>
        </p:nvSpPr>
        <p:spPr>
          <a:xfrm>
            <a:off x="2174748" y="4325112"/>
            <a:ext cx="594360" cy="59436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4</a:t>
            </a:r>
          </a:p>
        </p:txBody>
      </p:sp>
      <p:sp>
        <p:nvSpPr>
          <p:cNvPr id="24" name="TextBox 24"/>
          <p:cNvSpPr txBox="1"/>
          <p:nvPr/>
        </p:nvSpPr>
        <p:spPr>
          <a:xfrm>
            <a:off x="978408" y="5074920"/>
            <a:ext cx="2987040" cy="457200"/>
          </a:xfrm>
          <a:prstGeom prst="rect">
            <a:avLst/>
          </a:prstGeom>
          <a:noFill/>
        </p:spPr>
        <p:txBody>
          <a:bodyPr wrap="square" lIns="0" tIns="18288" rIns="0" bIns="18288" anchor="ctr"/>
          <a:lstStyle/>
          <a:p>
            <a:pPr algn="ctr">
              <a:spcAft>
                <a:spcPts val="400"/>
              </a:spcAft>
            </a:pPr>
            <a:r>
              <a:rPr sz="1900" b="1" i="0">
                <a:solidFill>
                  <a:srgbClr val="0E2841"/>
                </a:solidFill>
                <a:latin typeface="Times New Roman"/>
              </a:rPr>
              <a:t>Integrity — ACID</a:t>
            </a:r>
          </a:p>
        </p:txBody>
      </p:sp>
      <p:sp>
        <p:nvSpPr>
          <p:cNvPr id="25" name="TextBox 25"/>
          <p:cNvSpPr txBox="1"/>
          <p:nvPr/>
        </p:nvSpPr>
        <p:spPr>
          <a:xfrm>
            <a:off x="978408" y="5486400"/>
            <a:ext cx="2987040" cy="45720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All of it, or none of it</a:t>
            </a:r>
          </a:p>
        </p:txBody>
      </p:sp>
      <p:sp>
        <p:nvSpPr>
          <p:cNvPr id="26" name="Card"/>
          <p:cNvSpPr/>
          <p:nvPr/>
        </p:nvSpPr>
        <p:spPr>
          <a:xfrm>
            <a:off x="4468368" y="4069080"/>
            <a:ext cx="326136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Card Bar"/>
          <p:cNvSpPr/>
          <p:nvPr/>
        </p:nvSpPr>
        <p:spPr>
          <a:xfrm>
            <a:off x="4468368" y="4069080"/>
            <a:ext cx="3261360" cy="1188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Circle"/>
          <p:cNvSpPr/>
          <p:nvPr/>
        </p:nvSpPr>
        <p:spPr>
          <a:xfrm>
            <a:off x="5801868" y="4325112"/>
            <a:ext cx="594360" cy="59436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9"/>
          <p:cNvSpPr txBox="1"/>
          <p:nvPr/>
        </p:nvSpPr>
        <p:spPr>
          <a:xfrm>
            <a:off x="5801868" y="4325112"/>
            <a:ext cx="594360" cy="59436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5</a:t>
            </a:r>
          </a:p>
        </p:txBody>
      </p:sp>
      <p:sp>
        <p:nvSpPr>
          <p:cNvPr id="30" name="TextBox 30"/>
          <p:cNvSpPr txBox="1"/>
          <p:nvPr/>
        </p:nvSpPr>
        <p:spPr>
          <a:xfrm>
            <a:off x="4605528" y="5074920"/>
            <a:ext cx="2987040" cy="457200"/>
          </a:xfrm>
          <a:prstGeom prst="rect">
            <a:avLst/>
          </a:prstGeom>
          <a:noFill/>
        </p:spPr>
        <p:txBody>
          <a:bodyPr wrap="square" lIns="0" tIns="18288" rIns="0" bIns="18288" anchor="ctr"/>
          <a:lstStyle/>
          <a:p>
            <a:pPr algn="ctr">
              <a:spcAft>
                <a:spcPts val="400"/>
              </a:spcAft>
            </a:pPr>
            <a:r>
              <a:rPr sz="1900" b="1" i="0">
                <a:solidFill>
                  <a:srgbClr val="0E2841"/>
                </a:solidFill>
                <a:latin typeface="Times New Roman"/>
              </a:rPr>
              <a:t>Backup &amp; Recovery</a:t>
            </a:r>
          </a:p>
        </p:txBody>
      </p:sp>
      <p:sp>
        <p:nvSpPr>
          <p:cNvPr id="31" name="TextBox 31"/>
          <p:cNvSpPr txBox="1"/>
          <p:nvPr/>
        </p:nvSpPr>
        <p:spPr>
          <a:xfrm>
            <a:off x="4605528" y="5486400"/>
            <a:ext cx="2987040" cy="45720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Survives a failure</a:t>
            </a:r>
          </a:p>
        </p:txBody>
      </p:sp>
      <p:sp>
        <p:nvSpPr>
          <p:cNvPr id="32" name="Card"/>
          <p:cNvSpPr/>
          <p:nvPr/>
        </p:nvSpPr>
        <p:spPr>
          <a:xfrm>
            <a:off x="8095488" y="4069080"/>
            <a:ext cx="3261360" cy="196596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Card Bar"/>
          <p:cNvSpPr/>
          <p:nvPr/>
        </p:nvSpPr>
        <p:spPr>
          <a:xfrm>
            <a:off x="8095488" y="4069080"/>
            <a:ext cx="3261360" cy="118872"/>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Circle"/>
          <p:cNvSpPr/>
          <p:nvPr/>
        </p:nvSpPr>
        <p:spPr>
          <a:xfrm>
            <a:off x="9428988" y="4325112"/>
            <a:ext cx="594360" cy="594360"/>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5"/>
          <p:cNvSpPr txBox="1"/>
          <p:nvPr/>
        </p:nvSpPr>
        <p:spPr>
          <a:xfrm>
            <a:off x="9428988" y="4325112"/>
            <a:ext cx="594360" cy="59436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6</a:t>
            </a:r>
          </a:p>
        </p:txBody>
      </p:sp>
      <p:sp>
        <p:nvSpPr>
          <p:cNvPr id="36" name="TextBox 36"/>
          <p:cNvSpPr txBox="1"/>
          <p:nvPr/>
        </p:nvSpPr>
        <p:spPr>
          <a:xfrm>
            <a:off x="8232648" y="5074920"/>
            <a:ext cx="2987040" cy="457200"/>
          </a:xfrm>
          <a:prstGeom prst="rect">
            <a:avLst/>
          </a:prstGeom>
          <a:noFill/>
        </p:spPr>
        <p:txBody>
          <a:bodyPr wrap="square" lIns="0" tIns="18288" rIns="0" bIns="18288" anchor="ctr"/>
          <a:lstStyle/>
          <a:p>
            <a:pPr algn="ctr">
              <a:spcAft>
                <a:spcPts val="400"/>
              </a:spcAft>
            </a:pPr>
            <a:r>
              <a:rPr sz="1900" b="1" i="0">
                <a:solidFill>
                  <a:srgbClr val="0E2841"/>
                </a:solidFill>
                <a:latin typeface="Times New Roman"/>
              </a:rPr>
              <a:t>Data Independence</a:t>
            </a:r>
          </a:p>
        </p:txBody>
      </p:sp>
      <p:sp>
        <p:nvSpPr>
          <p:cNvPr id="37" name="TextBox 37"/>
          <p:cNvSpPr txBox="1"/>
          <p:nvPr/>
        </p:nvSpPr>
        <p:spPr>
          <a:xfrm>
            <a:off x="8232648" y="5486400"/>
            <a:ext cx="2987040" cy="45720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Storage can change freely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title"/>
          </p:nvPr>
        </p:nvSpPr>
        <p:spPr/>
        <p:txBody>
          <a:bodyPr>
            <a:normAutofit/>
          </a:bodyPr>
          <a:lstStyle/>
          <a:p>
            <a:r>
              <a:rPr sz="3600" b="1">
                <a:solidFill>
                  <a:srgbClr val="0E2841"/>
                </a:solidFill>
                <a:latin typeface="Times New Roman"/>
              </a:rPr>
              <a:t>Redundancy and Concurrency in Practice</a:t>
            </a:r>
          </a:p>
        </p:txBody>
      </p:sp>
      <p:sp>
        <p:nvSpPr>
          <p:cNvPr id="2" name="Card"/>
          <p:cNvSpPr/>
          <p:nvPr/>
        </p:nvSpPr>
        <p:spPr>
          <a:xfrm>
            <a:off x="841248" y="1737360"/>
            <a:ext cx="5074920" cy="3840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p:cNvSpPr/>
          <p:nvPr/>
        </p:nvSpPr>
        <p:spPr>
          <a:xfrm>
            <a:off x="841248" y="1737360"/>
            <a:ext cx="507492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161288" y="1965960"/>
            <a:ext cx="4434840" cy="548640"/>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Reduced Data Redundancy</a:t>
            </a:r>
          </a:p>
        </p:txBody>
      </p:sp>
      <p:sp>
        <p:nvSpPr>
          <p:cNvPr id="5" name="TextBox 5"/>
          <p:cNvSpPr txBox="1"/>
          <p:nvPr/>
        </p:nvSpPr>
        <p:spPr>
          <a:xfrm>
            <a:off x="1161288" y="2606040"/>
            <a:ext cx="4434840" cy="320040"/>
          </a:xfrm>
          <a:prstGeom prst="rect">
            <a:avLst/>
          </a:prstGeom>
          <a:noFill/>
        </p:spPr>
        <p:txBody>
          <a:bodyPr wrap="square" lIns="0" tIns="18288" rIns="0" bIns="18288" anchor="b"/>
          <a:lstStyle/>
          <a:p>
            <a:pPr algn="l">
              <a:spcAft>
                <a:spcPts val="400"/>
              </a:spcAft>
            </a:pPr>
            <a:r>
              <a:rPr sz="1300" b="1" i="0">
                <a:solidFill>
                  <a:srgbClr val="156082"/>
                </a:solidFill>
                <a:latin typeface="Times New Roman"/>
              </a:rPr>
              <a:t>IN ONE LINE</a:t>
            </a:r>
          </a:p>
        </p:txBody>
      </p:sp>
      <p:sp>
        <p:nvSpPr>
          <p:cNvPr id="6" name="TextBox 6"/>
          <p:cNvSpPr txBox="1"/>
          <p:nvPr/>
        </p:nvSpPr>
        <p:spPr>
          <a:xfrm>
            <a:off x="1161288" y="2971800"/>
            <a:ext cx="4434840" cy="685800"/>
          </a:xfrm>
          <a:prstGeom prst="rect">
            <a:avLst/>
          </a:prstGeom>
          <a:noFill/>
        </p:spPr>
        <p:txBody>
          <a:bodyPr wrap="square" lIns="0" tIns="18288" rIns="0" bIns="18288" anchor="t"/>
          <a:lstStyle/>
          <a:p>
            <a:pPr algn="l">
              <a:spcAft>
                <a:spcPts val="400"/>
              </a:spcAft>
            </a:pPr>
            <a:r>
              <a:rPr sz="1800" b="0" i="0">
                <a:solidFill>
                  <a:srgbClr val="2B2B2B"/>
                </a:solidFill>
                <a:latin typeface="Times New Roman"/>
              </a:rPr>
              <a:t>The same fact is stored once and referenced, never copied.</a:t>
            </a:r>
          </a:p>
        </p:txBody>
      </p:sp>
      <p:sp>
        <p:nvSpPr>
          <p:cNvPr id="7" name="TextBox 7"/>
          <p:cNvSpPr txBox="1"/>
          <p:nvPr/>
        </p:nvSpPr>
        <p:spPr>
          <a:xfrm>
            <a:off x="1161288" y="3749040"/>
            <a:ext cx="4434840" cy="320040"/>
          </a:xfrm>
          <a:prstGeom prst="rect">
            <a:avLst/>
          </a:prstGeom>
          <a:noFill/>
        </p:spPr>
        <p:txBody>
          <a:bodyPr wrap="square" lIns="0" tIns="18288" rIns="0" bIns="18288" anchor="b"/>
          <a:lstStyle/>
          <a:p>
            <a:pPr algn="l">
              <a:spcAft>
                <a:spcPts val="400"/>
              </a:spcAft>
            </a:pPr>
            <a:r>
              <a:rPr sz="1300" b="1" i="0">
                <a:solidFill>
                  <a:srgbClr val="156082"/>
                </a:solidFill>
                <a:latin typeface="Times New Roman"/>
              </a:rPr>
              <a:t>INDUSTRY EXAMPLE</a:t>
            </a:r>
          </a:p>
        </p:txBody>
      </p:sp>
      <p:sp>
        <p:nvSpPr>
          <p:cNvPr id="8" name="TextBox 8"/>
          <p:cNvSpPr txBox="1"/>
          <p:nvPr/>
        </p:nvSpPr>
        <p:spPr>
          <a:xfrm>
            <a:off x="1161288" y="4114800"/>
            <a:ext cx="4434840" cy="1280160"/>
          </a:xfrm>
          <a:prstGeom prst="rect">
            <a:avLst/>
          </a:prstGeom>
          <a:noFill/>
        </p:spPr>
        <p:txBody>
          <a:bodyPr wrap="square" lIns="0" tIns="18288" rIns="0" bIns="18288" anchor="t"/>
          <a:lstStyle/>
          <a:p>
            <a:pPr algn="l">
              <a:spcAft>
                <a:spcPts val="400"/>
              </a:spcAft>
            </a:pPr>
            <a:r>
              <a:rPr sz="1700" b="0" i="0">
                <a:solidFill>
                  <a:srgbClr val="5A6472"/>
                </a:solidFill>
                <a:latin typeface="Times New Roman"/>
              </a:rPr>
              <a:t>Netflix keeps one subscriber profile. Billing, recommendations and the player all read that single record, so nothing drifts out of sync.</a:t>
            </a:r>
          </a:p>
        </p:txBody>
      </p:sp>
      <p:sp>
        <p:nvSpPr>
          <p:cNvPr id="9" name="Card"/>
          <p:cNvSpPr/>
          <p:nvPr/>
        </p:nvSpPr>
        <p:spPr>
          <a:xfrm>
            <a:off x="6281928" y="1737360"/>
            <a:ext cx="5074920" cy="3840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Card Bar"/>
          <p:cNvSpPr/>
          <p:nvPr/>
        </p:nvSpPr>
        <p:spPr>
          <a:xfrm>
            <a:off x="6281928" y="1737360"/>
            <a:ext cx="507492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6601968" y="1965960"/>
            <a:ext cx="4434840" cy="548640"/>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Concurrent Multi-User Access</a:t>
            </a:r>
          </a:p>
        </p:txBody>
      </p:sp>
      <p:sp>
        <p:nvSpPr>
          <p:cNvPr id="12" name="TextBox 12"/>
          <p:cNvSpPr txBox="1"/>
          <p:nvPr/>
        </p:nvSpPr>
        <p:spPr>
          <a:xfrm>
            <a:off x="6601968" y="2606040"/>
            <a:ext cx="4434840" cy="320040"/>
          </a:xfrm>
          <a:prstGeom prst="rect">
            <a:avLst/>
          </a:prstGeom>
          <a:noFill/>
        </p:spPr>
        <p:txBody>
          <a:bodyPr wrap="square" lIns="0" tIns="18288" rIns="0" bIns="18288" anchor="b"/>
          <a:lstStyle/>
          <a:p>
            <a:pPr algn="l">
              <a:spcAft>
                <a:spcPts val="400"/>
              </a:spcAft>
            </a:pPr>
            <a:r>
              <a:rPr sz="1300" b="1" i="0">
                <a:solidFill>
                  <a:srgbClr val="E97132"/>
                </a:solidFill>
                <a:latin typeface="Times New Roman"/>
              </a:rPr>
              <a:t>IN ONE LINE</a:t>
            </a:r>
          </a:p>
        </p:txBody>
      </p:sp>
      <p:sp>
        <p:nvSpPr>
          <p:cNvPr id="13" name="TextBox 13"/>
          <p:cNvSpPr txBox="1"/>
          <p:nvPr/>
        </p:nvSpPr>
        <p:spPr>
          <a:xfrm>
            <a:off x="6601968" y="2971800"/>
            <a:ext cx="4434840" cy="685800"/>
          </a:xfrm>
          <a:prstGeom prst="rect">
            <a:avLst/>
          </a:prstGeom>
          <a:noFill/>
        </p:spPr>
        <p:txBody>
          <a:bodyPr wrap="square" lIns="0" tIns="18288" rIns="0" bIns="18288" anchor="t"/>
          <a:lstStyle/>
          <a:p>
            <a:pPr algn="l">
              <a:spcAft>
                <a:spcPts val="400"/>
              </a:spcAft>
            </a:pPr>
            <a:r>
              <a:rPr sz="1800" b="0" i="0">
                <a:solidFill>
                  <a:srgbClr val="2B2B2B"/>
                </a:solidFill>
                <a:latin typeface="Times New Roman"/>
              </a:rPr>
              <a:t>Many users read and write at once without corrupting data.</a:t>
            </a:r>
          </a:p>
        </p:txBody>
      </p:sp>
      <p:sp>
        <p:nvSpPr>
          <p:cNvPr id="14" name="TextBox 14"/>
          <p:cNvSpPr txBox="1"/>
          <p:nvPr/>
        </p:nvSpPr>
        <p:spPr>
          <a:xfrm>
            <a:off x="6601968" y="3749040"/>
            <a:ext cx="4434840" cy="320040"/>
          </a:xfrm>
          <a:prstGeom prst="rect">
            <a:avLst/>
          </a:prstGeom>
          <a:noFill/>
        </p:spPr>
        <p:txBody>
          <a:bodyPr wrap="square" lIns="0" tIns="18288" rIns="0" bIns="18288" anchor="b"/>
          <a:lstStyle/>
          <a:p>
            <a:pPr algn="l">
              <a:spcAft>
                <a:spcPts val="400"/>
              </a:spcAft>
            </a:pPr>
            <a:r>
              <a:rPr sz="1300" b="1" i="0">
                <a:solidFill>
                  <a:srgbClr val="E97132"/>
                </a:solidFill>
                <a:latin typeface="Times New Roman"/>
              </a:rPr>
              <a:t>INDUSTRY EXAMPLE</a:t>
            </a:r>
          </a:p>
        </p:txBody>
      </p:sp>
      <p:sp>
        <p:nvSpPr>
          <p:cNvPr id="15" name="TextBox 15"/>
          <p:cNvSpPr txBox="1"/>
          <p:nvPr/>
        </p:nvSpPr>
        <p:spPr>
          <a:xfrm>
            <a:off x="6601968" y="4114800"/>
            <a:ext cx="4434840" cy="1280160"/>
          </a:xfrm>
          <a:prstGeom prst="rect">
            <a:avLst/>
          </a:prstGeom>
          <a:noFill/>
        </p:spPr>
        <p:txBody>
          <a:bodyPr wrap="square" lIns="0" tIns="18288" rIns="0" bIns="18288" anchor="t"/>
          <a:lstStyle/>
          <a:p>
            <a:pPr algn="l">
              <a:spcAft>
                <a:spcPts val="400"/>
              </a:spcAft>
            </a:pPr>
            <a:r>
              <a:rPr sz="1700" b="0" i="0">
                <a:solidFill>
                  <a:srgbClr val="5A6472"/>
                </a:solidFill>
                <a:latin typeface="Times New Roman"/>
              </a:rPr>
              <a:t>At dinner peak, Swiggy and Zomato take millions of simultaneous orders. Distributed engines keep every one of them consistent across regions.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title"/>
          </p:nvPr>
        </p:nvSpPr>
        <p:spPr/>
        <p:txBody>
          <a:bodyPr>
            <a:normAutofit/>
          </a:bodyPr>
          <a:lstStyle/>
          <a:p>
            <a:r>
              <a:rPr sz="3600" b="1">
                <a:solidFill>
                  <a:srgbClr val="0E2841"/>
                </a:solidFill>
                <a:latin typeface="Times New Roman"/>
              </a:rPr>
              <a:t>Security and Integrity</a:t>
            </a:r>
          </a:p>
        </p:txBody>
      </p:sp>
      <p:sp>
        <p:nvSpPr>
          <p:cNvPr id="2" name="Card"/>
          <p:cNvSpPr/>
          <p:nvPr/>
        </p:nvSpPr>
        <p:spPr>
          <a:xfrm>
            <a:off x="841248" y="1737360"/>
            <a:ext cx="5074920" cy="3840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p:cNvSpPr/>
          <p:nvPr/>
        </p:nvSpPr>
        <p:spPr>
          <a:xfrm>
            <a:off x="841248" y="1737360"/>
            <a:ext cx="507492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161288" y="1965960"/>
            <a:ext cx="4434840" cy="548640"/>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Security &amp; Authorization</a:t>
            </a:r>
          </a:p>
        </p:txBody>
      </p:sp>
      <p:sp>
        <p:nvSpPr>
          <p:cNvPr id="5" name="TextBox 5"/>
          <p:cNvSpPr txBox="1"/>
          <p:nvPr/>
        </p:nvSpPr>
        <p:spPr>
          <a:xfrm>
            <a:off x="1161288" y="2606040"/>
            <a:ext cx="4434840" cy="320040"/>
          </a:xfrm>
          <a:prstGeom prst="rect">
            <a:avLst/>
          </a:prstGeom>
          <a:noFill/>
        </p:spPr>
        <p:txBody>
          <a:bodyPr wrap="square" lIns="0" tIns="18288" rIns="0" bIns="18288" anchor="b"/>
          <a:lstStyle/>
          <a:p>
            <a:pPr algn="l">
              <a:spcAft>
                <a:spcPts val="400"/>
              </a:spcAft>
            </a:pPr>
            <a:r>
              <a:rPr sz="1300" b="1" i="0">
                <a:solidFill>
                  <a:srgbClr val="196B24"/>
                </a:solidFill>
                <a:latin typeface="Times New Roman"/>
              </a:rPr>
              <a:t>IN ONE LINE</a:t>
            </a:r>
          </a:p>
        </p:txBody>
      </p:sp>
      <p:sp>
        <p:nvSpPr>
          <p:cNvPr id="6" name="TextBox 6"/>
          <p:cNvSpPr txBox="1"/>
          <p:nvPr/>
        </p:nvSpPr>
        <p:spPr>
          <a:xfrm>
            <a:off x="1161288" y="2971800"/>
            <a:ext cx="4434840" cy="685800"/>
          </a:xfrm>
          <a:prstGeom prst="rect">
            <a:avLst/>
          </a:prstGeom>
          <a:noFill/>
        </p:spPr>
        <p:txBody>
          <a:bodyPr wrap="square" lIns="0" tIns="18288" rIns="0" bIns="18288" anchor="t"/>
          <a:lstStyle/>
          <a:p>
            <a:pPr algn="l">
              <a:spcAft>
                <a:spcPts val="400"/>
              </a:spcAft>
            </a:pPr>
            <a:r>
              <a:rPr sz="1800" b="0" i="0">
                <a:solidFill>
                  <a:srgbClr val="2B2B2B"/>
                </a:solidFill>
                <a:latin typeface="Times New Roman"/>
              </a:rPr>
              <a:t>Login, roles, permissions and encryption decide who sees what.</a:t>
            </a:r>
          </a:p>
        </p:txBody>
      </p:sp>
      <p:sp>
        <p:nvSpPr>
          <p:cNvPr id="7" name="TextBox 7"/>
          <p:cNvSpPr txBox="1"/>
          <p:nvPr/>
        </p:nvSpPr>
        <p:spPr>
          <a:xfrm>
            <a:off x="1161288" y="3749040"/>
            <a:ext cx="4434840" cy="320040"/>
          </a:xfrm>
          <a:prstGeom prst="rect">
            <a:avLst/>
          </a:prstGeom>
          <a:noFill/>
        </p:spPr>
        <p:txBody>
          <a:bodyPr wrap="square" lIns="0" tIns="18288" rIns="0" bIns="18288" anchor="b"/>
          <a:lstStyle/>
          <a:p>
            <a:pPr algn="l">
              <a:spcAft>
                <a:spcPts val="400"/>
              </a:spcAft>
            </a:pPr>
            <a:r>
              <a:rPr sz="1300" b="1" i="0">
                <a:solidFill>
                  <a:srgbClr val="196B24"/>
                </a:solidFill>
                <a:latin typeface="Times New Roman"/>
              </a:rPr>
              <a:t>INDUSTRY EXAMPLE</a:t>
            </a:r>
          </a:p>
        </p:txBody>
      </p:sp>
      <p:sp>
        <p:nvSpPr>
          <p:cNvPr id="8" name="TextBox 8"/>
          <p:cNvSpPr txBox="1"/>
          <p:nvPr/>
        </p:nvSpPr>
        <p:spPr>
          <a:xfrm>
            <a:off x="1161288" y="4114800"/>
            <a:ext cx="4434840" cy="1280160"/>
          </a:xfrm>
          <a:prstGeom prst="rect">
            <a:avLst/>
          </a:prstGeom>
          <a:noFill/>
        </p:spPr>
        <p:txBody>
          <a:bodyPr wrap="square" lIns="0" tIns="18288" rIns="0" bIns="18288" anchor="t"/>
          <a:lstStyle/>
          <a:p>
            <a:pPr algn="l">
              <a:spcAft>
                <a:spcPts val="400"/>
              </a:spcAft>
            </a:pPr>
            <a:r>
              <a:rPr sz="1700" b="0" i="0">
                <a:solidFill>
                  <a:srgbClr val="5A6472"/>
                </a:solidFill>
                <a:latin typeface="Times New Roman"/>
              </a:rPr>
              <a:t>On a UPI app a support agent sees a masked account number. Only the core banking DBMS can decrypt the full detail — an RBI requirement.</a:t>
            </a:r>
          </a:p>
        </p:txBody>
      </p:sp>
      <p:sp>
        <p:nvSpPr>
          <p:cNvPr id="9" name="Card"/>
          <p:cNvSpPr/>
          <p:nvPr/>
        </p:nvSpPr>
        <p:spPr>
          <a:xfrm>
            <a:off x="6281928" y="1737360"/>
            <a:ext cx="5074920" cy="3840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Card Bar"/>
          <p:cNvSpPr/>
          <p:nvPr/>
        </p:nvSpPr>
        <p:spPr>
          <a:xfrm>
            <a:off x="6281928" y="1737360"/>
            <a:ext cx="5074920" cy="11887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6601968" y="1965960"/>
            <a:ext cx="4434840" cy="548640"/>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Integrity &amp; Consistency (ACID)</a:t>
            </a:r>
          </a:p>
        </p:txBody>
      </p:sp>
      <p:sp>
        <p:nvSpPr>
          <p:cNvPr id="12" name="TextBox 12"/>
          <p:cNvSpPr txBox="1"/>
          <p:nvPr/>
        </p:nvSpPr>
        <p:spPr>
          <a:xfrm>
            <a:off x="6601968" y="2606040"/>
            <a:ext cx="4434840" cy="320040"/>
          </a:xfrm>
          <a:prstGeom prst="rect">
            <a:avLst/>
          </a:prstGeom>
          <a:noFill/>
        </p:spPr>
        <p:txBody>
          <a:bodyPr wrap="square" lIns="0" tIns="18288" rIns="0" bIns="18288" anchor="b"/>
          <a:lstStyle/>
          <a:p>
            <a:pPr algn="l">
              <a:spcAft>
                <a:spcPts val="400"/>
              </a:spcAft>
            </a:pPr>
            <a:r>
              <a:rPr sz="1300" b="1" i="0">
                <a:solidFill>
                  <a:srgbClr val="0F9ED5"/>
                </a:solidFill>
                <a:latin typeface="Times New Roman"/>
              </a:rPr>
              <a:t>IN ONE LINE</a:t>
            </a:r>
          </a:p>
        </p:txBody>
      </p:sp>
      <p:sp>
        <p:nvSpPr>
          <p:cNvPr id="13" name="TextBox 13"/>
          <p:cNvSpPr txBox="1"/>
          <p:nvPr/>
        </p:nvSpPr>
        <p:spPr>
          <a:xfrm>
            <a:off x="6601968" y="2971800"/>
            <a:ext cx="4434840" cy="685800"/>
          </a:xfrm>
          <a:prstGeom prst="rect">
            <a:avLst/>
          </a:prstGeom>
          <a:noFill/>
        </p:spPr>
        <p:txBody>
          <a:bodyPr wrap="square" lIns="0" tIns="18288" rIns="0" bIns="18288" anchor="t"/>
          <a:lstStyle/>
          <a:p>
            <a:pPr algn="l">
              <a:spcAft>
                <a:spcPts val="400"/>
              </a:spcAft>
            </a:pPr>
            <a:r>
              <a:rPr sz="1800" b="0" i="0">
                <a:solidFill>
                  <a:srgbClr val="2B2B2B"/>
                </a:solidFill>
                <a:latin typeface="Times New Roman"/>
              </a:rPr>
              <a:t>A transaction completes fully, or it rolls back completely.</a:t>
            </a:r>
          </a:p>
        </p:txBody>
      </p:sp>
      <p:sp>
        <p:nvSpPr>
          <p:cNvPr id="14" name="TextBox 14"/>
          <p:cNvSpPr txBox="1"/>
          <p:nvPr/>
        </p:nvSpPr>
        <p:spPr>
          <a:xfrm>
            <a:off x="6601968" y="3749040"/>
            <a:ext cx="4434840" cy="320040"/>
          </a:xfrm>
          <a:prstGeom prst="rect">
            <a:avLst/>
          </a:prstGeom>
          <a:noFill/>
        </p:spPr>
        <p:txBody>
          <a:bodyPr wrap="square" lIns="0" tIns="18288" rIns="0" bIns="18288" anchor="b"/>
          <a:lstStyle/>
          <a:p>
            <a:pPr algn="l">
              <a:spcAft>
                <a:spcPts val="400"/>
              </a:spcAft>
            </a:pPr>
            <a:r>
              <a:rPr sz="1300" b="1" i="0">
                <a:solidFill>
                  <a:srgbClr val="0F9ED5"/>
                </a:solidFill>
                <a:latin typeface="Times New Roman"/>
              </a:rPr>
              <a:t>INDUSTRY EXAMPLE</a:t>
            </a:r>
          </a:p>
        </p:txBody>
      </p:sp>
      <p:sp>
        <p:nvSpPr>
          <p:cNvPr id="15" name="TextBox 15"/>
          <p:cNvSpPr txBox="1"/>
          <p:nvPr/>
        </p:nvSpPr>
        <p:spPr>
          <a:xfrm>
            <a:off x="6601968" y="4114800"/>
            <a:ext cx="4434840" cy="1280160"/>
          </a:xfrm>
          <a:prstGeom prst="rect">
            <a:avLst/>
          </a:prstGeom>
          <a:noFill/>
        </p:spPr>
        <p:txBody>
          <a:bodyPr wrap="square" lIns="0" tIns="18288" rIns="0" bIns="18288" anchor="t"/>
          <a:lstStyle/>
          <a:p>
            <a:pPr algn="l">
              <a:spcAft>
                <a:spcPts val="400"/>
              </a:spcAft>
            </a:pPr>
            <a:r>
              <a:rPr sz="1700" b="0" i="0">
                <a:solidFill>
                  <a:srgbClr val="5A6472"/>
                </a:solidFill>
                <a:latin typeface="Times New Roman"/>
              </a:rPr>
              <a:t>A UPI transfer debits one bank and credits another. If either half fails, both are undone — no money is ever left in between.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title"/>
          </p:nvPr>
        </p:nvSpPr>
        <p:spPr/>
        <p:txBody>
          <a:bodyPr>
            <a:normAutofit/>
          </a:bodyPr>
          <a:lstStyle/>
          <a:p>
            <a:r>
              <a:rPr sz="3600" b="1">
                <a:solidFill>
                  <a:srgbClr val="0E2841"/>
                </a:solidFill>
                <a:latin typeface="Times New Roman"/>
              </a:rPr>
              <a:t>Recovery and Independence</a:t>
            </a:r>
          </a:p>
        </p:txBody>
      </p:sp>
      <p:sp>
        <p:nvSpPr>
          <p:cNvPr id="2" name="Card"/>
          <p:cNvSpPr/>
          <p:nvPr/>
        </p:nvSpPr>
        <p:spPr>
          <a:xfrm>
            <a:off x="841248" y="1737360"/>
            <a:ext cx="5074920" cy="3840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p:cNvSpPr/>
          <p:nvPr/>
        </p:nvSpPr>
        <p:spPr>
          <a:xfrm>
            <a:off x="841248" y="1737360"/>
            <a:ext cx="5074920" cy="1188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161288" y="1965960"/>
            <a:ext cx="4434840" cy="548640"/>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Backup, Recovery &amp; Availability</a:t>
            </a:r>
          </a:p>
        </p:txBody>
      </p:sp>
      <p:sp>
        <p:nvSpPr>
          <p:cNvPr id="5" name="TextBox 5"/>
          <p:cNvSpPr txBox="1"/>
          <p:nvPr/>
        </p:nvSpPr>
        <p:spPr>
          <a:xfrm>
            <a:off x="1161288" y="2606040"/>
            <a:ext cx="4434840" cy="320040"/>
          </a:xfrm>
          <a:prstGeom prst="rect">
            <a:avLst/>
          </a:prstGeom>
          <a:noFill/>
        </p:spPr>
        <p:txBody>
          <a:bodyPr wrap="square" lIns="0" tIns="18288" rIns="0" bIns="18288" anchor="b"/>
          <a:lstStyle/>
          <a:p>
            <a:pPr algn="l">
              <a:spcAft>
                <a:spcPts val="400"/>
              </a:spcAft>
            </a:pPr>
            <a:r>
              <a:rPr sz="1300" b="1" i="0">
                <a:solidFill>
                  <a:srgbClr val="A02B93"/>
                </a:solidFill>
                <a:latin typeface="Times New Roman"/>
              </a:rPr>
              <a:t>IN ONE LINE</a:t>
            </a:r>
          </a:p>
        </p:txBody>
      </p:sp>
      <p:sp>
        <p:nvSpPr>
          <p:cNvPr id="6" name="TextBox 6"/>
          <p:cNvSpPr txBox="1"/>
          <p:nvPr/>
        </p:nvSpPr>
        <p:spPr>
          <a:xfrm>
            <a:off x="1161288" y="2971800"/>
            <a:ext cx="4434840" cy="685800"/>
          </a:xfrm>
          <a:prstGeom prst="rect">
            <a:avLst/>
          </a:prstGeom>
          <a:noFill/>
        </p:spPr>
        <p:txBody>
          <a:bodyPr wrap="square" lIns="0" tIns="18288" rIns="0" bIns="18288" anchor="t"/>
          <a:lstStyle/>
          <a:p>
            <a:pPr algn="l">
              <a:spcAft>
                <a:spcPts val="400"/>
              </a:spcAft>
            </a:pPr>
            <a:r>
              <a:rPr sz="1800" b="0" i="0">
                <a:solidFill>
                  <a:srgbClr val="2B2B2B"/>
                </a:solidFill>
                <a:latin typeface="Times New Roman"/>
              </a:rPr>
              <a:t>Continuous backups, plus a live standby copy ready to take over.</a:t>
            </a:r>
          </a:p>
        </p:txBody>
      </p:sp>
      <p:sp>
        <p:nvSpPr>
          <p:cNvPr id="7" name="TextBox 7"/>
          <p:cNvSpPr txBox="1"/>
          <p:nvPr/>
        </p:nvSpPr>
        <p:spPr>
          <a:xfrm>
            <a:off x="1161288" y="3749040"/>
            <a:ext cx="4434840" cy="320040"/>
          </a:xfrm>
          <a:prstGeom prst="rect">
            <a:avLst/>
          </a:prstGeom>
          <a:noFill/>
        </p:spPr>
        <p:txBody>
          <a:bodyPr wrap="square" lIns="0" tIns="18288" rIns="0" bIns="18288" anchor="b"/>
          <a:lstStyle/>
          <a:p>
            <a:pPr algn="l">
              <a:spcAft>
                <a:spcPts val="400"/>
              </a:spcAft>
            </a:pPr>
            <a:r>
              <a:rPr sz="1300" b="1" i="0">
                <a:solidFill>
                  <a:srgbClr val="A02B93"/>
                </a:solidFill>
                <a:latin typeface="Times New Roman"/>
              </a:rPr>
              <a:t>INDUSTRY EXAMPLE</a:t>
            </a:r>
          </a:p>
        </p:txBody>
      </p:sp>
      <p:sp>
        <p:nvSpPr>
          <p:cNvPr id="8" name="TextBox 8"/>
          <p:cNvSpPr txBox="1"/>
          <p:nvPr/>
        </p:nvSpPr>
        <p:spPr>
          <a:xfrm>
            <a:off x="1161288" y="4114800"/>
            <a:ext cx="4434840" cy="1280160"/>
          </a:xfrm>
          <a:prstGeom prst="rect">
            <a:avLst/>
          </a:prstGeom>
          <a:noFill/>
        </p:spPr>
        <p:txBody>
          <a:bodyPr wrap="square" lIns="0" tIns="18288" rIns="0" bIns="18288" anchor="t"/>
          <a:lstStyle/>
          <a:p>
            <a:pPr algn="l">
              <a:spcAft>
                <a:spcPts val="400"/>
              </a:spcAft>
            </a:pPr>
            <a:r>
              <a:rPr sz="1700" b="0" i="0">
                <a:solidFill>
                  <a:srgbClr val="5A6472"/>
                </a:solidFill>
                <a:latin typeface="Times New Roman"/>
              </a:rPr>
              <a:t>AWS RDS Multi-AZ keeps a standby in another data centre. If the primary dies it switches over in seconds and trading stays online.</a:t>
            </a:r>
          </a:p>
        </p:txBody>
      </p:sp>
      <p:sp>
        <p:nvSpPr>
          <p:cNvPr id="9" name="Card"/>
          <p:cNvSpPr/>
          <p:nvPr/>
        </p:nvSpPr>
        <p:spPr>
          <a:xfrm>
            <a:off x="6281928" y="1737360"/>
            <a:ext cx="5074920" cy="384048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Card Bar"/>
          <p:cNvSpPr/>
          <p:nvPr/>
        </p:nvSpPr>
        <p:spPr>
          <a:xfrm>
            <a:off x="6281928" y="1737360"/>
            <a:ext cx="5074920" cy="118872"/>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6601968" y="1965960"/>
            <a:ext cx="4434840" cy="548640"/>
          </a:xfrm>
          <a:prstGeom prst="rect">
            <a:avLst/>
          </a:prstGeom>
          <a:noFill/>
        </p:spPr>
        <p:txBody>
          <a:bodyPr wrap="square" lIns="0" tIns="18288" rIns="0" bIns="18288" anchor="ctr"/>
          <a:lstStyle/>
          <a:p>
            <a:pPr algn="ctr">
              <a:spcAft>
                <a:spcPts val="400"/>
              </a:spcAft>
            </a:pPr>
            <a:r>
              <a:rPr sz="2400" b="1" i="0">
                <a:solidFill>
                  <a:srgbClr val="0E2841"/>
                </a:solidFill>
                <a:latin typeface="Times New Roman"/>
              </a:rPr>
              <a:t>Data Independence</a:t>
            </a:r>
          </a:p>
        </p:txBody>
      </p:sp>
      <p:sp>
        <p:nvSpPr>
          <p:cNvPr id="12" name="TextBox 12"/>
          <p:cNvSpPr txBox="1"/>
          <p:nvPr/>
        </p:nvSpPr>
        <p:spPr>
          <a:xfrm>
            <a:off x="6601968" y="2606040"/>
            <a:ext cx="4434840" cy="320040"/>
          </a:xfrm>
          <a:prstGeom prst="rect">
            <a:avLst/>
          </a:prstGeom>
          <a:noFill/>
        </p:spPr>
        <p:txBody>
          <a:bodyPr wrap="square" lIns="0" tIns="18288" rIns="0" bIns="18288" anchor="b"/>
          <a:lstStyle/>
          <a:p>
            <a:pPr algn="l">
              <a:spcAft>
                <a:spcPts val="400"/>
              </a:spcAft>
            </a:pPr>
            <a:r>
              <a:rPr sz="1300" b="1" i="0">
                <a:solidFill>
                  <a:srgbClr val="0E2841"/>
                </a:solidFill>
                <a:latin typeface="Times New Roman"/>
              </a:rPr>
              <a:t>IN ONE LINE</a:t>
            </a:r>
          </a:p>
        </p:txBody>
      </p:sp>
      <p:sp>
        <p:nvSpPr>
          <p:cNvPr id="13" name="TextBox 13"/>
          <p:cNvSpPr txBox="1"/>
          <p:nvPr/>
        </p:nvSpPr>
        <p:spPr>
          <a:xfrm>
            <a:off x="6601968" y="2971800"/>
            <a:ext cx="4434840" cy="685800"/>
          </a:xfrm>
          <a:prstGeom prst="rect">
            <a:avLst/>
          </a:prstGeom>
          <a:noFill/>
        </p:spPr>
        <p:txBody>
          <a:bodyPr wrap="square" lIns="0" tIns="18288" rIns="0" bIns="18288" anchor="t"/>
          <a:lstStyle/>
          <a:p>
            <a:pPr algn="l">
              <a:spcAft>
                <a:spcPts val="400"/>
              </a:spcAft>
            </a:pPr>
            <a:r>
              <a:rPr sz="1800" b="0" i="0">
                <a:solidFill>
                  <a:srgbClr val="2B2B2B"/>
                </a:solidFill>
                <a:latin typeface="Times New Roman"/>
              </a:rPr>
              <a:t>Storage can be changed without rewriting the application.</a:t>
            </a:r>
          </a:p>
        </p:txBody>
      </p:sp>
      <p:sp>
        <p:nvSpPr>
          <p:cNvPr id="14" name="TextBox 14"/>
          <p:cNvSpPr txBox="1"/>
          <p:nvPr/>
        </p:nvSpPr>
        <p:spPr>
          <a:xfrm>
            <a:off x="6601968" y="3749040"/>
            <a:ext cx="4434840" cy="320040"/>
          </a:xfrm>
          <a:prstGeom prst="rect">
            <a:avLst/>
          </a:prstGeom>
          <a:noFill/>
        </p:spPr>
        <p:txBody>
          <a:bodyPr wrap="square" lIns="0" tIns="18288" rIns="0" bIns="18288" anchor="b"/>
          <a:lstStyle/>
          <a:p>
            <a:pPr algn="l">
              <a:spcAft>
                <a:spcPts val="400"/>
              </a:spcAft>
            </a:pPr>
            <a:r>
              <a:rPr sz="1300" b="1" i="0">
                <a:solidFill>
                  <a:srgbClr val="0E2841"/>
                </a:solidFill>
                <a:latin typeface="Times New Roman"/>
              </a:rPr>
              <a:t>INDUSTRY EXAMPLE</a:t>
            </a:r>
          </a:p>
        </p:txBody>
      </p:sp>
      <p:sp>
        <p:nvSpPr>
          <p:cNvPr id="15" name="TextBox 15"/>
          <p:cNvSpPr txBox="1"/>
          <p:nvPr/>
        </p:nvSpPr>
        <p:spPr>
          <a:xfrm>
            <a:off x="6601968" y="4114800"/>
            <a:ext cx="4434840" cy="1280160"/>
          </a:xfrm>
          <a:prstGeom prst="rect">
            <a:avLst/>
          </a:prstGeom>
          <a:noFill/>
        </p:spPr>
        <p:txBody>
          <a:bodyPr wrap="square" lIns="0" tIns="18288" rIns="0" bIns="18288" anchor="t"/>
          <a:lstStyle/>
          <a:p>
            <a:pPr algn="l">
              <a:spcAft>
                <a:spcPts val="400"/>
              </a:spcAft>
            </a:pPr>
            <a:r>
              <a:rPr sz="1700" b="0" i="0">
                <a:solidFill>
                  <a:srgbClr val="5A6472"/>
                </a:solidFill>
                <a:latin typeface="Times New Roman"/>
              </a:rPr>
              <a:t>A team moves from on-premise MySQL to Amazon Aurora. The mobile app calls the same API and its own code never changes.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p:cNvSpPr>
            <a:spLocks noGrp="1"/>
          </p:cNvSpPr>
          <p:nvPr>
            <p:ph type="title"/>
          </p:nvPr>
        </p:nvSpPr>
        <p:spPr/>
        <p:txBody>
          <a:bodyPr>
            <a:normAutofit/>
          </a:bodyPr>
          <a:lstStyle/>
          <a:p>
            <a:r>
              <a:rPr sz="3600" b="1">
                <a:solidFill>
                  <a:srgbClr val="0E2841"/>
                </a:solidFill>
                <a:latin typeface="Times New Roman"/>
              </a:rPr>
              <a:t>Where a Modern DBMS Runs</a:t>
            </a:r>
          </a:p>
        </p:txBody>
      </p:sp>
      <p:sp>
        <p:nvSpPr>
          <p:cNvPr id="2" name="Card"/>
          <p:cNvSpPr/>
          <p:nvPr/>
        </p:nvSpPr>
        <p:spPr>
          <a:xfrm>
            <a:off x="841248" y="178308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p:cNvSpPr/>
          <p:nvPr/>
        </p:nvSpPr>
        <p:spPr>
          <a:xfrm>
            <a:off x="841248" y="1783080"/>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978408" y="2039112"/>
            <a:ext cx="298704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Banking &amp; Fintech</a:t>
            </a:r>
          </a:p>
        </p:txBody>
      </p:sp>
      <p:sp>
        <p:nvSpPr>
          <p:cNvPr id="5" name="TextBox 5"/>
          <p:cNvSpPr txBox="1"/>
          <p:nvPr/>
        </p:nvSpPr>
        <p:spPr>
          <a:xfrm>
            <a:off x="978408" y="2788920"/>
            <a:ext cx="2987040" cy="64008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UPI, fraud checks, wallets</a:t>
            </a:r>
          </a:p>
        </p:txBody>
      </p:sp>
      <p:sp>
        <p:nvSpPr>
          <p:cNvPr id="6" name="Card"/>
          <p:cNvSpPr/>
          <p:nvPr/>
        </p:nvSpPr>
        <p:spPr>
          <a:xfrm>
            <a:off x="4468368" y="178308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Card Bar"/>
          <p:cNvSpPr/>
          <p:nvPr/>
        </p:nvSpPr>
        <p:spPr>
          <a:xfrm>
            <a:off x="4468368" y="1783080"/>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4605528" y="2039112"/>
            <a:ext cx="298704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Healthcare</a:t>
            </a:r>
          </a:p>
        </p:txBody>
      </p:sp>
      <p:sp>
        <p:nvSpPr>
          <p:cNvPr id="9" name="TextBox 9"/>
          <p:cNvSpPr txBox="1"/>
          <p:nvPr/>
        </p:nvSpPr>
        <p:spPr>
          <a:xfrm>
            <a:off x="4605528" y="2788920"/>
            <a:ext cx="2987040" cy="64008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Patient records, wearable vitals</a:t>
            </a:r>
          </a:p>
        </p:txBody>
      </p:sp>
      <p:sp>
        <p:nvSpPr>
          <p:cNvPr id="10" name="Card"/>
          <p:cNvSpPr/>
          <p:nvPr/>
        </p:nvSpPr>
        <p:spPr>
          <a:xfrm>
            <a:off x="8095488" y="178308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Bar"/>
          <p:cNvSpPr/>
          <p:nvPr/>
        </p:nvSpPr>
        <p:spPr>
          <a:xfrm>
            <a:off x="8095488" y="1783080"/>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p:cNvSpPr txBox="1"/>
          <p:nvPr/>
        </p:nvSpPr>
        <p:spPr>
          <a:xfrm>
            <a:off x="8232648" y="2039112"/>
            <a:ext cx="298704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Streaming &amp; OTT</a:t>
            </a:r>
          </a:p>
        </p:txBody>
      </p:sp>
      <p:sp>
        <p:nvSpPr>
          <p:cNvPr id="13" name="TextBox 13"/>
          <p:cNvSpPr txBox="1"/>
          <p:nvPr/>
        </p:nvSpPr>
        <p:spPr>
          <a:xfrm>
            <a:off x="8232648" y="2788920"/>
            <a:ext cx="2987040" cy="64008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Netflix and Spotify picks</a:t>
            </a:r>
          </a:p>
        </p:txBody>
      </p:sp>
      <p:sp>
        <p:nvSpPr>
          <p:cNvPr id="14" name="Card"/>
          <p:cNvSpPr/>
          <p:nvPr/>
        </p:nvSpPr>
        <p:spPr>
          <a:xfrm>
            <a:off x="841248" y="397764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Card Bar"/>
          <p:cNvSpPr/>
          <p:nvPr/>
        </p:nvSpPr>
        <p:spPr>
          <a:xfrm>
            <a:off x="841248" y="3977640"/>
            <a:ext cx="3261360" cy="11887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978408" y="4233672"/>
            <a:ext cx="298704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Ride-Hailing</a:t>
            </a:r>
          </a:p>
        </p:txBody>
      </p:sp>
      <p:sp>
        <p:nvSpPr>
          <p:cNvPr id="17" name="TextBox 17"/>
          <p:cNvSpPr txBox="1"/>
          <p:nvPr/>
        </p:nvSpPr>
        <p:spPr>
          <a:xfrm>
            <a:off x="978408" y="4983480"/>
            <a:ext cx="2987040" cy="64008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Uber and Ola live matching</a:t>
            </a:r>
          </a:p>
        </p:txBody>
      </p:sp>
      <p:sp>
        <p:nvSpPr>
          <p:cNvPr id="18" name="Card"/>
          <p:cNvSpPr/>
          <p:nvPr/>
        </p:nvSpPr>
        <p:spPr>
          <a:xfrm>
            <a:off x="4468368" y="397764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Card Bar"/>
          <p:cNvSpPr/>
          <p:nvPr/>
        </p:nvSpPr>
        <p:spPr>
          <a:xfrm>
            <a:off x="4468368" y="3977640"/>
            <a:ext cx="3261360" cy="1188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4605528" y="4233672"/>
            <a:ext cx="298704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E-Commerce</a:t>
            </a:r>
          </a:p>
        </p:txBody>
      </p:sp>
      <p:sp>
        <p:nvSpPr>
          <p:cNvPr id="21" name="TextBox 21"/>
          <p:cNvSpPr txBox="1"/>
          <p:nvPr/>
        </p:nvSpPr>
        <p:spPr>
          <a:xfrm>
            <a:off x="4605528" y="4983480"/>
            <a:ext cx="2987040" cy="64008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Amazon and Flipkart stock</a:t>
            </a:r>
          </a:p>
        </p:txBody>
      </p:sp>
      <p:sp>
        <p:nvSpPr>
          <p:cNvPr id="22" name="Card"/>
          <p:cNvSpPr/>
          <p:nvPr/>
        </p:nvSpPr>
        <p:spPr>
          <a:xfrm>
            <a:off x="8095488" y="397764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Card Bar"/>
          <p:cNvSpPr/>
          <p:nvPr/>
        </p:nvSpPr>
        <p:spPr>
          <a:xfrm>
            <a:off x="8095488" y="3977640"/>
            <a:ext cx="3261360" cy="118872"/>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4"/>
          <p:cNvSpPr txBox="1"/>
          <p:nvPr/>
        </p:nvSpPr>
        <p:spPr>
          <a:xfrm>
            <a:off x="8232648" y="4233672"/>
            <a:ext cx="298704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EdTech</a:t>
            </a:r>
          </a:p>
        </p:txBody>
      </p:sp>
      <p:sp>
        <p:nvSpPr>
          <p:cNvPr id="25" name="TextBox 25"/>
          <p:cNvSpPr txBox="1"/>
          <p:nvPr/>
        </p:nvSpPr>
        <p:spPr>
          <a:xfrm>
            <a:off x="8232648" y="4983480"/>
            <a:ext cx="2987040" cy="640080"/>
          </a:xfrm>
          <a:prstGeom prst="rect">
            <a:avLst/>
          </a:prstGeom>
          <a:noFill/>
        </p:spPr>
        <p:txBody>
          <a:bodyPr wrap="square" lIns="0" tIns="18288" rIns="0" bIns="18288" anchor="ctr"/>
          <a:lstStyle/>
          <a:p>
            <a:pPr algn="ctr">
              <a:spcAft>
                <a:spcPts val="400"/>
              </a:spcAft>
            </a:pPr>
            <a:r>
              <a:rPr sz="1600" b="0" i="0">
                <a:solidFill>
                  <a:srgbClr val="5A6472"/>
                </a:solidFill>
                <a:latin typeface="Times New Roman"/>
              </a:rPr>
              <a:t>LMS records, learning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p:cNvSpPr>
            <a:spLocks noGrp="1"/>
          </p:cNvSpPr>
          <p:nvPr>
            <p:ph type="title"/>
          </p:nvPr>
        </p:nvSpPr>
        <p:spPr/>
        <p:txBody>
          <a:bodyPr>
            <a:normAutofit/>
          </a:bodyPr>
          <a:lstStyle/>
          <a:p>
            <a:r>
              <a:rPr sz="3600" b="1">
                <a:solidFill>
                  <a:srgbClr val="0E2841"/>
                </a:solidFill>
                <a:latin typeface="Times New Roman"/>
              </a:rPr>
              <a:t>Real-Life Application: One UPI Payment</a:t>
            </a:r>
          </a:p>
        </p:txBody>
      </p:sp>
      <p:sp>
        <p:nvSpPr>
          <p:cNvPr id="2" name="TextBox 2"/>
          <p:cNvSpPr txBox="1"/>
          <p:nvPr/>
        </p:nvSpPr>
        <p:spPr>
          <a:xfrm>
            <a:off x="841248" y="1691640"/>
            <a:ext cx="10515600" cy="365760"/>
          </a:xfrm>
          <a:prstGeom prst="rect">
            <a:avLst/>
          </a:prstGeom>
          <a:noFill/>
        </p:spPr>
        <p:txBody>
          <a:bodyPr wrap="square" lIns="0" tIns="18288" rIns="0" bIns="18288" anchor="ctr"/>
          <a:lstStyle/>
          <a:p>
            <a:pPr algn="l">
              <a:spcAft>
                <a:spcPts val="400"/>
              </a:spcAft>
            </a:pPr>
            <a:r>
              <a:rPr sz="2200" b="1" i="0">
                <a:solidFill>
                  <a:srgbClr val="156082"/>
                </a:solidFill>
                <a:latin typeface="Times New Roman"/>
              </a:rPr>
              <a:t>What happens behind one tap</a:t>
            </a:r>
          </a:p>
        </p:txBody>
      </p:sp>
      <p:sp>
        <p:nvSpPr>
          <p:cNvPr id="3" name="Card"/>
          <p:cNvSpPr/>
          <p:nvPr/>
        </p:nvSpPr>
        <p:spPr>
          <a:xfrm>
            <a:off x="841248" y="2194560"/>
            <a:ext cx="2423160" cy="22860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ard Bar"/>
          <p:cNvSpPr/>
          <p:nvPr/>
        </p:nvSpPr>
        <p:spPr>
          <a:xfrm>
            <a:off x="841248" y="2194560"/>
            <a:ext cx="24231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Circle"/>
          <p:cNvSpPr/>
          <p:nvPr/>
        </p:nvSpPr>
        <p:spPr>
          <a:xfrm>
            <a:off x="1778508" y="2404872"/>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1778508" y="240487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1</a:t>
            </a:r>
          </a:p>
        </p:txBody>
      </p:sp>
      <p:sp>
        <p:nvSpPr>
          <p:cNvPr id="7" name="TextBox 7"/>
          <p:cNvSpPr txBox="1"/>
          <p:nvPr/>
        </p:nvSpPr>
        <p:spPr>
          <a:xfrm>
            <a:off x="932688" y="3063240"/>
            <a:ext cx="2240280" cy="457200"/>
          </a:xfrm>
          <a:prstGeom prst="rect">
            <a:avLst/>
          </a:prstGeom>
          <a:noFill/>
        </p:spPr>
        <p:txBody>
          <a:bodyPr wrap="square" lIns="0" tIns="18288" rIns="0" bIns="18288" anchor="ctr"/>
          <a:lstStyle/>
          <a:p>
            <a:pPr algn="ctr">
              <a:spcAft>
                <a:spcPts val="400"/>
              </a:spcAft>
            </a:pPr>
            <a:r>
              <a:rPr sz="1800" b="1" i="0">
                <a:solidFill>
                  <a:srgbClr val="0E2841"/>
                </a:solidFill>
                <a:latin typeface="Times New Roman"/>
              </a:rPr>
              <a:t>Tap Pay</a:t>
            </a:r>
          </a:p>
        </p:txBody>
      </p:sp>
      <p:sp>
        <p:nvSpPr>
          <p:cNvPr id="8" name="TextBox 8"/>
          <p:cNvSpPr txBox="1"/>
          <p:nvPr/>
        </p:nvSpPr>
        <p:spPr>
          <a:xfrm>
            <a:off x="932688" y="3520440"/>
            <a:ext cx="2240280" cy="82296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The app sends one request</a:t>
            </a:r>
          </a:p>
        </p:txBody>
      </p:sp>
      <p:sp>
        <p:nvSpPr>
          <p:cNvPr id="9" name="Arrow"/>
          <p:cNvSpPr/>
          <p:nvPr/>
        </p:nvSpPr>
        <p:spPr>
          <a:xfrm>
            <a:off x="3310128" y="3246120"/>
            <a:ext cx="182880" cy="182880"/>
          </a:xfrm>
          <a:prstGeom prst="right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Card"/>
          <p:cNvSpPr/>
          <p:nvPr/>
        </p:nvSpPr>
        <p:spPr>
          <a:xfrm>
            <a:off x="3538728" y="2194560"/>
            <a:ext cx="2423160" cy="22860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Bar"/>
          <p:cNvSpPr/>
          <p:nvPr/>
        </p:nvSpPr>
        <p:spPr>
          <a:xfrm>
            <a:off x="3538728" y="2194560"/>
            <a:ext cx="24231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Circle"/>
          <p:cNvSpPr/>
          <p:nvPr/>
        </p:nvSpPr>
        <p:spPr>
          <a:xfrm>
            <a:off x="4475988" y="2404872"/>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4475988" y="240487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2</a:t>
            </a:r>
          </a:p>
        </p:txBody>
      </p:sp>
      <p:sp>
        <p:nvSpPr>
          <p:cNvPr id="14" name="TextBox 14"/>
          <p:cNvSpPr txBox="1"/>
          <p:nvPr/>
        </p:nvSpPr>
        <p:spPr>
          <a:xfrm>
            <a:off x="3630168" y="3063240"/>
            <a:ext cx="2240280" cy="457200"/>
          </a:xfrm>
          <a:prstGeom prst="rect">
            <a:avLst/>
          </a:prstGeom>
          <a:noFill/>
        </p:spPr>
        <p:txBody>
          <a:bodyPr wrap="square" lIns="0" tIns="18288" rIns="0" bIns="18288" anchor="ctr"/>
          <a:lstStyle/>
          <a:p>
            <a:pPr algn="ctr">
              <a:spcAft>
                <a:spcPts val="400"/>
              </a:spcAft>
            </a:pPr>
            <a:r>
              <a:rPr sz="1800" b="1" i="0">
                <a:solidFill>
                  <a:srgbClr val="0E2841"/>
                </a:solidFill>
                <a:latin typeface="Times New Roman"/>
              </a:rPr>
              <a:t>Screen for fraud</a:t>
            </a:r>
          </a:p>
        </p:txBody>
      </p:sp>
      <p:sp>
        <p:nvSpPr>
          <p:cNvPr id="15" name="TextBox 15"/>
          <p:cNvSpPr txBox="1"/>
          <p:nvPr/>
        </p:nvSpPr>
        <p:spPr>
          <a:xfrm>
            <a:off x="3630168" y="3520440"/>
            <a:ext cx="2240280" cy="82296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A model scores it in milliseconds</a:t>
            </a:r>
          </a:p>
        </p:txBody>
      </p:sp>
      <p:sp>
        <p:nvSpPr>
          <p:cNvPr id="16" name="Arrow"/>
          <p:cNvSpPr/>
          <p:nvPr/>
        </p:nvSpPr>
        <p:spPr>
          <a:xfrm>
            <a:off x="6007608" y="3246120"/>
            <a:ext cx="182880" cy="182880"/>
          </a:xfrm>
          <a:prstGeom prst="right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p:cNvSpPr/>
          <p:nvPr/>
        </p:nvSpPr>
        <p:spPr>
          <a:xfrm>
            <a:off x="6236208" y="2194560"/>
            <a:ext cx="2423160" cy="22860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Card Bar"/>
          <p:cNvSpPr/>
          <p:nvPr/>
        </p:nvSpPr>
        <p:spPr>
          <a:xfrm>
            <a:off x="6236208" y="2194560"/>
            <a:ext cx="24231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Circle"/>
          <p:cNvSpPr/>
          <p:nvPr/>
        </p:nvSpPr>
        <p:spPr>
          <a:xfrm>
            <a:off x="7173468" y="2404872"/>
            <a:ext cx="548640" cy="548640"/>
          </a:xfrm>
          <a:prstGeom prst="ellipse">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7173468" y="240487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3</a:t>
            </a:r>
          </a:p>
        </p:txBody>
      </p:sp>
      <p:sp>
        <p:nvSpPr>
          <p:cNvPr id="21" name="TextBox 21"/>
          <p:cNvSpPr txBox="1"/>
          <p:nvPr/>
        </p:nvSpPr>
        <p:spPr>
          <a:xfrm>
            <a:off x="6327648" y="3063240"/>
            <a:ext cx="2240280" cy="457200"/>
          </a:xfrm>
          <a:prstGeom prst="rect">
            <a:avLst/>
          </a:prstGeom>
          <a:noFill/>
        </p:spPr>
        <p:txBody>
          <a:bodyPr wrap="square" lIns="0" tIns="18288" rIns="0" bIns="18288" anchor="ctr"/>
          <a:lstStyle/>
          <a:p>
            <a:pPr algn="ctr">
              <a:spcAft>
                <a:spcPts val="400"/>
              </a:spcAft>
            </a:pPr>
            <a:r>
              <a:rPr sz="1800" b="1" i="0">
                <a:solidFill>
                  <a:srgbClr val="0E2841"/>
                </a:solidFill>
                <a:latin typeface="Times New Roman"/>
              </a:rPr>
              <a:t>Move the money</a:t>
            </a:r>
          </a:p>
        </p:txBody>
      </p:sp>
      <p:sp>
        <p:nvSpPr>
          <p:cNvPr id="22" name="TextBox 22"/>
          <p:cNvSpPr txBox="1"/>
          <p:nvPr/>
        </p:nvSpPr>
        <p:spPr>
          <a:xfrm>
            <a:off x="6327648" y="3520440"/>
            <a:ext cx="2240280" cy="82296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Debit and credit, atomically</a:t>
            </a:r>
          </a:p>
        </p:txBody>
      </p:sp>
      <p:sp>
        <p:nvSpPr>
          <p:cNvPr id="23" name="Arrow"/>
          <p:cNvSpPr/>
          <p:nvPr/>
        </p:nvSpPr>
        <p:spPr>
          <a:xfrm>
            <a:off x="8705088" y="3246120"/>
            <a:ext cx="182880" cy="182880"/>
          </a:xfrm>
          <a:prstGeom prst="rightArrow">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Card"/>
          <p:cNvSpPr/>
          <p:nvPr/>
        </p:nvSpPr>
        <p:spPr>
          <a:xfrm>
            <a:off x="8933688" y="2194560"/>
            <a:ext cx="2423160" cy="22860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rd Bar"/>
          <p:cNvSpPr/>
          <p:nvPr/>
        </p:nvSpPr>
        <p:spPr>
          <a:xfrm>
            <a:off x="8933688" y="2194560"/>
            <a:ext cx="2423160" cy="118872"/>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Circle"/>
          <p:cNvSpPr/>
          <p:nvPr/>
        </p:nvSpPr>
        <p:spPr>
          <a:xfrm>
            <a:off x="9870948" y="2404872"/>
            <a:ext cx="548640" cy="548640"/>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7"/>
          <p:cNvSpPr txBox="1"/>
          <p:nvPr/>
        </p:nvSpPr>
        <p:spPr>
          <a:xfrm>
            <a:off x="9870948" y="240487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4</a:t>
            </a:r>
          </a:p>
        </p:txBody>
      </p:sp>
      <p:sp>
        <p:nvSpPr>
          <p:cNvPr id="28" name="TextBox 28"/>
          <p:cNvSpPr txBox="1"/>
          <p:nvPr/>
        </p:nvSpPr>
        <p:spPr>
          <a:xfrm>
            <a:off x="9025128" y="3063240"/>
            <a:ext cx="2240280" cy="457200"/>
          </a:xfrm>
          <a:prstGeom prst="rect">
            <a:avLst/>
          </a:prstGeom>
          <a:noFill/>
        </p:spPr>
        <p:txBody>
          <a:bodyPr wrap="square" lIns="0" tIns="18288" rIns="0" bIns="18288" anchor="ctr"/>
          <a:lstStyle/>
          <a:p>
            <a:pPr algn="ctr">
              <a:spcAft>
                <a:spcPts val="400"/>
              </a:spcAft>
            </a:pPr>
            <a:r>
              <a:rPr sz="1800" b="1" i="0">
                <a:solidFill>
                  <a:srgbClr val="0E2841"/>
                </a:solidFill>
                <a:latin typeface="Times New Roman"/>
              </a:rPr>
              <a:t>Confirm</a:t>
            </a:r>
          </a:p>
        </p:txBody>
      </p:sp>
      <p:sp>
        <p:nvSpPr>
          <p:cNvPr id="29" name="TextBox 29"/>
          <p:cNvSpPr txBox="1"/>
          <p:nvPr/>
        </p:nvSpPr>
        <p:spPr>
          <a:xfrm>
            <a:off x="9025128" y="3520440"/>
            <a:ext cx="2240280" cy="82296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Both apps show the same balance</a:t>
            </a:r>
          </a:p>
        </p:txBody>
      </p:sp>
      <p:sp>
        <p:nvSpPr>
          <p:cNvPr id="30" name="Row"/>
          <p:cNvSpPr/>
          <p:nvPr/>
        </p:nvSpPr>
        <p:spPr>
          <a:xfrm>
            <a:off x="841248" y="4754880"/>
            <a:ext cx="10515600" cy="7315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w Bar"/>
          <p:cNvSpPr/>
          <p:nvPr/>
        </p:nvSpPr>
        <p:spPr>
          <a:xfrm>
            <a:off x="841248" y="4754880"/>
            <a:ext cx="109728" cy="73152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2"/>
          <p:cNvSpPr txBox="1"/>
          <p:nvPr/>
        </p:nvSpPr>
        <p:spPr>
          <a:xfrm>
            <a:off x="841248" y="4754880"/>
            <a:ext cx="10515600" cy="73152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Under two seconds.  Nationwide.  24×7.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1"/>
          <p:cNvSpPr>
            <a:spLocks noGrp="1"/>
          </p:cNvSpPr>
          <p:nvPr>
            <p:ph type="title"/>
          </p:nvPr>
        </p:nvSpPr>
        <p:spPr/>
        <p:txBody>
          <a:bodyPr>
            <a:normAutofit/>
          </a:bodyPr>
          <a:lstStyle/>
          <a:p>
            <a:r>
              <a:rPr sz="3600" b="1">
                <a:solidFill>
                  <a:srgbClr val="0E2841"/>
                </a:solidFill>
                <a:latin typeface="Times New Roman"/>
              </a:rPr>
              <a:t>Files vs RDBMS vs Cloud-Native</a:t>
            </a:r>
          </a:p>
        </p:txBody>
      </p:sp>
      <p:sp>
        <p:nvSpPr>
          <p:cNvPr id="2" name="Chip"/>
          <p:cNvSpPr/>
          <p:nvPr/>
        </p:nvSpPr>
        <p:spPr>
          <a:xfrm>
            <a:off x="841248" y="1691640"/>
            <a:ext cx="3261360" cy="594360"/>
          </a:xfrm>
          <a:prstGeom prst="roundRect">
            <a:avLst>
              <a:gd name="adj" fmla="val 25000"/>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3"/>
          <p:cNvSpPr txBox="1"/>
          <p:nvPr/>
        </p:nvSpPr>
        <p:spPr>
          <a:xfrm>
            <a:off x="841248" y="1691640"/>
            <a:ext cx="3261360" cy="594360"/>
          </a:xfrm>
          <a:prstGeom prst="rect">
            <a:avLst/>
          </a:prstGeom>
          <a:noFill/>
        </p:spPr>
        <p:txBody>
          <a:bodyPr wrap="square" lIns="0" tIns="18288" rIns="0" bIns="18288" anchor="ctr"/>
          <a:lstStyle/>
          <a:p>
            <a:pPr algn="ctr">
              <a:spcAft>
                <a:spcPts val="400"/>
              </a:spcAft>
            </a:pPr>
            <a:r>
              <a:rPr sz="1900" b="1" i="0">
                <a:solidFill>
                  <a:srgbClr val="FFFFFF"/>
                </a:solidFill>
                <a:latin typeface="Times New Roman"/>
              </a:rPr>
              <a:t>Manual Files</a:t>
            </a:r>
          </a:p>
        </p:txBody>
      </p:sp>
      <p:sp>
        <p:nvSpPr>
          <p:cNvPr id="4" name="Chip"/>
          <p:cNvSpPr/>
          <p:nvPr/>
        </p:nvSpPr>
        <p:spPr>
          <a:xfrm>
            <a:off x="4468368" y="1691640"/>
            <a:ext cx="3261360" cy="594360"/>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4468368" y="1691640"/>
            <a:ext cx="3261360" cy="594360"/>
          </a:xfrm>
          <a:prstGeom prst="rect">
            <a:avLst/>
          </a:prstGeom>
          <a:noFill/>
        </p:spPr>
        <p:txBody>
          <a:bodyPr wrap="square" lIns="0" tIns="18288" rIns="0" bIns="18288" anchor="ctr"/>
          <a:lstStyle/>
          <a:p>
            <a:pPr algn="ctr">
              <a:spcAft>
                <a:spcPts val="400"/>
              </a:spcAft>
            </a:pPr>
            <a:r>
              <a:rPr sz="1900" b="1" i="0">
                <a:solidFill>
                  <a:srgbClr val="FFFFFF"/>
                </a:solidFill>
                <a:latin typeface="Times New Roman"/>
              </a:rPr>
              <a:t>Traditional RDBMS</a:t>
            </a:r>
          </a:p>
        </p:txBody>
      </p:sp>
      <p:sp>
        <p:nvSpPr>
          <p:cNvPr id="6" name="Chip"/>
          <p:cNvSpPr/>
          <p:nvPr/>
        </p:nvSpPr>
        <p:spPr>
          <a:xfrm>
            <a:off x="8095488" y="1691640"/>
            <a:ext cx="3261360" cy="594360"/>
          </a:xfrm>
          <a:prstGeom prst="roundRect">
            <a:avLst>
              <a:gd name="adj" fmla="val 25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8095488" y="1691640"/>
            <a:ext cx="3261360" cy="594360"/>
          </a:xfrm>
          <a:prstGeom prst="rect">
            <a:avLst/>
          </a:prstGeom>
          <a:noFill/>
        </p:spPr>
        <p:txBody>
          <a:bodyPr wrap="square" lIns="0" tIns="18288" rIns="0" bIns="18288" anchor="ctr"/>
          <a:lstStyle/>
          <a:p>
            <a:pPr algn="ctr">
              <a:spcAft>
                <a:spcPts val="400"/>
              </a:spcAft>
            </a:pPr>
            <a:r>
              <a:rPr sz="1900" b="1" i="0">
                <a:solidFill>
                  <a:srgbClr val="FFFFFF"/>
                </a:solidFill>
                <a:latin typeface="Times New Roman"/>
              </a:rPr>
              <a:t>Cloud-Native DB</a:t>
            </a:r>
          </a:p>
        </p:txBody>
      </p:sp>
      <p:sp>
        <p:nvSpPr>
          <p:cNvPr id="8" name="Panel"/>
          <p:cNvSpPr/>
          <p:nvPr/>
        </p:nvSpPr>
        <p:spPr>
          <a:xfrm>
            <a:off x="841248" y="242316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9"/>
          <p:cNvSpPr txBox="1"/>
          <p:nvPr/>
        </p:nvSpPr>
        <p:spPr>
          <a:xfrm>
            <a:off x="978408" y="242316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Duplicate copies everywhere</a:t>
            </a:r>
          </a:p>
        </p:txBody>
      </p:sp>
      <p:sp>
        <p:nvSpPr>
          <p:cNvPr id="10" name="Panel"/>
          <p:cNvSpPr/>
          <p:nvPr/>
        </p:nvSpPr>
        <p:spPr>
          <a:xfrm>
            <a:off x="4468368" y="242316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4605528" y="242316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One set of related tables</a:t>
            </a:r>
          </a:p>
        </p:txBody>
      </p:sp>
      <p:sp>
        <p:nvSpPr>
          <p:cNvPr id="12" name="Panel"/>
          <p:cNvSpPr/>
          <p:nvPr/>
        </p:nvSpPr>
        <p:spPr>
          <a:xfrm>
            <a:off x="8095488" y="242316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8232648" y="242316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Auto-scales across regions</a:t>
            </a:r>
          </a:p>
        </p:txBody>
      </p:sp>
      <p:sp>
        <p:nvSpPr>
          <p:cNvPr id="14" name="Panel"/>
          <p:cNvSpPr/>
          <p:nvPr/>
        </p:nvSpPr>
        <p:spPr>
          <a:xfrm>
            <a:off x="841248" y="324612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5"/>
          <p:cNvSpPr txBox="1"/>
          <p:nvPr/>
        </p:nvSpPr>
        <p:spPr>
          <a:xfrm>
            <a:off x="978408" y="324612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Searching by hand</a:t>
            </a:r>
          </a:p>
        </p:txBody>
      </p:sp>
      <p:sp>
        <p:nvSpPr>
          <p:cNvPr id="16" name="Panel"/>
          <p:cNvSpPr/>
          <p:nvPr/>
        </p:nvSpPr>
        <p:spPr>
          <a:xfrm>
            <a:off x="4468368" y="324612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7"/>
          <p:cNvSpPr txBox="1"/>
          <p:nvPr/>
        </p:nvSpPr>
        <p:spPr>
          <a:xfrm>
            <a:off x="4605528" y="324612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Structured SQL queries</a:t>
            </a:r>
          </a:p>
        </p:txBody>
      </p:sp>
      <p:sp>
        <p:nvSpPr>
          <p:cNvPr id="18" name="Panel"/>
          <p:cNvSpPr/>
          <p:nvPr/>
        </p:nvSpPr>
        <p:spPr>
          <a:xfrm>
            <a:off x="8095488" y="324612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9"/>
          <p:cNvSpPr txBox="1"/>
          <p:nvPr/>
        </p:nvSpPr>
        <p:spPr>
          <a:xfrm>
            <a:off x="8232648" y="324612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Sub-second at any scale</a:t>
            </a:r>
          </a:p>
        </p:txBody>
      </p:sp>
      <p:sp>
        <p:nvSpPr>
          <p:cNvPr id="20" name="Panel"/>
          <p:cNvSpPr/>
          <p:nvPr/>
        </p:nvSpPr>
        <p:spPr>
          <a:xfrm>
            <a:off x="841248" y="406908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978408" y="406908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No real security</a:t>
            </a:r>
          </a:p>
        </p:txBody>
      </p:sp>
      <p:sp>
        <p:nvSpPr>
          <p:cNvPr id="22" name="Panel"/>
          <p:cNvSpPr/>
          <p:nvPr/>
        </p:nvSpPr>
        <p:spPr>
          <a:xfrm>
            <a:off x="4468368" y="406908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3"/>
          <p:cNvSpPr txBox="1"/>
          <p:nvPr/>
        </p:nvSpPr>
        <p:spPr>
          <a:xfrm>
            <a:off x="4605528" y="406908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Roles and permissions</a:t>
            </a:r>
          </a:p>
        </p:txBody>
      </p:sp>
      <p:sp>
        <p:nvSpPr>
          <p:cNvPr id="24" name="Panel"/>
          <p:cNvSpPr/>
          <p:nvPr/>
        </p:nvSpPr>
        <p:spPr>
          <a:xfrm>
            <a:off x="8095488" y="406908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5"/>
          <p:cNvSpPr txBox="1"/>
          <p:nvPr/>
        </p:nvSpPr>
        <p:spPr>
          <a:xfrm>
            <a:off x="8232648" y="406908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Encrypted by default</a:t>
            </a:r>
          </a:p>
        </p:txBody>
      </p:sp>
      <p:sp>
        <p:nvSpPr>
          <p:cNvPr id="26" name="Panel"/>
          <p:cNvSpPr/>
          <p:nvPr/>
        </p:nvSpPr>
        <p:spPr>
          <a:xfrm>
            <a:off x="841248" y="489204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7"/>
          <p:cNvSpPr txBox="1"/>
          <p:nvPr/>
        </p:nvSpPr>
        <p:spPr>
          <a:xfrm>
            <a:off x="978408" y="489204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Recovery by luck</a:t>
            </a:r>
          </a:p>
        </p:txBody>
      </p:sp>
      <p:sp>
        <p:nvSpPr>
          <p:cNvPr id="28" name="Panel"/>
          <p:cNvSpPr/>
          <p:nvPr/>
        </p:nvSpPr>
        <p:spPr>
          <a:xfrm>
            <a:off x="4468368" y="489204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9"/>
          <p:cNvSpPr txBox="1"/>
          <p:nvPr/>
        </p:nvSpPr>
        <p:spPr>
          <a:xfrm>
            <a:off x="4605528" y="489204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Scheduled backups</a:t>
            </a:r>
          </a:p>
        </p:txBody>
      </p:sp>
      <p:sp>
        <p:nvSpPr>
          <p:cNvPr id="30" name="Panel"/>
          <p:cNvSpPr/>
          <p:nvPr/>
        </p:nvSpPr>
        <p:spPr>
          <a:xfrm>
            <a:off x="8095488" y="4892040"/>
            <a:ext cx="3261360" cy="6858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1"/>
          <p:cNvSpPr txBox="1"/>
          <p:nvPr/>
        </p:nvSpPr>
        <p:spPr>
          <a:xfrm>
            <a:off x="8232648" y="4892040"/>
            <a:ext cx="2987040" cy="685800"/>
          </a:xfrm>
          <a:prstGeom prst="rect">
            <a:avLst/>
          </a:prstGeom>
          <a:noFill/>
        </p:spPr>
        <p:txBody>
          <a:bodyPr wrap="square" lIns="0" tIns="18288" rIns="0" bIns="18288" anchor="ctr"/>
          <a:lstStyle/>
          <a:p>
            <a:pPr algn="ctr">
              <a:spcAft>
                <a:spcPts val="400"/>
              </a:spcAft>
            </a:pPr>
            <a:r>
              <a:rPr sz="1600" b="0" i="0">
                <a:solidFill>
                  <a:srgbClr val="2B2B2B"/>
                </a:solidFill>
                <a:latin typeface="Times New Roman"/>
              </a:rPr>
              <a:t>Fails over in seconds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a:spLocks noGrp="1"/>
          </p:cNvSpPr>
          <p:nvPr>
            <p:ph type="title"/>
          </p:nvPr>
        </p:nvSpPr>
        <p:spPr/>
        <p:txBody>
          <a:bodyPr>
            <a:normAutofit/>
          </a:bodyPr>
          <a:lstStyle/>
          <a:p>
            <a:r>
              <a:rPr sz="3600" b="1">
                <a:solidFill>
                  <a:srgbClr val="0E2841"/>
                </a:solidFill>
                <a:latin typeface="Times New Roman"/>
              </a:rPr>
              <a:t>Hands-on Task</a:t>
            </a:r>
          </a:p>
        </p:txBody>
      </p:sp>
      <p:sp>
        <p:nvSpPr>
          <p:cNvPr id="2" name="TextBox 2"/>
          <p:cNvSpPr txBox="1"/>
          <p:nvPr/>
        </p:nvSpPr>
        <p:spPr>
          <a:xfrm>
            <a:off x="841248" y="1691640"/>
            <a:ext cx="5074920" cy="365760"/>
          </a:xfrm>
          <a:prstGeom prst="rect">
            <a:avLst/>
          </a:prstGeom>
          <a:noFill/>
        </p:spPr>
        <p:txBody>
          <a:bodyPr wrap="square" lIns="0" tIns="18288" rIns="0" bIns="18288" anchor="ctr"/>
          <a:lstStyle/>
          <a:p>
            <a:pPr algn="l">
              <a:spcAft>
                <a:spcPts val="400"/>
              </a:spcAft>
            </a:pPr>
            <a:r>
              <a:rPr sz="2000" b="1" i="0">
                <a:solidFill>
                  <a:srgbClr val="156082"/>
                </a:solidFill>
                <a:latin typeface="Times New Roman"/>
              </a:rPr>
              <a:t>Your turn — 10 minutes</a:t>
            </a:r>
          </a:p>
        </p:txBody>
      </p:sp>
      <p:sp>
        <p:nvSpPr>
          <p:cNvPr id="3" name="TextBox 3"/>
          <p:cNvSpPr txBox="1"/>
          <p:nvPr/>
        </p:nvSpPr>
        <p:spPr>
          <a:xfrm>
            <a:off x="6281928" y="1691640"/>
            <a:ext cx="5074920" cy="365760"/>
          </a:xfrm>
          <a:prstGeom prst="rect">
            <a:avLst/>
          </a:prstGeom>
          <a:noFill/>
        </p:spPr>
        <p:txBody>
          <a:bodyPr wrap="square" lIns="0" tIns="18288" rIns="0" bIns="18288" anchor="ctr"/>
          <a:lstStyle/>
          <a:p>
            <a:pPr algn="l">
              <a:spcAft>
                <a:spcPts val="400"/>
              </a:spcAft>
            </a:pPr>
            <a:r>
              <a:rPr sz="2000" b="1" i="0">
                <a:solidFill>
                  <a:srgbClr val="E97132"/>
                </a:solidFill>
                <a:latin typeface="Times New Roman"/>
              </a:rPr>
              <a:t>Worked example</a:t>
            </a:r>
          </a:p>
        </p:txBody>
      </p:sp>
      <p:sp>
        <p:nvSpPr>
          <p:cNvPr id="4" name="Row"/>
          <p:cNvSpPr/>
          <p:nvPr/>
        </p:nvSpPr>
        <p:spPr>
          <a:xfrm>
            <a:off x="841248" y="2148840"/>
            <a:ext cx="50749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ow Bar"/>
          <p:cNvSpPr/>
          <p:nvPr/>
        </p:nvSpPr>
        <p:spPr>
          <a:xfrm>
            <a:off x="841248" y="2148840"/>
            <a:ext cx="109728"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Badge"/>
          <p:cNvSpPr/>
          <p:nvPr/>
        </p:nvSpPr>
        <p:spPr>
          <a:xfrm>
            <a:off x="1069848" y="2286000"/>
            <a:ext cx="640080" cy="640080"/>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1069848" y="2286000"/>
            <a:ext cx="640080" cy="64008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1</a:t>
            </a:r>
          </a:p>
        </p:txBody>
      </p:sp>
      <p:sp>
        <p:nvSpPr>
          <p:cNvPr id="8" name="TextBox 8"/>
          <p:cNvSpPr txBox="1"/>
          <p:nvPr/>
        </p:nvSpPr>
        <p:spPr>
          <a:xfrm>
            <a:off x="1938528" y="2148840"/>
            <a:ext cx="3703320" cy="914400"/>
          </a:xfrm>
          <a:prstGeom prst="rect">
            <a:avLst/>
          </a:prstGeom>
          <a:noFill/>
        </p:spPr>
        <p:txBody>
          <a:bodyPr wrap="square" lIns="0" tIns="18288" rIns="0" bIns="18288" anchor="ctr"/>
          <a:lstStyle/>
          <a:p>
            <a:pPr algn="l">
              <a:spcAft>
                <a:spcPts val="400"/>
              </a:spcAft>
            </a:pPr>
            <a:r>
              <a:rPr sz="1800" b="0" i="0">
                <a:solidFill>
                  <a:srgbClr val="2B2B2B"/>
                </a:solidFill>
                <a:latin typeface="Times New Roman"/>
              </a:rPr>
              <a:t>Pick any app you have used today</a:t>
            </a:r>
          </a:p>
        </p:txBody>
      </p:sp>
      <p:sp>
        <p:nvSpPr>
          <p:cNvPr id="9" name="Row"/>
          <p:cNvSpPr/>
          <p:nvPr/>
        </p:nvSpPr>
        <p:spPr>
          <a:xfrm>
            <a:off x="841248" y="3291840"/>
            <a:ext cx="50749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w Bar"/>
          <p:cNvSpPr/>
          <p:nvPr/>
        </p:nvSpPr>
        <p:spPr>
          <a:xfrm>
            <a:off x="841248" y="3291840"/>
            <a:ext cx="109728" cy="914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Badge"/>
          <p:cNvSpPr/>
          <p:nvPr/>
        </p:nvSpPr>
        <p:spPr>
          <a:xfrm>
            <a:off x="1069848" y="3429000"/>
            <a:ext cx="640080" cy="640080"/>
          </a:xfrm>
          <a:prstGeom prst="roundRect">
            <a:avLst>
              <a:gd name="adj" fmla="val 2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p:cNvSpPr txBox="1"/>
          <p:nvPr/>
        </p:nvSpPr>
        <p:spPr>
          <a:xfrm>
            <a:off x="1069848" y="3429000"/>
            <a:ext cx="640080" cy="64008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2</a:t>
            </a:r>
          </a:p>
        </p:txBody>
      </p:sp>
      <p:sp>
        <p:nvSpPr>
          <p:cNvPr id="13" name="TextBox 13"/>
          <p:cNvSpPr txBox="1"/>
          <p:nvPr/>
        </p:nvSpPr>
        <p:spPr>
          <a:xfrm>
            <a:off x="1938528" y="3291840"/>
            <a:ext cx="3703320" cy="914400"/>
          </a:xfrm>
          <a:prstGeom prst="rect">
            <a:avLst/>
          </a:prstGeom>
          <a:noFill/>
        </p:spPr>
        <p:txBody>
          <a:bodyPr wrap="square" lIns="0" tIns="18288" rIns="0" bIns="18288" anchor="ctr"/>
          <a:lstStyle/>
          <a:p>
            <a:pPr algn="l">
              <a:spcAft>
                <a:spcPts val="400"/>
              </a:spcAft>
            </a:pPr>
            <a:r>
              <a:rPr sz="1800" b="0" i="0">
                <a:solidFill>
                  <a:srgbClr val="2B2B2B"/>
                </a:solidFill>
                <a:latin typeface="Times New Roman"/>
              </a:rPr>
              <a:t>List the data its database must store</a:t>
            </a:r>
          </a:p>
        </p:txBody>
      </p:sp>
      <p:sp>
        <p:nvSpPr>
          <p:cNvPr id="14" name="Row"/>
          <p:cNvSpPr/>
          <p:nvPr/>
        </p:nvSpPr>
        <p:spPr>
          <a:xfrm>
            <a:off x="841248" y="4434840"/>
            <a:ext cx="507492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w Bar"/>
          <p:cNvSpPr/>
          <p:nvPr/>
        </p:nvSpPr>
        <p:spPr>
          <a:xfrm>
            <a:off x="841248" y="4434840"/>
            <a:ext cx="109728" cy="9144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Badge"/>
          <p:cNvSpPr/>
          <p:nvPr/>
        </p:nvSpPr>
        <p:spPr>
          <a:xfrm>
            <a:off x="1069848" y="4572000"/>
            <a:ext cx="640080" cy="64008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7"/>
          <p:cNvSpPr txBox="1"/>
          <p:nvPr/>
        </p:nvSpPr>
        <p:spPr>
          <a:xfrm>
            <a:off x="1069848" y="4572000"/>
            <a:ext cx="640080" cy="64008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3</a:t>
            </a:r>
          </a:p>
        </p:txBody>
      </p:sp>
      <p:sp>
        <p:nvSpPr>
          <p:cNvPr id="18" name="TextBox 18"/>
          <p:cNvSpPr txBox="1"/>
          <p:nvPr/>
        </p:nvSpPr>
        <p:spPr>
          <a:xfrm>
            <a:off x="1938528" y="4434840"/>
            <a:ext cx="3703320" cy="914400"/>
          </a:xfrm>
          <a:prstGeom prst="rect">
            <a:avLst/>
          </a:prstGeom>
          <a:noFill/>
        </p:spPr>
        <p:txBody>
          <a:bodyPr wrap="square" lIns="0" tIns="18288" rIns="0" bIns="18288" anchor="ctr"/>
          <a:lstStyle/>
          <a:p>
            <a:pPr algn="l">
              <a:spcAft>
                <a:spcPts val="400"/>
              </a:spcAft>
            </a:pPr>
            <a:r>
              <a:rPr sz="1800" b="0" i="0">
                <a:solidFill>
                  <a:srgbClr val="2B2B2B"/>
                </a:solidFill>
                <a:latin typeface="Times New Roman"/>
              </a:rPr>
              <a:t>Name the characteristic it depends on most</a:t>
            </a:r>
          </a:p>
        </p:txBody>
      </p:sp>
      <p:sp>
        <p:nvSpPr>
          <p:cNvPr id="19" name="Panel"/>
          <p:cNvSpPr/>
          <p:nvPr/>
        </p:nvSpPr>
        <p:spPr>
          <a:xfrm>
            <a:off x="6281928" y="2148840"/>
            <a:ext cx="5074920" cy="3200400"/>
          </a:xfrm>
          <a:prstGeom prst="roundRect">
            <a:avLst>
              <a:gd name="adj" fmla="val 7000"/>
            </a:avLst>
          </a:prstGeom>
          <a:solidFill>
            <a:srgbClr val="E8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6601968" y="2377440"/>
            <a:ext cx="4434840" cy="2743200"/>
          </a:xfrm>
          <a:prstGeom prst="rect">
            <a:avLst/>
          </a:prstGeom>
          <a:noFill/>
        </p:spPr>
        <p:txBody>
          <a:bodyPr wrap="square" lIns="0" tIns="18288" rIns="0" bIns="18288" anchor="t"/>
          <a:lstStyle/>
          <a:p>
            <a:pPr algn="l">
              <a:spcAft>
                <a:spcPts val="400"/>
              </a:spcAft>
            </a:pPr>
            <a:r>
              <a:rPr sz="1900" b="1" i="0">
                <a:solidFill>
                  <a:srgbClr val="0E2841"/>
                </a:solidFill>
                <a:latin typeface="Times New Roman"/>
              </a:rPr>
              <a:t>Zomato</a:t>
            </a:r>
          </a:p>
          <a:p>
            <a:pPr algn="l">
              <a:spcAft>
                <a:spcPts val="400"/>
              </a:spcAft>
            </a:pPr>
            <a:endParaRPr/>
          </a:p>
          <a:p>
            <a:pPr algn="l">
              <a:spcAft>
                <a:spcPts val="400"/>
              </a:spcAft>
            </a:pPr>
            <a:r>
              <a:rPr sz="1500" b="0" i="0">
                <a:solidFill>
                  <a:srgbClr val="2B2B2B"/>
                </a:solidFill>
                <a:latin typeface="Consolas"/>
              </a:rPr>
              <a:t>Stores    menus, orders, riders,</a:t>
            </a:r>
          </a:p>
          <a:p>
            <a:pPr algn="l">
              <a:spcAft>
                <a:spcPts val="400"/>
              </a:spcAft>
            </a:pPr>
            <a:r>
              <a:rPr sz="1500" b="0" i="0">
                <a:solidFill>
                  <a:srgbClr val="2B2B2B"/>
                </a:solidFill>
                <a:latin typeface="Consolas"/>
              </a:rPr>
              <a:t>          payments, ratings</a:t>
            </a:r>
          </a:p>
          <a:p>
            <a:pPr algn="l">
              <a:spcAft>
                <a:spcPts val="400"/>
              </a:spcAft>
            </a:pPr>
            <a:endParaRPr/>
          </a:p>
          <a:p>
            <a:pPr algn="l">
              <a:spcAft>
                <a:spcPts val="400"/>
              </a:spcAft>
            </a:pPr>
            <a:r>
              <a:rPr sz="1500" b="0" i="0">
                <a:solidFill>
                  <a:srgbClr val="2B2B2B"/>
                </a:solidFill>
                <a:latin typeface="Consolas"/>
              </a:rPr>
              <a:t>Needs     concurrent access</a:t>
            </a:r>
          </a:p>
          <a:p>
            <a:pPr algn="l">
              <a:spcAft>
                <a:spcPts val="400"/>
              </a:spcAft>
            </a:pPr>
            <a:r>
              <a:rPr sz="1500" b="0" i="0">
                <a:solidFill>
                  <a:srgbClr val="2B2B2B"/>
                </a:solidFill>
                <a:latin typeface="Consolas"/>
              </a:rPr>
              <a:t>          at dinner peak</a:t>
            </a:r>
          </a:p>
          <a:p>
            <a:pPr algn="l">
              <a:spcAft>
                <a:spcPts val="400"/>
              </a:spcAft>
            </a:pPr>
            <a:endParaRPr/>
          </a:p>
          <a:p>
            <a:pPr algn="l">
              <a:spcAft>
                <a:spcPts val="400"/>
              </a:spcAft>
            </a:pPr>
            <a:r>
              <a:rPr sz="1500" b="0" i="0">
                <a:solidFill>
                  <a:srgbClr val="196B24"/>
                </a:solidFill>
                <a:latin typeface="Consolas"/>
              </a:rPr>
              <a:t>Also      ACID on payment</a:t>
            </a:r>
          </a:p>
          <a:p>
            <a:pPr algn="l">
              <a:spcAft>
                <a:spcPts val="400"/>
              </a:spcAft>
            </a:pPr>
            <a:r>
              <a:rPr sz="1500" b="0" i="0">
                <a:solidFill>
                  <a:srgbClr val="196B24"/>
                </a:solidFill>
                <a:latin typeface="Consolas"/>
              </a:rPr>
              <a:t>          failover at 8 pm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p:cNvSpPr>
            <a:spLocks noGrp="1"/>
          </p:cNvSpPr>
          <p:nvPr>
            <p:ph type="title"/>
          </p:nvPr>
        </p:nvSpPr>
        <p:spPr/>
        <p:txBody>
          <a:bodyPr>
            <a:normAutofit/>
          </a:bodyPr>
          <a:lstStyle/>
          <a:p>
            <a:r>
              <a:rPr sz="3600" b="1">
                <a:solidFill>
                  <a:srgbClr val="0E2841"/>
                </a:solidFill>
                <a:latin typeface="Times New Roman"/>
              </a:rPr>
              <a:t>Think – Pair – Share</a:t>
            </a:r>
          </a:p>
        </p:txBody>
      </p:sp>
      <p:sp>
        <p:nvSpPr>
          <p:cNvPr id="2" name="Panel"/>
          <p:cNvSpPr/>
          <p:nvPr/>
        </p:nvSpPr>
        <p:spPr>
          <a:xfrm>
            <a:off x="841248" y="1737360"/>
            <a:ext cx="1051560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3"/>
          <p:cNvSpPr txBox="1"/>
          <p:nvPr/>
        </p:nvSpPr>
        <p:spPr>
          <a:xfrm>
            <a:off x="1298448" y="1737360"/>
            <a:ext cx="9601200" cy="914400"/>
          </a:xfrm>
          <a:prstGeom prst="rect">
            <a:avLst/>
          </a:prstGeom>
          <a:noFill/>
        </p:spPr>
        <p:txBody>
          <a:bodyPr wrap="square" lIns="0" tIns="18288" rIns="0" bIns="18288" anchor="ctr"/>
          <a:lstStyle/>
          <a:p>
            <a:pPr algn="ctr">
              <a:spcAft>
                <a:spcPts val="400"/>
              </a:spcAft>
            </a:pPr>
            <a:r>
              <a:rPr sz="2100" b="1" i="0">
                <a:solidFill>
                  <a:srgbClr val="0E2841"/>
                </a:solidFill>
                <a:latin typeface="Times New Roman"/>
              </a:rPr>
              <a:t>A food-delivery app keeps the same menu in five different services. What goes wrong, and which characteristic fixes it?</a:t>
            </a:r>
          </a:p>
        </p:txBody>
      </p:sp>
      <p:sp>
        <p:nvSpPr>
          <p:cNvPr id="4" name="Card"/>
          <p:cNvSpPr/>
          <p:nvPr/>
        </p:nvSpPr>
        <p:spPr>
          <a:xfrm>
            <a:off x="841248" y="301752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Card Bar"/>
          <p:cNvSpPr/>
          <p:nvPr/>
        </p:nvSpPr>
        <p:spPr>
          <a:xfrm>
            <a:off x="841248" y="3017520"/>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ircle"/>
          <p:cNvSpPr/>
          <p:nvPr/>
        </p:nvSpPr>
        <p:spPr>
          <a:xfrm>
            <a:off x="2197608" y="3273552"/>
            <a:ext cx="548640" cy="5486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7"/>
          <p:cNvSpPr txBox="1"/>
          <p:nvPr/>
        </p:nvSpPr>
        <p:spPr>
          <a:xfrm>
            <a:off x="2197608" y="327355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1</a:t>
            </a:r>
          </a:p>
        </p:txBody>
      </p:sp>
      <p:sp>
        <p:nvSpPr>
          <p:cNvPr id="8" name="TextBox 8"/>
          <p:cNvSpPr txBox="1"/>
          <p:nvPr/>
        </p:nvSpPr>
        <p:spPr>
          <a:xfrm>
            <a:off x="978408" y="3931920"/>
            <a:ext cx="2987040" cy="45720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Think</a:t>
            </a:r>
          </a:p>
        </p:txBody>
      </p:sp>
      <p:sp>
        <p:nvSpPr>
          <p:cNvPr id="9" name="TextBox 9"/>
          <p:cNvSpPr txBox="1"/>
          <p:nvPr/>
        </p:nvSpPr>
        <p:spPr>
          <a:xfrm>
            <a:off x="978408" y="4343400"/>
            <a:ext cx="2987040" cy="41148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On your own — 1 min</a:t>
            </a:r>
          </a:p>
        </p:txBody>
      </p:sp>
      <p:sp>
        <p:nvSpPr>
          <p:cNvPr id="10" name="Card"/>
          <p:cNvSpPr/>
          <p:nvPr/>
        </p:nvSpPr>
        <p:spPr>
          <a:xfrm>
            <a:off x="4468368" y="301752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Bar"/>
          <p:cNvSpPr/>
          <p:nvPr/>
        </p:nvSpPr>
        <p:spPr>
          <a:xfrm>
            <a:off x="4468368" y="3017520"/>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Circle"/>
          <p:cNvSpPr/>
          <p:nvPr/>
        </p:nvSpPr>
        <p:spPr>
          <a:xfrm>
            <a:off x="5824728" y="3273552"/>
            <a:ext cx="548640" cy="5486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5824728" y="327355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2</a:t>
            </a:r>
          </a:p>
        </p:txBody>
      </p:sp>
      <p:sp>
        <p:nvSpPr>
          <p:cNvPr id="14" name="TextBox 14"/>
          <p:cNvSpPr txBox="1"/>
          <p:nvPr/>
        </p:nvSpPr>
        <p:spPr>
          <a:xfrm>
            <a:off x="4605528" y="3931920"/>
            <a:ext cx="2987040" cy="45720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Pair</a:t>
            </a:r>
          </a:p>
        </p:txBody>
      </p:sp>
      <p:sp>
        <p:nvSpPr>
          <p:cNvPr id="15" name="TextBox 15"/>
          <p:cNvSpPr txBox="1"/>
          <p:nvPr/>
        </p:nvSpPr>
        <p:spPr>
          <a:xfrm>
            <a:off x="4605528" y="4343400"/>
            <a:ext cx="2987040" cy="41148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With a neighbour — 2 min</a:t>
            </a:r>
          </a:p>
        </p:txBody>
      </p:sp>
      <p:sp>
        <p:nvSpPr>
          <p:cNvPr id="16" name="Card"/>
          <p:cNvSpPr/>
          <p:nvPr/>
        </p:nvSpPr>
        <p:spPr>
          <a:xfrm>
            <a:off x="8095488" y="3017520"/>
            <a:ext cx="3261360" cy="182880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Card Bar"/>
          <p:cNvSpPr/>
          <p:nvPr/>
        </p:nvSpPr>
        <p:spPr>
          <a:xfrm>
            <a:off x="8095488" y="3017520"/>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Circle"/>
          <p:cNvSpPr/>
          <p:nvPr/>
        </p:nvSpPr>
        <p:spPr>
          <a:xfrm>
            <a:off x="9451848" y="3273552"/>
            <a:ext cx="548640" cy="548640"/>
          </a:xfrm>
          <a:prstGeom prst="ellipse">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9"/>
          <p:cNvSpPr txBox="1"/>
          <p:nvPr/>
        </p:nvSpPr>
        <p:spPr>
          <a:xfrm>
            <a:off x="9451848" y="3273552"/>
            <a:ext cx="548640" cy="548640"/>
          </a:xfrm>
          <a:prstGeom prst="rect">
            <a:avLst/>
          </a:prstGeom>
          <a:noFill/>
        </p:spPr>
        <p:txBody>
          <a:bodyPr wrap="square" lIns="0" tIns="18288" rIns="0" bIns="18288" anchor="ctr"/>
          <a:lstStyle/>
          <a:p>
            <a:pPr algn="ctr">
              <a:spcAft>
                <a:spcPts val="400"/>
              </a:spcAft>
            </a:pPr>
            <a:r>
              <a:rPr sz="1800" b="1" i="0">
                <a:solidFill>
                  <a:srgbClr val="FFFFFF"/>
                </a:solidFill>
                <a:latin typeface="Times New Roman"/>
              </a:rPr>
              <a:t>3</a:t>
            </a:r>
          </a:p>
        </p:txBody>
      </p:sp>
      <p:sp>
        <p:nvSpPr>
          <p:cNvPr id="20" name="TextBox 20"/>
          <p:cNvSpPr txBox="1"/>
          <p:nvPr/>
        </p:nvSpPr>
        <p:spPr>
          <a:xfrm>
            <a:off x="8232648" y="3931920"/>
            <a:ext cx="2987040" cy="45720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Share</a:t>
            </a:r>
          </a:p>
        </p:txBody>
      </p:sp>
      <p:sp>
        <p:nvSpPr>
          <p:cNvPr id="21" name="TextBox 21"/>
          <p:cNvSpPr txBox="1"/>
          <p:nvPr/>
        </p:nvSpPr>
        <p:spPr>
          <a:xfrm>
            <a:off x="8232648" y="4343400"/>
            <a:ext cx="2987040" cy="411480"/>
          </a:xfrm>
          <a:prstGeom prst="rect">
            <a:avLst/>
          </a:prstGeom>
          <a:noFill/>
        </p:spPr>
        <p:txBody>
          <a:bodyPr wrap="square" lIns="0" tIns="18288" rIns="0" bIns="18288" anchor="ctr"/>
          <a:lstStyle/>
          <a:p>
            <a:pPr algn="ctr">
              <a:spcAft>
                <a:spcPts val="400"/>
              </a:spcAft>
            </a:pPr>
            <a:r>
              <a:rPr sz="1500" b="0" i="0">
                <a:solidFill>
                  <a:srgbClr val="5A6472"/>
                </a:solidFill>
                <a:latin typeface="Times New Roman"/>
              </a:rPr>
              <a:t>With the class — 2 min</a:t>
            </a:r>
          </a:p>
        </p:txBody>
      </p:sp>
      <p:sp>
        <p:nvSpPr>
          <p:cNvPr id="24" name="TextBox 24"/>
          <p:cNvSpPr txBox="1"/>
          <p:nvPr/>
        </p:nvSpPr>
        <p:spPr>
          <a:xfrm>
            <a:off x="1298448" y="5029200"/>
            <a:ext cx="9601200" cy="640080"/>
          </a:xfrm>
          <a:prstGeom prst="rect">
            <a:avLst/>
          </a:prstGeom>
          <a:noFill/>
        </p:spPr>
        <p:txBody>
          <a:bodyPr wrap="square" lIns="0" tIns="18288" rIns="0" bIns="18288" anchor="ctr"/>
          <a:lstStyle/>
          <a:p>
            <a:pPr algn="ctr">
              <a:spcAft>
                <a:spcPts val="400"/>
              </a:spcAft>
            </a:pPr>
            <a:r>
              <a:rPr sz="1800" b="0" i="0">
                <a:solidFill>
                  <a:srgbClr val="2B2B2B"/>
                </a:solidFill>
                <a:latin typeface="Times New Roman"/>
              </a:rPr>
              <a:t>Give one concrete example of the copies disagreeing.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a:spLocks noGrp="1"/>
          </p:cNvSpPr>
          <p:nvPr>
            <p:ph type="title"/>
          </p:nvPr>
        </p:nvSpPr>
        <p:spPr/>
        <p:txBody>
          <a:bodyPr>
            <a:normAutofit/>
          </a:bodyPr>
          <a:lstStyle/>
          <a:p>
            <a:r>
              <a:rPr sz="3600" b="1">
                <a:solidFill>
                  <a:srgbClr val="0E2841"/>
                </a:solidFill>
                <a:latin typeface="Times New Roman"/>
              </a:rPr>
              <a:t>Check for Understanding</a:t>
            </a:r>
          </a:p>
        </p:txBody>
      </p:sp>
      <p:sp>
        <p:nvSpPr>
          <p:cNvPr id="2" name="TextBox 2"/>
          <p:cNvSpPr txBox="1"/>
          <p:nvPr/>
        </p:nvSpPr>
        <p:spPr>
          <a:xfrm>
            <a:off x="841248" y="1691640"/>
            <a:ext cx="10515600" cy="411480"/>
          </a:xfrm>
          <a:prstGeom prst="rect">
            <a:avLst/>
          </a:prstGeom>
          <a:noFill/>
        </p:spPr>
        <p:txBody>
          <a:bodyPr wrap="square" lIns="0" tIns="18288" rIns="0" bIns="18288" anchor="ctr"/>
          <a:lstStyle/>
          <a:p>
            <a:pPr algn="l">
              <a:spcAft>
                <a:spcPts val="400"/>
              </a:spcAft>
            </a:pPr>
            <a:r>
              <a:rPr sz="2400" b="1" i="0">
                <a:solidFill>
                  <a:srgbClr val="156082"/>
                </a:solidFill>
                <a:latin typeface="Times New Roman"/>
              </a:rPr>
              <a:t>True or False?</a:t>
            </a:r>
          </a:p>
        </p:txBody>
      </p:sp>
      <p:sp>
        <p:nvSpPr>
          <p:cNvPr id="3" name="Panel"/>
          <p:cNvSpPr/>
          <p:nvPr/>
        </p:nvSpPr>
        <p:spPr>
          <a:xfrm>
            <a:off x="841248" y="2286000"/>
            <a:ext cx="10515600" cy="9601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Badge"/>
          <p:cNvSpPr/>
          <p:nvPr/>
        </p:nvSpPr>
        <p:spPr>
          <a:xfrm>
            <a:off x="1069848" y="2468880"/>
            <a:ext cx="594360" cy="594360"/>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5"/>
          <p:cNvSpPr txBox="1"/>
          <p:nvPr/>
        </p:nvSpPr>
        <p:spPr>
          <a:xfrm>
            <a:off x="1069848" y="2468880"/>
            <a:ext cx="594360" cy="594360"/>
          </a:xfrm>
          <a:prstGeom prst="rect">
            <a:avLst/>
          </a:prstGeom>
          <a:noFill/>
        </p:spPr>
        <p:txBody>
          <a:bodyPr wrap="square" lIns="0" tIns="18288" rIns="0" bIns="18288" anchor="ctr"/>
          <a:lstStyle/>
          <a:p>
            <a:pPr algn="ctr">
              <a:spcAft>
                <a:spcPts val="400"/>
              </a:spcAft>
            </a:pPr>
            <a:r>
              <a:rPr sz="2400" b="1" i="0">
                <a:solidFill>
                  <a:srgbClr val="FFFFFF"/>
                </a:solidFill>
                <a:latin typeface="Times New Roman"/>
              </a:rPr>
              <a:t>1</a:t>
            </a:r>
          </a:p>
        </p:txBody>
      </p:sp>
      <p:sp>
        <p:nvSpPr>
          <p:cNvPr id="6" name="TextBox 6"/>
          <p:cNvSpPr txBox="1"/>
          <p:nvPr/>
        </p:nvSpPr>
        <p:spPr>
          <a:xfrm>
            <a:off x="1938528" y="2286000"/>
            <a:ext cx="6400800" cy="960120"/>
          </a:xfrm>
          <a:prstGeom prst="rect">
            <a:avLst/>
          </a:prstGeom>
          <a:noFill/>
        </p:spPr>
        <p:txBody>
          <a:bodyPr wrap="square" lIns="0" tIns="18288" rIns="0" bIns="18288" anchor="ctr"/>
          <a:lstStyle/>
          <a:p>
            <a:pPr algn="l">
              <a:spcAft>
                <a:spcPts val="400"/>
              </a:spcAft>
            </a:pPr>
            <a:r>
              <a:rPr sz="2000" b="0" i="0">
                <a:solidFill>
                  <a:srgbClr val="2B2B2B"/>
                </a:solidFill>
                <a:latin typeface="Times New Roman"/>
              </a:rPr>
              <a:t>An ACID transaction can stop half-way</a:t>
            </a:r>
          </a:p>
        </p:txBody>
      </p:sp>
      <p:sp>
        <p:nvSpPr>
          <p:cNvPr id="7" name="Chip"/>
          <p:cNvSpPr/>
          <p:nvPr/>
        </p:nvSpPr>
        <p:spPr>
          <a:xfrm>
            <a:off x="8686800" y="2491740"/>
            <a:ext cx="1188720" cy="548640"/>
          </a:xfrm>
          <a:prstGeom prst="roundRect">
            <a:avLst>
              <a:gd name="adj" fmla="val 2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8686800" y="2491740"/>
            <a:ext cx="1188720" cy="548640"/>
          </a:xfrm>
          <a:prstGeom prst="rect">
            <a:avLst/>
          </a:prstGeom>
          <a:noFill/>
        </p:spPr>
        <p:txBody>
          <a:bodyPr wrap="square" lIns="0" tIns="18288" rIns="0" bIns="18288" anchor="ctr"/>
          <a:lstStyle/>
          <a:p>
            <a:pPr algn="ctr">
              <a:spcAft>
                <a:spcPts val="400"/>
              </a:spcAft>
            </a:pPr>
            <a:r>
              <a:rPr sz="1600" b="1" i="0">
                <a:solidFill>
                  <a:srgbClr val="0E2841"/>
                </a:solidFill>
                <a:latin typeface="Times New Roman"/>
              </a:rPr>
              <a:t>True</a:t>
            </a:r>
          </a:p>
        </p:txBody>
      </p:sp>
      <p:sp>
        <p:nvSpPr>
          <p:cNvPr id="9" name="Chip"/>
          <p:cNvSpPr/>
          <p:nvPr/>
        </p:nvSpPr>
        <p:spPr>
          <a:xfrm>
            <a:off x="10058400" y="2491740"/>
            <a:ext cx="1188720" cy="548640"/>
          </a:xfrm>
          <a:prstGeom prst="roundRect">
            <a:avLst>
              <a:gd name="adj" fmla="val 2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10"/>
          <p:cNvSpPr txBox="1"/>
          <p:nvPr/>
        </p:nvSpPr>
        <p:spPr>
          <a:xfrm>
            <a:off x="10058400" y="2491740"/>
            <a:ext cx="1188720" cy="548640"/>
          </a:xfrm>
          <a:prstGeom prst="rect">
            <a:avLst/>
          </a:prstGeom>
          <a:noFill/>
        </p:spPr>
        <p:txBody>
          <a:bodyPr wrap="square" lIns="0" tIns="18288" rIns="0" bIns="18288" anchor="ctr"/>
          <a:lstStyle/>
          <a:p>
            <a:pPr algn="ctr">
              <a:spcAft>
                <a:spcPts val="400"/>
              </a:spcAft>
            </a:pPr>
            <a:r>
              <a:rPr sz="1600" b="1" i="0">
                <a:solidFill>
                  <a:srgbClr val="0E2841"/>
                </a:solidFill>
                <a:latin typeface="Times New Roman"/>
              </a:rPr>
              <a:t>False</a:t>
            </a:r>
          </a:p>
        </p:txBody>
      </p:sp>
      <p:sp>
        <p:nvSpPr>
          <p:cNvPr id="11" name="Panel"/>
          <p:cNvSpPr/>
          <p:nvPr/>
        </p:nvSpPr>
        <p:spPr>
          <a:xfrm>
            <a:off x="841248" y="3383280"/>
            <a:ext cx="10515600" cy="9601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Badge"/>
          <p:cNvSpPr/>
          <p:nvPr/>
        </p:nvSpPr>
        <p:spPr>
          <a:xfrm>
            <a:off x="1069848" y="3566160"/>
            <a:ext cx="594360" cy="594360"/>
          </a:xfrm>
          <a:prstGeom prst="roundRect">
            <a:avLst>
              <a:gd name="adj" fmla="val 2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3"/>
          <p:cNvSpPr txBox="1"/>
          <p:nvPr/>
        </p:nvSpPr>
        <p:spPr>
          <a:xfrm>
            <a:off x="1069848" y="3566160"/>
            <a:ext cx="594360" cy="594360"/>
          </a:xfrm>
          <a:prstGeom prst="rect">
            <a:avLst/>
          </a:prstGeom>
          <a:noFill/>
        </p:spPr>
        <p:txBody>
          <a:bodyPr wrap="square" lIns="0" tIns="18288" rIns="0" bIns="18288" anchor="ctr"/>
          <a:lstStyle/>
          <a:p>
            <a:pPr algn="ctr">
              <a:spcAft>
                <a:spcPts val="400"/>
              </a:spcAft>
            </a:pPr>
            <a:r>
              <a:rPr sz="2400" b="1" i="0">
                <a:solidFill>
                  <a:srgbClr val="FFFFFF"/>
                </a:solidFill>
                <a:latin typeface="Times New Roman"/>
              </a:rPr>
              <a:t>2</a:t>
            </a:r>
          </a:p>
        </p:txBody>
      </p:sp>
      <p:sp>
        <p:nvSpPr>
          <p:cNvPr id="14" name="TextBox 14"/>
          <p:cNvSpPr txBox="1"/>
          <p:nvPr/>
        </p:nvSpPr>
        <p:spPr>
          <a:xfrm>
            <a:off x="1938528" y="3383280"/>
            <a:ext cx="6400800" cy="960120"/>
          </a:xfrm>
          <a:prstGeom prst="rect">
            <a:avLst/>
          </a:prstGeom>
          <a:noFill/>
        </p:spPr>
        <p:txBody>
          <a:bodyPr wrap="square" lIns="0" tIns="18288" rIns="0" bIns="18288" anchor="ctr"/>
          <a:lstStyle/>
          <a:p>
            <a:pPr algn="l">
              <a:spcAft>
                <a:spcPts val="400"/>
              </a:spcAft>
            </a:pPr>
            <a:r>
              <a:rPr sz="2000" b="0" i="0">
                <a:solidFill>
                  <a:srgbClr val="2B2B2B"/>
                </a:solidFill>
                <a:latin typeface="Times New Roman"/>
              </a:rPr>
              <a:t>Reduced redundancy cuts both storage cost and conflicts</a:t>
            </a:r>
          </a:p>
        </p:txBody>
      </p:sp>
      <p:sp>
        <p:nvSpPr>
          <p:cNvPr id="15" name="Chip"/>
          <p:cNvSpPr/>
          <p:nvPr/>
        </p:nvSpPr>
        <p:spPr>
          <a:xfrm>
            <a:off x="8686800" y="3589020"/>
            <a:ext cx="1188720" cy="548640"/>
          </a:xfrm>
          <a:prstGeom prst="roundRect">
            <a:avLst>
              <a:gd name="adj" fmla="val 2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8686800" y="3589020"/>
            <a:ext cx="1188720" cy="548640"/>
          </a:xfrm>
          <a:prstGeom prst="rect">
            <a:avLst/>
          </a:prstGeom>
          <a:noFill/>
        </p:spPr>
        <p:txBody>
          <a:bodyPr wrap="square" lIns="0" tIns="18288" rIns="0" bIns="18288" anchor="ctr"/>
          <a:lstStyle/>
          <a:p>
            <a:pPr algn="ctr">
              <a:spcAft>
                <a:spcPts val="400"/>
              </a:spcAft>
            </a:pPr>
            <a:r>
              <a:rPr sz="1600" b="1" i="0">
                <a:solidFill>
                  <a:srgbClr val="0E2841"/>
                </a:solidFill>
                <a:latin typeface="Times New Roman"/>
              </a:rPr>
              <a:t>True</a:t>
            </a:r>
          </a:p>
        </p:txBody>
      </p:sp>
      <p:sp>
        <p:nvSpPr>
          <p:cNvPr id="17" name="Chip"/>
          <p:cNvSpPr/>
          <p:nvPr/>
        </p:nvSpPr>
        <p:spPr>
          <a:xfrm>
            <a:off x="10058400" y="3589020"/>
            <a:ext cx="1188720" cy="548640"/>
          </a:xfrm>
          <a:prstGeom prst="roundRect">
            <a:avLst>
              <a:gd name="adj" fmla="val 2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8"/>
          <p:cNvSpPr txBox="1"/>
          <p:nvPr/>
        </p:nvSpPr>
        <p:spPr>
          <a:xfrm>
            <a:off x="10058400" y="3589020"/>
            <a:ext cx="1188720" cy="548640"/>
          </a:xfrm>
          <a:prstGeom prst="rect">
            <a:avLst/>
          </a:prstGeom>
          <a:noFill/>
        </p:spPr>
        <p:txBody>
          <a:bodyPr wrap="square" lIns="0" tIns="18288" rIns="0" bIns="18288" anchor="ctr"/>
          <a:lstStyle/>
          <a:p>
            <a:pPr algn="ctr">
              <a:spcAft>
                <a:spcPts val="400"/>
              </a:spcAft>
            </a:pPr>
            <a:r>
              <a:rPr sz="1600" b="1" i="0">
                <a:solidFill>
                  <a:srgbClr val="0E2841"/>
                </a:solidFill>
                <a:latin typeface="Times New Roman"/>
              </a:rPr>
              <a:t>False</a:t>
            </a:r>
          </a:p>
        </p:txBody>
      </p:sp>
      <p:sp>
        <p:nvSpPr>
          <p:cNvPr id="19" name="Panel"/>
          <p:cNvSpPr/>
          <p:nvPr/>
        </p:nvSpPr>
        <p:spPr>
          <a:xfrm>
            <a:off x="841248" y="4480560"/>
            <a:ext cx="10515600" cy="9601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Badge"/>
          <p:cNvSpPr/>
          <p:nvPr/>
        </p:nvSpPr>
        <p:spPr>
          <a:xfrm>
            <a:off x="1069848" y="4663440"/>
            <a:ext cx="594360" cy="59436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1"/>
          <p:cNvSpPr txBox="1"/>
          <p:nvPr/>
        </p:nvSpPr>
        <p:spPr>
          <a:xfrm>
            <a:off x="1069848" y="4663440"/>
            <a:ext cx="594360" cy="594360"/>
          </a:xfrm>
          <a:prstGeom prst="rect">
            <a:avLst/>
          </a:prstGeom>
          <a:noFill/>
        </p:spPr>
        <p:txBody>
          <a:bodyPr wrap="square" lIns="0" tIns="18288" rIns="0" bIns="18288" anchor="ctr"/>
          <a:lstStyle/>
          <a:p>
            <a:pPr algn="ctr">
              <a:spcAft>
                <a:spcPts val="400"/>
              </a:spcAft>
            </a:pPr>
            <a:r>
              <a:rPr sz="2400" b="1" i="0">
                <a:solidFill>
                  <a:srgbClr val="FFFFFF"/>
                </a:solidFill>
                <a:latin typeface="Times New Roman"/>
              </a:rPr>
              <a:t>3</a:t>
            </a:r>
          </a:p>
        </p:txBody>
      </p:sp>
      <p:sp>
        <p:nvSpPr>
          <p:cNvPr id="22" name="TextBox 22"/>
          <p:cNvSpPr txBox="1"/>
          <p:nvPr/>
        </p:nvSpPr>
        <p:spPr>
          <a:xfrm>
            <a:off x="1938528" y="4480560"/>
            <a:ext cx="6400800" cy="960120"/>
          </a:xfrm>
          <a:prstGeom prst="rect">
            <a:avLst/>
          </a:prstGeom>
          <a:noFill/>
        </p:spPr>
        <p:txBody>
          <a:bodyPr wrap="square" lIns="0" tIns="18288" rIns="0" bIns="18288" anchor="ctr"/>
          <a:lstStyle/>
          <a:p>
            <a:pPr algn="l">
              <a:spcAft>
                <a:spcPts val="400"/>
              </a:spcAft>
            </a:pPr>
            <a:r>
              <a:rPr sz="2000" b="0" i="0">
                <a:solidFill>
                  <a:srgbClr val="2B2B2B"/>
                </a:solidFill>
                <a:latin typeface="Times New Roman"/>
              </a:rPr>
              <a:t>Changing the storage engine always forces an app rewrite</a:t>
            </a:r>
          </a:p>
        </p:txBody>
      </p:sp>
      <p:sp>
        <p:nvSpPr>
          <p:cNvPr id="23" name="Chip"/>
          <p:cNvSpPr/>
          <p:nvPr/>
        </p:nvSpPr>
        <p:spPr>
          <a:xfrm>
            <a:off x="8686800" y="4686300"/>
            <a:ext cx="1188720" cy="548640"/>
          </a:xfrm>
          <a:prstGeom prst="roundRect">
            <a:avLst>
              <a:gd name="adj" fmla="val 2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4"/>
          <p:cNvSpPr txBox="1"/>
          <p:nvPr/>
        </p:nvSpPr>
        <p:spPr>
          <a:xfrm>
            <a:off x="8686800" y="4686300"/>
            <a:ext cx="1188720" cy="548640"/>
          </a:xfrm>
          <a:prstGeom prst="rect">
            <a:avLst/>
          </a:prstGeom>
          <a:noFill/>
        </p:spPr>
        <p:txBody>
          <a:bodyPr wrap="square" lIns="0" tIns="18288" rIns="0" bIns="18288" anchor="ctr"/>
          <a:lstStyle/>
          <a:p>
            <a:pPr algn="ctr">
              <a:spcAft>
                <a:spcPts val="400"/>
              </a:spcAft>
            </a:pPr>
            <a:r>
              <a:rPr sz="1600" b="1" i="0">
                <a:solidFill>
                  <a:srgbClr val="0E2841"/>
                </a:solidFill>
                <a:latin typeface="Times New Roman"/>
              </a:rPr>
              <a:t>True</a:t>
            </a:r>
          </a:p>
        </p:txBody>
      </p:sp>
      <p:sp>
        <p:nvSpPr>
          <p:cNvPr id="25" name="Chip"/>
          <p:cNvSpPr/>
          <p:nvPr/>
        </p:nvSpPr>
        <p:spPr>
          <a:xfrm>
            <a:off x="10058400" y="4686300"/>
            <a:ext cx="1188720" cy="548640"/>
          </a:xfrm>
          <a:prstGeom prst="roundRect">
            <a:avLst>
              <a:gd name="adj" fmla="val 25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6"/>
          <p:cNvSpPr txBox="1"/>
          <p:nvPr/>
        </p:nvSpPr>
        <p:spPr>
          <a:xfrm>
            <a:off x="10058400" y="4686300"/>
            <a:ext cx="1188720" cy="548640"/>
          </a:xfrm>
          <a:prstGeom prst="rect">
            <a:avLst/>
          </a:prstGeom>
          <a:noFill/>
        </p:spPr>
        <p:txBody>
          <a:bodyPr wrap="square" lIns="0" tIns="18288" rIns="0" bIns="18288" anchor="ctr"/>
          <a:lstStyle/>
          <a:p>
            <a:pPr algn="ctr">
              <a:spcAft>
                <a:spcPts val="400"/>
              </a:spcAft>
            </a:pPr>
            <a:r>
              <a:rPr sz="1600" b="1" i="0">
                <a:solidFill>
                  <a:srgbClr val="0E2841"/>
                </a:solidFill>
                <a:latin typeface="Times New Roman"/>
              </a:rPr>
              <a:t>False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p:txBody>
          <a:bodyPr>
            <a:normAutofit/>
          </a:bodyPr>
          <a:lstStyle/>
          <a:p>
            <a:r>
              <a:rPr sz="3600" b="1">
                <a:solidFill>
                  <a:srgbClr val="0E2841"/>
                </a:solidFill>
                <a:latin typeface="Times New Roman"/>
              </a:rPr>
              <a:t>Summary / Takeaways</a:t>
            </a:r>
          </a:p>
        </p:txBody>
      </p:sp>
      <p:sp>
        <p:nvSpPr>
          <p:cNvPr id="2" name="Row"/>
          <p:cNvSpPr/>
          <p:nvPr/>
        </p:nvSpPr>
        <p:spPr>
          <a:xfrm>
            <a:off x="841248" y="1737360"/>
            <a:ext cx="10515600" cy="804672"/>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w Bar"/>
          <p:cNvSpPr/>
          <p:nvPr/>
        </p:nvSpPr>
        <p:spPr>
          <a:xfrm>
            <a:off x="841248" y="1737360"/>
            <a:ext cx="109728" cy="8046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161288" y="1737360"/>
            <a:ext cx="3931920" cy="804672"/>
          </a:xfrm>
          <a:prstGeom prst="rect">
            <a:avLst/>
          </a:prstGeom>
          <a:noFill/>
        </p:spPr>
        <p:txBody>
          <a:bodyPr wrap="square" lIns="0" tIns="18288" rIns="0" bIns="18288" anchor="ctr"/>
          <a:lstStyle/>
          <a:p>
            <a:pPr algn="l">
              <a:spcAft>
                <a:spcPts val="400"/>
              </a:spcAft>
            </a:pPr>
            <a:r>
              <a:rPr sz="2200" b="1" i="0">
                <a:solidFill>
                  <a:srgbClr val="0E2841"/>
                </a:solidFill>
                <a:latin typeface="Times New Roman"/>
              </a:rPr>
              <a:t>One copy of the truth</a:t>
            </a:r>
          </a:p>
        </p:txBody>
      </p:sp>
      <p:sp>
        <p:nvSpPr>
          <p:cNvPr id="5" name="TextBox 5"/>
          <p:cNvSpPr txBox="1"/>
          <p:nvPr/>
        </p:nvSpPr>
        <p:spPr>
          <a:xfrm>
            <a:off x="5230368" y="1737360"/>
            <a:ext cx="5852160" cy="804672"/>
          </a:xfrm>
          <a:prstGeom prst="rect">
            <a:avLst/>
          </a:prstGeom>
          <a:noFill/>
        </p:spPr>
        <p:txBody>
          <a:bodyPr wrap="square" lIns="0" tIns="18288" rIns="0" bIns="18288" anchor="ctr"/>
          <a:lstStyle/>
          <a:p>
            <a:pPr algn="l">
              <a:spcAft>
                <a:spcPts val="400"/>
              </a:spcAft>
            </a:pPr>
            <a:r>
              <a:rPr sz="1900" b="0" i="0">
                <a:solidFill>
                  <a:srgbClr val="2B2B2B"/>
                </a:solidFill>
                <a:latin typeface="Times New Roman"/>
              </a:rPr>
              <a:t>Redundancy removed, references used instead</a:t>
            </a:r>
          </a:p>
        </p:txBody>
      </p:sp>
      <p:sp>
        <p:nvSpPr>
          <p:cNvPr id="6" name="Row"/>
          <p:cNvSpPr/>
          <p:nvPr/>
        </p:nvSpPr>
        <p:spPr>
          <a:xfrm>
            <a:off x="841248" y="2633472"/>
            <a:ext cx="10515600" cy="804672"/>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w Bar"/>
          <p:cNvSpPr/>
          <p:nvPr/>
        </p:nvSpPr>
        <p:spPr>
          <a:xfrm>
            <a:off x="841248" y="2633472"/>
            <a:ext cx="109728" cy="8046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1161288" y="2633472"/>
            <a:ext cx="3931920" cy="804672"/>
          </a:xfrm>
          <a:prstGeom prst="rect">
            <a:avLst/>
          </a:prstGeom>
          <a:noFill/>
        </p:spPr>
        <p:txBody>
          <a:bodyPr wrap="square" lIns="0" tIns="18288" rIns="0" bIns="18288" anchor="ctr"/>
          <a:lstStyle/>
          <a:p>
            <a:pPr algn="l">
              <a:spcAft>
                <a:spcPts val="400"/>
              </a:spcAft>
            </a:pPr>
            <a:r>
              <a:rPr sz="2200" b="1" i="0">
                <a:solidFill>
                  <a:srgbClr val="0E2841"/>
                </a:solidFill>
                <a:latin typeface="Times New Roman"/>
              </a:rPr>
              <a:t>Many users at once</a:t>
            </a:r>
          </a:p>
        </p:txBody>
      </p:sp>
      <p:sp>
        <p:nvSpPr>
          <p:cNvPr id="9" name="TextBox 9"/>
          <p:cNvSpPr txBox="1"/>
          <p:nvPr/>
        </p:nvSpPr>
        <p:spPr>
          <a:xfrm>
            <a:off x="5230368" y="2633472"/>
            <a:ext cx="5852160" cy="804672"/>
          </a:xfrm>
          <a:prstGeom prst="rect">
            <a:avLst/>
          </a:prstGeom>
          <a:noFill/>
        </p:spPr>
        <p:txBody>
          <a:bodyPr wrap="square" lIns="0" tIns="18288" rIns="0" bIns="18288" anchor="ctr"/>
          <a:lstStyle/>
          <a:p>
            <a:pPr algn="l">
              <a:spcAft>
                <a:spcPts val="400"/>
              </a:spcAft>
            </a:pPr>
            <a:r>
              <a:rPr sz="1900" b="0" i="0">
                <a:solidFill>
                  <a:srgbClr val="2B2B2B"/>
                </a:solidFill>
                <a:latin typeface="Times New Roman"/>
              </a:rPr>
              <a:t>Concurrency control keeps every write correct</a:t>
            </a:r>
          </a:p>
        </p:txBody>
      </p:sp>
      <p:sp>
        <p:nvSpPr>
          <p:cNvPr id="10" name="Row"/>
          <p:cNvSpPr/>
          <p:nvPr/>
        </p:nvSpPr>
        <p:spPr>
          <a:xfrm>
            <a:off x="841248" y="3529584"/>
            <a:ext cx="10515600" cy="804672"/>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w Bar"/>
          <p:cNvSpPr/>
          <p:nvPr/>
        </p:nvSpPr>
        <p:spPr>
          <a:xfrm>
            <a:off x="841248" y="3529584"/>
            <a:ext cx="109728" cy="8046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p:cNvSpPr txBox="1"/>
          <p:nvPr/>
        </p:nvSpPr>
        <p:spPr>
          <a:xfrm>
            <a:off x="1161288" y="3529584"/>
            <a:ext cx="3931920" cy="804672"/>
          </a:xfrm>
          <a:prstGeom prst="rect">
            <a:avLst/>
          </a:prstGeom>
          <a:noFill/>
        </p:spPr>
        <p:txBody>
          <a:bodyPr wrap="square" lIns="0" tIns="18288" rIns="0" bIns="18288" anchor="ctr"/>
          <a:lstStyle/>
          <a:p>
            <a:pPr algn="l">
              <a:spcAft>
                <a:spcPts val="400"/>
              </a:spcAft>
            </a:pPr>
            <a:r>
              <a:rPr sz="2200" b="1" i="0">
                <a:solidFill>
                  <a:srgbClr val="0E2841"/>
                </a:solidFill>
                <a:latin typeface="Times New Roman"/>
              </a:rPr>
              <a:t>Rules and roles</a:t>
            </a:r>
          </a:p>
        </p:txBody>
      </p:sp>
      <p:sp>
        <p:nvSpPr>
          <p:cNvPr id="13" name="TextBox 13"/>
          <p:cNvSpPr txBox="1"/>
          <p:nvPr/>
        </p:nvSpPr>
        <p:spPr>
          <a:xfrm>
            <a:off x="5230368" y="3529584"/>
            <a:ext cx="5852160" cy="804672"/>
          </a:xfrm>
          <a:prstGeom prst="rect">
            <a:avLst/>
          </a:prstGeom>
          <a:noFill/>
        </p:spPr>
        <p:txBody>
          <a:bodyPr wrap="square" lIns="0" tIns="18288" rIns="0" bIns="18288" anchor="ctr"/>
          <a:lstStyle/>
          <a:p>
            <a:pPr algn="l">
              <a:spcAft>
                <a:spcPts val="400"/>
              </a:spcAft>
            </a:pPr>
            <a:r>
              <a:rPr sz="1900" b="0" i="0">
                <a:solidFill>
                  <a:srgbClr val="2B2B2B"/>
                </a:solidFill>
                <a:latin typeface="Times New Roman"/>
              </a:rPr>
              <a:t>Authentication, permissions and encryption</a:t>
            </a:r>
          </a:p>
        </p:txBody>
      </p:sp>
      <p:sp>
        <p:nvSpPr>
          <p:cNvPr id="14" name="Row"/>
          <p:cNvSpPr/>
          <p:nvPr/>
        </p:nvSpPr>
        <p:spPr>
          <a:xfrm>
            <a:off x="841248" y="4425696"/>
            <a:ext cx="10515600" cy="804672"/>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w Bar"/>
          <p:cNvSpPr/>
          <p:nvPr/>
        </p:nvSpPr>
        <p:spPr>
          <a:xfrm>
            <a:off x="841248" y="4425696"/>
            <a:ext cx="109728" cy="80467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1161288" y="4425696"/>
            <a:ext cx="3931920" cy="804672"/>
          </a:xfrm>
          <a:prstGeom prst="rect">
            <a:avLst/>
          </a:prstGeom>
          <a:noFill/>
        </p:spPr>
        <p:txBody>
          <a:bodyPr wrap="square" lIns="0" tIns="18288" rIns="0" bIns="18288" anchor="ctr"/>
          <a:lstStyle/>
          <a:p>
            <a:pPr algn="l">
              <a:spcAft>
                <a:spcPts val="400"/>
              </a:spcAft>
            </a:pPr>
            <a:r>
              <a:rPr sz="2200" b="1" i="0">
                <a:solidFill>
                  <a:srgbClr val="0E2841"/>
                </a:solidFill>
                <a:latin typeface="Times New Roman"/>
              </a:rPr>
              <a:t>All or nothing</a:t>
            </a:r>
          </a:p>
        </p:txBody>
      </p:sp>
      <p:sp>
        <p:nvSpPr>
          <p:cNvPr id="17" name="TextBox 17"/>
          <p:cNvSpPr txBox="1"/>
          <p:nvPr/>
        </p:nvSpPr>
        <p:spPr>
          <a:xfrm>
            <a:off x="5230368" y="4425696"/>
            <a:ext cx="5852160" cy="804672"/>
          </a:xfrm>
          <a:prstGeom prst="rect">
            <a:avLst/>
          </a:prstGeom>
          <a:noFill/>
        </p:spPr>
        <p:txBody>
          <a:bodyPr wrap="square" lIns="0" tIns="18288" rIns="0" bIns="18288" anchor="ctr"/>
          <a:lstStyle/>
          <a:p>
            <a:pPr algn="l">
              <a:spcAft>
                <a:spcPts val="400"/>
              </a:spcAft>
            </a:pPr>
            <a:r>
              <a:rPr sz="1900" b="0" i="0">
                <a:solidFill>
                  <a:srgbClr val="2B2B2B"/>
                </a:solidFill>
                <a:latin typeface="Times New Roman"/>
              </a:rPr>
              <a:t>ACID transactions, backups and fast failover</a:t>
            </a:r>
          </a:p>
        </p:txBody>
      </p:sp>
      <p:sp>
        <p:nvSpPr>
          <p:cNvPr id="18" name="Row"/>
          <p:cNvSpPr/>
          <p:nvPr/>
        </p:nvSpPr>
        <p:spPr>
          <a:xfrm>
            <a:off x="841248" y="5321808"/>
            <a:ext cx="10515600" cy="804672"/>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w Bar"/>
          <p:cNvSpPr/>
          <p:nvPr/>
        </p:nvSpPr>
        <p:spPr>
          <a:xfrm>
            <a:off x="841248" y="5321808"/>
            <a:ext cx="109728" cy="804672"/>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1161288" y="5321808"/>
            <a:ext cx="3931920" cy="804672"/>
          </a:xfrm>
          <a:prstGeom prst="rect">
            <a:avLst/>
          </a:prstGeom>
          <a:noFill/>
        </p:spPr>
        <p:txBody>
          <a:bodyPr wrap="square" lIns="0" tIns="18288" rIns="0" bIns="18288" anchor="ctr"/>
          <a:lstStyle/>
          <a:p>
            <a:pPr algn="l">
              <a:spcAft>
                <a:spcPts val="400"/>
              </a:spcAft>
            </a:pPr>
            <a:r>
              <a:rPr sz="2200" b="1" i="0">
                <a:solidFill>
                  <a:srgbClr val="0E2841"/>
                </a:solidFill>
                <a:latin typeface="Times New Roman"/>
              </a:rPr>
              <a:t>Free to change underneath</a:t>
            </a:r>
          </a:p>
        </p:txBody>
      </p:sp>
      <p:sp>
        <p:nvSpPr>
          <p:cNvPr id="21" name="TextBox 21"/>
          <p:cNvSpPr txBox="1"/>
          <p:nvPr/>
        </p:nvSpPr>
        <p:spPr>
          <a:xfrm>
            <a:off x="5230368" y="5321808"/>
            <a:ext cx="5852160" cy="804672"/>
          </a:xfrm>
          <a:prstGeom prst="rect">
            <a:avLst/>
          </a:prstGeom>
          <a:noFill/>
        </p:spPr>
        <p:txBody>
          <a:bodyPr wrap="square" lIns="0" tIns="18288" rIns="0" bIns="18288" anchor="ctr"/>
          <a:lstStyle/>
          <a:p>
            <a:pPr algn="l">
              <a:spcAft>
                <a:spcPts val="400"/>
              </a:spcAft>
            </a:pPr>
            <a:r>
              <a:rPr sz="1900" b="0" i="0">
                <a:solidFill>
                  <a:srgbClr val="2B2B2B"/>
                </a:solidFill>
                <a:latin typeface="Times New Roman"/>
              </a:rPr>
              <a:t>Data independence and cloud abstraction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p:txBody>
          <a:bodyPr>
            <a:normAutofit/>
          </a:bodyPr>
          <a:lstStyle/>
          <a:p>
            <a:r>
              <a:rPr sz="3600" b="1">
                <a:solidFill>
                  <a:srgbClr val="0E2841"/>
                </a:solidFill>
                <a:latin typeface="Times New Roman"/>
              </a:rPr>
              <a:t>Textbooks — Latest Editions</a:t>
            </a:r>
          </a:p>
        </p:txBody>
      </p:sp>
      <p:sp>
        <p:nvSpPr>
          <p:cNvPr id="2" name="Row"/>
          <p:cNvSpPr/>
          <p:nvPr/>
        </p:nvSpPr>
        <p:spPr>
          <a:xfrm>
            <a:off x="841248" y="1737360"/>
            <a:ext cx="10515600" cy="7315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w Bar"/>
          <p:cNvSpPr/>
          <p:nvPr/>
        </p:nvSpPr>
        <p:spPr>
          <a:xfrm>
            <a:off x="841248" y="1737360"/>
            <a:ext cx="109728" cy="7315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p:cNvSpPr txBox="1"/>
          <p:nvPr/>
        </p:nvSpPr>
        <p:spPr>
          <a:xfrm>
            <a:off x="1161288" y="1737360"/>
            <a:ext cx="6858000" cy="731520"/>
          </a:xfrm>
          <a:prstGeom prst="rect">
            <a:avLst/>
          </a:prstGeom>
          <a:noFill/>
        </p:spPr>
        <p:txBody>
          <a:bodyPr wrap="square" lIns="0" tIns="18288" rIns="0" bIns="18288" anchor="ctr"/>
          <a:lstStyle/>
          <a:p>
            <a:pPr algn="l">
              <a:spcAft>
                <a:spcPts val="400"/>
              </a:spcAft>
            </a:pPr>
            <a:r>
              <a:rPr sz="1800" b="1" i="0">
                <a:solidFill>
                  <a:srgbClr val="0E2841"/>
                </a:solidFill>
                <a:latin typeface="Times New Roman"/>
              </a:rPr>
              <a:t>Database System Concepts</a:t>
            </a:r>
          </a:p>
          <a:p>
            <a:pPr algn="l">
              <a:spcAft>
                <a:spcPts val="400"/>
              </a:spcAft>
            </a:pPr>
            <a:r>
              <a:rPr sz="1500" b="0" i="0">
                <a:solidFill>
                  <a:srgbClr val="5A6472"/>
                </a:solidFill>
                <a:latin typeface="Times New Roman"/>
              </a:rPr>
              <a:t>Silberschatz, Korth &amp; Sudarshan</a:t>
            </a:r>
          </a:p>
        </p:txBody>
      </p:sp>
      <p:sp>
        <p:nvSpPr>
          <p:cNvPr id="5" name="TextBox 5"/>
          <p:cNvSpPr txBox="1"/>
          <p:nvPr/>
        </p:nvSpPr>
        <p:spPr>
          <a:xfrm>
            <a:off x="8138160" y="1737360"/>
            <a:ext cx="3108960" cy="731520"/>
          </a:xfrm>
          <a:prstGeom prst="rect">
            <a:avLst/>
          </a:prstGeom>
          <a:noFill/>
        </p:spPr>
        <p:txBody>
          <a:bodyPr wrap="square" lIns="0" tIns="18288" rIns="0" bIns="18288" anchor="ctr"/>
          <a:lstStyle/>
          <a:p>
            <a:pPr algn="r">
              <a:spcAft>
                <a:spcPts val="400"/>
              </a:spcAft>
            </a:pPr>
            <a:r>
              <a:rPr sz="1500" b="0" i="0">
                <a:solidFill>
                  <a:srgbClr val="2B2B2B"/>
                </a:solidFill>
                <a:latin typeface="Times New Roman"/>
              </a:rPr>
              <a:t>7th Edition  ·  McGraw-Hill  ·  2019</a:t>
            </a:r>
          </a:p>
        </p:txBody>
      </p:sp>
      <p:sp>
        <p:nvSpPr>
          <p:cNvPr id="6" name="Row"/>
          <p:cNvSpPr/>
          <p:nvPr/>
        </p:nvSpPr>
        <p:spPr>
          <a:xfrm>
            <a:off x="841248" y="2560320"/>
            <a:ext cx="10515600" cy="7315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w Bar"/>
          <p:cNvSpPr/>
          <p:nvPr/>
        </p:nvSpPr>
        <p:spPr>
          <a:xfrm>
            <a:off x="841248" y="2560320"/>
            <a:ext cx="109728" cy="7315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p:cNvSpPr txBox="1"/>
          <p:nvPr/>
        </p:nvSpPr>
        <p:spPr>
          <a:xfrm>
            <a:off x="1161288" y="2560320"/>
            <a:ext cx="6858000" cy="731520"/>
          </a:xfrm>
          <a:prstGeom prst="rect">
            <a:avLst/>
          </a:prstGeom>
          <a:noFill/>
        </p:spPr>
        <p:txBody>
          <a:bodyPr wrap="square" lIns="0" tIns="18288" rIns="0" bIns="18288" anchor="ctr"/>
          <a:lstStyle/>
          <a:p>
            <a:pPr algn="l">
              <a:spcAft>
                <a:spcPts val="400"/>
              </a:spcAft>
            </a:pPr>
            <a:r>
              <a:rPr sz="1800" b="1" i="0">
                <a:solidFill>
                  <a:srgbClr val="0E2841"/>
                </a:solidFill>
                <a:latin typeface="Times New Roman"/>
              </a:rPr>
              <a:t>Fundamentals of Database Systems</a:t>
            </a:r>
          </a:p>
          <a:p>
            <a:pPr algn="l">
              <a:spcAft>
                <a:spcPts val="400"/>
              </a:spcAft>
            </a:pPr>
            <a:r>
              <a:rPr sz="1500" b="0" i="0">
                <a:solidFill>
                  <a:srgbClr val="5A6472"/>
                </a:solidFill>
                <a:latin typeface="Times New Roman"/>
              </a:rPr>
              <a:t>Elmasri &amp; Navathe</a:t>
            </a:r>
          </a:p>
        </p:txBody>
      </p:sp>
      <p:sp>
        <p:nvSpPr>
          <p:cNvPr id="9" name="TextBox 9"/>
          <p:cNvSpPr txBox="1"/>
          <p:nvPr/>
        </p:nvSpPr>
        <p:spPr>
          <a:xfrm>
            <a:off x="8138160" y="2560320"/>
            <a:ext cx="3108960" cy="731520"/>
          </a:xfrm>
          <a:prstGeom prst="rect">
            <a:avLst/>
          </a:prstGeom>
          <a:noFill/>
        </p:spPr>
        <p:txBody>
          <a:bodyPr wrap="square" lIns="0" tIns="18288" rIns="0" bIns="18288" anchor="ctr"/>
          <a:lstStyle/>
          <a:p>
            <a:pPr algn="r">
              <a:spcAft>
                <a:spcPts val="400"/>
              </a:spcAft>
            </a:pPr>
            <a:r>
              <a:rPr sz="1500" b="0" i="0">
                <a:solidFill>
                  <a:srgbClr val="2B2B2B"/>
                </a:solidFill>
                <a:latin typeface="Times New Roman"/>
              </a:rPr>
              <a:t>7th Edition  ·  Pearson  ·  2016</a:t>
            </a:r>
          </a:p>
        </p:txBody>
      </p:sp>
      <p:sp>
        <p:nvSpPr>
          <p:cNvPr id="10" name="Row"/>
          <p:cNvSpPr/>
          <p:nvPr/>
        </p:nvSpPr>
        <p:spPr>
          <a:xfrm>
            <a:off x="841248" y="3383280"/>
            <a:ext cx="10515600" cy="7315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w Bar"/>
          <p:cNvSpPr/>
          <p:nvPr/>
        </p:nvSpPr>
        <p:spPr>
          <a:xfrm>
            <a:off x="841248" y="3383280"/>
            <a:ext cx="109728" cy="73152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p:cNvSpPr txBox="1"/>
          <p:nvPr/>
        </p:nvSpPr>
        <p:spPr>
          <a:xfrm>
            <a:off x="1161288" y="3383280"/>
            <a:ext cx="6858000" cy="731520"/>
          </a:xfrm>
          <a:prstGeom prst="rect">
            <a:avLst/>
          </a:prstGeom>
          <a:noFill/>
        </p:spPr>
        <p:txBody>
          <a:bodyPr wrap="square" lIns="0" tIns="18288" rIns="0" bIns="18288" anchor="ctr"/>
          <a:lstStyle/>
          <a:p>
            <a:pPr algn="l">
              <a:spcAft>
                <a:spcPts val="400"/>
              </a:spcAft>
            </a:pPr>
            <a:r>
              <a:rPr sz="1800" b="1" i="0">
                <a:solidFill>
                  <a:srgbClr val="0E2841"/>
                </a:solidFill>
                <a:latin typeface="Times New Roman"/>
              </a:rPr>
              <a:t>Database Management Systems</a:t>
            </a:r>
          </a:p>
          <a:p>
            <a:pPr algn="l">
              <a:spcAft>
                <a:spcPts val="400"/>
              </a:spcAft>
            </a:pPr>
            <a:r>
              <a:rPr sz="1500" b="0" i="0">
                <a:solidFill>
                  <a:srgbClr val="5A6472"/>
                </a:solidFill>
                <a:latin typeface="Times New Roman"/>
              </a:rPr>
              <a:t>Ramakrishnan &amp; Gehrke</a:t>
            </a:r>
          </a:p>
        </p:txBody>
      </p:sp>
      <p:sp>
        <p:nvSpPr>
          <p:cNvPr id="13" name="TextBox 13"/>
          <p:cNvSpPr txBox="1"/>
          <p:nvPr/>
        </p:nvSpPr>
        <p:spPr>
          <a:xfrm>
            <a:off x="8138160" y="3383280"/>
            <a:ext cx="3108960" cy="731520"/>
          </a:xfrm>
          <a:prstGeom prst="rect">
            <a:avLst/>
          </a:prstGeom>
          <a:noFill/>
        </p:spPr>
        <p:txBody>
          <a:bodyPr wrap="square" lIns="0" tIns="18288" rIns="0" bIns="18288" anchor="ctr"/>
          <a:lstStyle/>
          <a:p>
            <a:pPr algn="r">
              <a:spcAft>
                <a:spcPts val="400"/>
              </a:spcAft>
            </a:pPr>
            <a:r>
              <a:rPr sz="1500" b="0" i="0">
                <a:solidFill>
                  <a:srgbClr val="2B2B2B"/>
                </a:solidFill>
                <a:latin typeface="Times New Roman"/>
              </a:rPr>
              <a:t>3rd Edition  ·  McGraw-Hill  ·  2003</a:t>
            </a:r>
          </a:p>
        </p:txBody>
      </p:sp>
      <p:sp>
        <p:nvSpPr>
          <p:cNvPr id="14" name="Row"/>
          <p:cNvSpPr/>
          <p:nvPr/>
        </p:nvSpPr>
        <p:spPr>
          <a:xfrm>
            <a:off x="841248" y="4206240"/>
            <a:ext cx="10515600" cy="7315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w Bar"/>
          <p:cNvSpPr/>
          <p:nvPr/>
        </p:nvSpPr>
        <p:spPr>
          <a:xfrm>
            <a:off x="841248" y="4206240"/>
            <a:ext cx="109728" cy="73152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6"/>
          <p:cNvSpPr txBox="1"/>
          <p:nvPr/>
        </p:nvSpPr>
        <p:spPr>
          <a:xfrm>
            <a:off x="1161288" y="4206240"/>
            <a:ext cx="6858000" cy="731520"/>
          </a:xfrm>
          <a:prstGeom prst="rect">
            <a:avLst/>
          </a:prstGeom>
          <a:noFill/>
        </p:spPr>
        <p:txBody>
          <a:bodyPr wrap="square" lIns="0" tIns="18288" rIns="0" bIns="18288" anchor="ctr"/>
          <a:lstStyle/>
          <a:p>
            <a:pPr algn="l">
              <a:spcAft>
                <a:spcPts val="400"/>
              </a:spcAft>
            </a:pPr>
            <a:r>
              <a:rPr sz="1800" b="1" i="0">
                <a:solidFill>
                  <a:srgbClr val="0E2841"/>
                </a:solidFill>
                <a:latin typeface="Times New Roman"/>
              </a:rPr>
              <a:t>An Introduction to Database Systems</a:t>
            </a:r>
          </a:p>
          <a:p>
            <a:pPr algn="l">
              <a:spcAft>
                <a:spcPts val="400"/>
              </a:spcAft>
            </a:pPr>
            <a:r>
              <a:rPr sz="1500" b="0" i="0">
                <a:solidFill>
                  <a:srgbClr val="5A6472"/>
                </a:solidFill>
                <a:latin typeface="Times New Roman"/>
              </a:rPr>
              <a:t>C. J. Date</a:t>
            </a:r>
          </a:p>
        </p:txBody>
      </p:sp>
      <p:sp>
        <p:nvSpPr>
          <p:cNvPr id="17" name="TextBox 17"/>
          <p:cNvSpPr txBox="1"/>
          <p:nvPr/>
        </p:nvSpPr>
        <p:spPr>
          <a:xfrm>
            <a:off x="8138160" y="4206240"/>
            <a:ext cx="3108960" cy="731520"/>
          </a:xfrm>
          <a:prstGeom prst="rect">
            <a:avLst/>
          </a:prstGeom>
          <a:noFill/>
        </p:spPr>
        <p:txBody>
          <a:bodyPr wrap="square" lIns="0" tIns="18288" rIns="0" bIns="18288" anchor="ctr"/>
          <a:lstStyle/>
          <a:p>
            <a:pPr algn="r">
              <a:spcAft>
                <a:spcPts val="400"/>
              </a:spcAft>
            </a:pPr>
            <a:r>
              <a:rPr sz="1500" b="0" i="0">
                <a:solidFill>
                  <a:srgbClr val="2B2B2B"/>
                </a:solidFill>
                <a:latin typeface="Times New Roman"/>
              </a:rPr>
              <a:t>8th Edition  ·  Pearson  ·  2003</a:t>
            </a:r>
          </a:p>
        </p:txBody>
      </p:sp>
      <p:sp>
        <p:nvSpPr>
          <p:cNvPr id="18" name="Row"/>
          <p:cNvSpPr/>
          <p:nvPr/>
        </p:nvSpPr>
        <p:spPr>
          <a:xfrm>
            <a:off x="841248" y="5029200"/>
            <a:ext cx="10515600" cy="7315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w Bar"/>
          <p:cNvSpPr/>
          <p:nvPr/>
        </p:nvSpPr>
        <p:spPr>
          <a:xfrm>
            <a:off x="841248" y="5029200"/>
            <a:ext cx="109728" cy="7315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20"/>
          <p:cNvSpPr txBox="1"/>
          <p:nvPr/>
        </p:nvSpPr>
        <p:spPr>
          <a:xfrm>
            <a:off x="1161288" y="5029200"/>
            <a:ext cx="6858000" cy="731520"/>
          </a:xfrm>
          <a:prstGeom prst="rect">
            <a:avLst/>
          </a:prstGeom>
          <a:noFill/>
        </p:spPr>
        <p:txBody>
          <a:bodyPr wrap="square" lIns="0" tIns="18288" rIns="0" bIns="18288" anchor="ctr"/>
          <a:lstStyle/>
          <a:p>
            <a:pPr algn="l">
              <a:spcAft>
                <a:spcPts val="400"/>
              </a:spcAft>
            </a:pPr>
            <a:r>
              <a:rPr sz="1800" b="1" i="0">
                <a:solidFill>
                  <a:srgbClr val="0E2841"/>
                </a:solidFill>
                <a:latin typeface="Times New Roman"/>
              </a:rPr>
              <a:t>Designing Data-Intensive Applications</a:t>
            </a:r>
          </a:p>
          <a:p>
            <a:pPr algn="l">
              <a:spcAft>
                <a:spcPts val="400"/>
              </a:spcAft>
            </a:pPr>
            <a:r>
              <a:rPr sz="1500" b="0" i="0">
                <a:solidFill>
                  <a:srgbClr val="5A6472"/>
                </a:solidFill>
                <a:latin typeface="Times New Roman"/>
              </a:rPr>
              <a:t>Martin Kleppmann</a:t>
            </a:r>
          </a:p>
        </p:txBody>
      </p:sp>
      <p:sp>
        <p:nvSpPr>
          <p:cNvPr id="21" name="TextBox 21"/>
          <p:cNvSpPr txBox="1"/>
          <p:nvPr/>
        </p:nvSpPr>
        <p:spPr>
          <a:xfrm>
            <a:off x="8138160" y="5029200"/>
            <a:ext cx="3108960" cy="731520"/>
          </a:xfrm>
          <a:prstGeom prst="rect">
            <a:avLst/>
          </a:prstGeom>
          <a:noFill/>
        </p:spPr>
        <p:txBody>
          <a:bodyPr wrap="square" lIns="0" tIns="18288" rIns="0" bIns="18288" anchor="ctr"/>
          <a:lstStyle/>
          <a:p>
            <a:pPr algn="r">
              <a:spcAft>
                <a:spcPts val="400"/>
              </a:spcAft>
            </a:pPr>
            <a:r>
              <a:rPr sz="1500" b="0" i="0">
                <a:solidFill>
                  <a:srgbClr val="2B2B2B"/>
                </a:solidFill>
                <a:latin typeface="Times New Roman"/>
              </a:rPr>
              <a:t>O’Reilly  ·  2017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71A10-ABE3-68E7-F377-58AC42811D6D}"/>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F52E1FA3-52F3-CD86-9B26-5D53F3F0B3C3}"/>
              </a:ext>
            </a:extLst>
          </p:cNvPr>
          <p:cNvSpPr>
            <a:spLocks noGrp="1"/>
          </p:cNvSpPr>
          <p:nvPr>
            <p:ph type="title"/>
          </p:nvPr>
        </p:nvSpPr>
        <p:spPr/>
        <p:txBody>
          <a:bodyPr>
            <a:normAutofit/>
          </a:bodyPr>
          <a:lstStyle/>
          <a:p>
            <a:r>
              <a:rPr sz="3600" b="1">
                <a:solidFill>
                  <a:srgbClr val="0E2841"/>
                </a:solidFill>
                <a:latin typeface="Times New Roman"/>
              </a:rPr>
              <a:t>Further Reading &amp; Self-Learning</a:t>
            </a:r>
          </a:p>
        </p:txBody>
      </p:sp>
      <p:sp>
        <p:nvSpPr>
          <p:cNvPr id="2" name="Card">
            <a:extLst>
              <a:ext uri="{FF2B5EF4-FFF2-40B4-BE49-F238E27FC236}">
                <a16:creationId xmlns:a16="http://schemas.microsoft.com/office/drawing/2014/main" id="{6F12C97B-6954-17AD-2B1F-0F6AEE792550}"/>
              </a:ext>
            </a:extLst>
          </p:cNvPr>
          <p:cNvSpPr/>
          <p:nvPr/>
        </p:nvSpPr>
        <p:spPr>
          <a:xfrm>
            <a:off x="841248" y="1343467"/>
            <a:ext cx="3261360" cy="1943098"/>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Card Bar">
            <a:extLst>
              <a:ext uri="{FF2B5EF4-FFF2-40B4-BE49-F238E27FC236}">
                <a16:creationId xmlns:a16="http://schemas.microsoft.com/office/drawing/2014/main" id="{51C04C88-813E-4D54-150A-E2462B416FEF}"/>
              </a:ext>
            </a:extLst>
          </p:cNvPr>
          <p:cNvSpPr/>
          <p:nvPr/>
        </p:nvSpPr>
        <p:spPr>
          <a:xfrm>
            <a:off x="841248" y="1343467"/>
            <a:ext cx="3261360" cy="1188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
            <a:extLst>
              <a:ext uri="{FF2B5EF4-FFF2-40B4-BE49-F238E27FC236}">
                <a16:creationId xmlns:a16="http://schemas.microsoft.com/office/drawing/2014/main" id="{4F81F734-E8CF-909E-3FEF-9CF5B549FC4F}"/>
              </a:ext>
            </a:extLst>
          </p:cNvPr>
          <p:cNvSpPr txBox="1"/>
          <p:nvPr/>
        </p:nvSpPr>
        <p:spPr>
          <a:xfrm>
            <a:off x="1069848" y="1599499"/>
            <a:ext cx="280416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NPTEL</a:t>
            </a:r>
          </a:p>
        </p:txBody>
      </p:sp>
      <p:sp>
        <p:nvSpPr>
          <p:cNvPr id="5" name="TextBox 5">
            <a:extLst>
              <a:ext uri="{FF2B5EF4-FFF2-40B4-BE49-F238E27FC236}">
                <a16:creationId xmlns:a16="http://schemas.microsoft.com/office/drawing/2014/main" id="{5A989EB1-0206-35F7-2B57-302355E98881}"/>
              </a:ext>
            </a:extLst>
          </p:cNvPr>
          <p:cNvSpPr txBox="1"/>
          <p:nvPr/>
        </p:nvSpPr>
        <p:spPr>
          <a:xfrm>
            <a:off x="1069848" y="2212147"/>
            <a:ext cx="2804160" cy="914400"/>
          </a:xfrm>
          <a:prstGeom prst="rect">
            <a:avLst/>
          </a:prstGeom>
          <a:noFill/>
        </p:spPr>
        <p:txBody>
          <a:bodyPr wrap="square" lIns="0" tIns="18288" rIns="0" bIns="18288" anchor="ctr"/>
          <a:lstStyle/>
          <a:p>
            <a:pPr algn="ctr">
              <a:spcAft>
                <a:spcPts val="400"/>
              </a:spcAft>
            </a:pPr>
            <a:r>
              <a:rPr sz="1600" b="0" i="0" dirty="0">
                <a:solidFill>
                  <a:srgbClr val="5A6472"/>
                </a:solidFill>
                <a:latin typeface="Times New Roman"/>
              </a:rPr>
              <a:t>Database Management Systems — full video course with assignments</a:t>
            </a:r>
            <a:endParaRPr lang="en-IN" sz="1600" b="0" i="0" dirty="0">
              <a:solidFill>
                <a:srgbClr val="5A6472"/>
              </a:solidFill>
              <a:latin typeface="Times New Roman"/>
            </a:endParaRPr>
          </a:p>
          <a:p>
            <a:pPr algn="ctr">
              <a:spcAft>
                <a:spcPts val="400"/>
              </a:spcAft>
            </a:pPr>
            <a:r>
              <a:rPr lang="en-IN" sz="1200" dirty="0"/>
              <a:t>https://nptel.ac.in/courses/106105175</a:t>
            </a:r>
            <a:endParaRPr sz="1200" b="0" i="0" dirty="0">
              <a:solidFill>
                <a:srgbClr val="5A6472"/>
              </a:solidFill>
              <a:latin typeface="Times New Roman"/>
            </a:endParaRPr>
          </a:p>
        </p:txBody>
      </p:sp>
      <p:sp>
        <p:nvSpPr>
          <p:cNvPr id="6" name="Card">
            <a:extLst>
              <a:ext uri="{FF2B5EF4-FFF2-40B4-BE49-F238E27FC236}">
                <a16:creationId xmlns:a16="http://schemas.microsoft.com/office/drawing/2014/main" id="{AC919329-26B2-0775-A618-24A3292ECAC2}"/>
              </a:ext>
            </a:extLst>
          </p:cNvPr>
          <p:cNvSpPr/>
          <p:nvPr/>
        </p:nvSpPr>
        <p:spPr>
          <a:xfrm>
            <a:off x="4468368" y="1343467"/>
            <a:ext cx="3261360" cy="19202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Card Bar">
            <a:extLst>
              <a:ext uri="{FF2B5EF4-FFF2-40B4-BE49-F238E27FC236}">
                <a16:creationId xmlns:a16="http://schemas.microsoft.com/office/drawing/2014/main" id="{3D17D449-3110-6FAB-5830-F14B18FFC64E}"/>
              </a:ext>
            </a:extLst>
          </p:cNvPr>
          <p:cNvSpPr/>
          <p:nvPr/>
        </p:nvSpPr>
        <p:spPr>
          <a:xfrm>
            <a:off x="4468368" y="1343467"/>
            <a:ext cx="3261360" cy="11887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8">
            <a:extLst>
              <a:ext uri="{FF2B5EF4-FFF2-40B4-BE49-F238E27FC236}">
                <a16:creationId xmlns:a16="http://schemas.microsoft.com/office/drawing/2014/main" id="{D4721E83-4287-4AFD-3DCB-86B0F90F6268}"/>
              </a:ext>
            </a:extLst>
          </p:cNvPr>
          <p:cNvSpPr txBox="1"/>
          <p:nvPr/>
        </p:nvSpPr>
        <p:spPr>
          <a:xfrm>
            <a:off x="4696968" y="1599499"/>
            <a:ext cx="280416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MongoDB University</a:t>
            </a:r>
          </a:p>
        </p:txBody>
      </p:sp>
      <p:sp>
        <p:nvSpPr>
          <p:cNvPr id="9" name="TextBox 9">
            <a:extLst>
              <a:ext uri="{FF2B5EF4-FFF2-40B4-BE49-F238E27FC236}">
                <a16:creationId xmlns:a16="http://schemas.microsoft.com/office/drawing/2014/main" id="{2991926F-67E4-E141-7A90-416B293E438D}"/>
              </a:ext>
            </a:extLst>
          </p:cNvPr>
          <p:cNvSpPr txBox="1"/>
          <p:nvPr/>
        </p:nvSpPr>
        <p:spPr>
          <a:xfrm>
            <a:off x="4696968" y="2212147"/>
            <a:ext cx="2804160" cy="914400"/>
          </a:xfrm>
          <a:prstGeom prst="rect">
            <a:avLst/>
          </a:prstGeom>
          <a:noFill/>
        </p:spPr>
        <p:txBody>
          <a:bodyPr wrap="square" lIns="0" tIns="18288" rIns="0" bIns="18288" anchor="ctr"/>
          <a:lstStyle/>
          <a:p>
            <a:pPr algn="ctr">
              <a:spcAft>
                <a:spcPts val="400"/>
              </a:spcAft>
            </a:pPr>
            <a:r>
              <a:rPr sz="1600" b="0" i="0" dirty="0">
                <a:solidFill>
                  <a:srgbClr val="5A6472"/>
                </a:solidFill>
                <a:latin typeface="Times New Roman"/>
              </a:rPr>
              <a:t>Free NoSQL and distributed-systems learning paths</a:t>
            </a:r>
            <a:endParaRPr lang="en-IN" sz="1600" b="0" i="0" dirty="0">
              <a:solidFill>
                <a:srgbClr val="5A6472"/>
              </a:solidFill>
              <a:latin typeface="Times New Roman"/>
            </a:endParaRPr>
          </a:p>
          <a:p>
            <a:pPr algn="ctr">
              <a:spcAft>
                <a:spcPts val="400"/>
              </a:spcAft>
            </a:pPr>
            <a:r>
              <a:rPr lang="en-IN" sz="1200" dirty="0"/>
              <a:t>Universityhttps://learn.mongodb.com/</a:t>
            </a:r>
            <a:endParaRPr sz="1200" b="0" i="0" dirty="0">
              <a:solidFill>
                <a:srgbClr val="5A6472"/>
              </a:solidFill>
              <a:latin typeface="Times New Roman"/>
            </a:endParaRPr>
          </a:p>
        </p:txBody>
      </p:sp>
      <p:sp>
        <p:nvSpPr>
          <p:cNvPr id="10" name="Card">
            <a:extLst>
              <a:ext uri="{FF2B5EF4-FFF2-40B4-BE49-F238E27FC236}">
                <a16:creationId xmlns:a16="http://schemas.microsoft.com/office/drawing/2014/main" id="{969CC213-8908-78A7-070F-FDD9E4772623}"/>
              </a:ext>
            </a:extLst>
          </p:cNvPr>
          <p:cNvSpPr/>
          <p:nvPr/>
        </p:nvSpPr>
        <p:spPr>
          <a:xfrm>
            <a:off x="8095488" y="1343467"/>
            <a:ext cx="3261360" cy="1920240"/>
          </a:xfrm>
          <a:prstGeom prst="roundRect">
            <a:avLst>
              <a:gd name="adj" fmla="val 7000"/>
            </a:avLst>
          </a:prstGeom>
          <a:solidFill>
            <a:srgbClr val="FFFFFF"/>
          </a:solidFill>
          <a:ln w="12700">
            <a:solidFill>
              <a:srgbClr val="D2DC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ard Bar">
            <a:extLst>
              <a:ext uri="{FF2B5EF4-FFF2-40B4-BE49-F238E27FC236}">
                <a16:creationId xmlns:a16="http://schemas.microsoft.com/office/drawing/2014/main" id="{189E544D-7855-C6CB-B5BA-CE8DCE224E12}"/>
              </a:ext>
            </a:extLst>
          </p:cNvPr>
          <p:cNvSpPr/>
          <p:nvPr/>
        </p:nvSpPr>
        <p:spPr>
          <a:xfrm>
            <a:off x="8095488" y="1343467"/>
            <a:ext cx="3261360" cy="118872"/>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2">
            <a:extLst>
              <a:ext uri="{FF2B5EF4-FFF2-40B4-BE49-F238E27FC236}">
                <a16:creationId xmlns:a16="http://schemas.microsoft.com/office/drawing/2014/main" id="{11C271D0-5395-8E01-FB67-77CA1BF7F689}"/>
              </a:ext>
            </a:extLst>
          </p:cNvPr>
          <p:cNvSpPr txBox="1"/>
          <p:nvPr/>
        </p:nvSpPr>
        <p:spPr>
          <a:xfrm>
            <a:off x="8324088" y="1599499"/>
            <a:ext cx="2804160" cy="548640"/>
          </a:xfrm>
          <a:prstGeom prst="rect">
            <a:avLst/>
          </a:prstGeom>
          <a:noFill/>
        </p:spPr>
        <p:txBody>
          <a:bodyPr wrap="square" lIns="0" tIns="18288" rIns="0" bIns="18288" anchor="ctr"/>
          <a:lstStyle/>
          <a:p>
            <a:pPr algn="ctr">
              <a:spcAft>
                <a:spcPts val="400"/>
              </a:spcAft>
            </a:pPr>
            <a:r>
              <a:rPr sz="2000" b="1" i="0">
                <a:solidFill>
                  <a:srgbClr val="0E2841"/>
                </a:solidFill>
                <a:latin typeface="Times New Roman"/>
              </a:rPr>
              <a:t>AWS &amp; Google Cloud</a:t>
            </a:r>
          </a:p>
        </p:txBody>
      </p:sp>
      <p:sp>
        <p:nvSpPr>
          <p:cNvPr id="13" name="TextBox 13">
            <a:extLst>
              <a:ext uri="{FF2B5EF4-FFF2-40B4-BE49-F238E27FC236}">
                <a16:creationId xmlns:a16="http://schemas.microsoft.com/office/drawing/2014/main" id="{C02CFB20-A113-0A90-456F-3B99FDB956BB}"/>
              </a:ext>
            </a:extLst>
          </p:cNvPr>
          <p:cNvSpPr txBox="1"/>
          <p:nvPr/>
        </p:nvSpPr>
        <p:spPr>
          <a:xfrm>
            <a:off x="8324088" y="2212147"/>
            <a:ext cx="2804160" cy="914400"/>
          </a:xfrm>
          <a:prstGeom prst="rect">
            <a:avLst/>
          </a:prstGeom>
          <a:noFill/>
        </p:spPr>
        <p:txBody>
          <a:bodyPr wrap="square" lIns="0" tIns="18288" rIns="0" bIns="18288" anchor="ctr"/>
          <a:lstStyle/>
          <a:p>
            <a:pPr algn="ctr">
              <a:spcAft>
                <a:spcPts val="400"/>
              </a:spcAft>
            </a:pPr>
            <a:r>
              <a:rPr sz="1600" b="0" i="0" dirty="0">
                <a:solidFill>
                  <a:srgbClr val="5A6472"/>
                </a:solidFill>
                <a:latin typeface="Times New Roman"/>
              </a:rPr>
              <a:t>Aurora, DynamoDB and Spanner architecture guides</a:t>
            </a:r>
            <a:endParaRPr lang="en-IN" sz="1600" b="0" i="0" dirty="0">
              <a:solidFill>
                <a:srgbClr val="5A6472"/>
              </a:solidFill>
              <a:latin typeface="Times New Roman"/>
            </a:endParaRPr>
          </a:p>
          <a:p>
            <a:pPr algn="ctr">
              <a:spcAft>
                <a:spcPts val="400"/>
              </a:spcAft>
            </a:pPr>
            <a:r>
              <a:rPr lang="en-IN" sz="1200" dirty="0"/>
              <a:t>https://aws.amazon.com/products/databases/</a:t>
            </a:r>
            <a:endParaRPr sz="1200" b="0" i="0" dirty="0">
              <a:solidFill>
                <a:srgbClr val="5A6472"/>
              </a:solidFill>
              <a:latin typeface="Times New Roman"/>
            </a:endParaRPr>
          </a:p>
        </p:txBody>
      </p:sp>
      <p:sp>
        <p:nvSpPr>
          <p:cNvPr id="14" name="Panel">
            <a:extLst>
              <a:ext uri="{FF2B5EF4-FFF2-40B4-BE49-F238E27FC236}">
                <a16:creationId xmlns:a16="http://schemas.microsoft.com/office/drawing/2014/main" id="{1CC86020-D710-89BB-979F-99BEBA520380}"/>
              </a:ext>
            </a:extLst>
          </p:cNvPr>
          <p:cNvSpPr/>
          <p:nvPr/>
        </p:nvSpPr>
        <p:spPr>
          <a:xfrm>
            <a:off x="841248" y="3469445"/>
            <a:ext cx="10515600" cy="268517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5">
            <a:extLst>
              <a:ext uri="{FF2B5EF4-FFF2-40B4-BE49-F238E27FC236}">
                <a16:creationId xmlns:a16="http://schemas.microsoft.com/office/drawing/2014/main" id="{0B563AAA-772A-2D33-DA45-0BEBFBEFA2B7}"/>
              </a:ext>
            </a:extLst>
          </p:cNvPr>
          <p:cNvSpPr txBox="1"/>
          <p:nvPr/>
        </p:nvSpPr>
        <p:spPr>
          <a:xfrm>
            <a:off x="1298448" y="3652325"/>
            <a:ext cx="9601200" cy="1188720"/>
          </a:xfrm>
          <a:prstGeom prst="rect">
            <a:avLst/>
          </a:prstGeom>
          <a:noFill/>
        </p:spPr>
        <p:txBody>
          <a:bodyPr wrap="square" lIns="0" tIns="18288" rIns="0" bIns="18288" anchor="t"/>
          <a:lstStyle/>
          <a:p>
            <a:pPr algn="l">
              <a:spcAft>
                <a:spcPts val="400"/>
              </a:spcAft>
            </a:pPr>
            <a:endParaRPr sz="1700" b="0" i="0" dirty="0">
              <a:solidFill>
                <a:srgbClr val="2B2B2B"/>
              </a:solidFill>
              <a:latin typeface="Times New Roman"/>
            </a:endParaRPr>
          </a:p>
        </p:txBody>
      </p:sp>
      <p:graphicFrame>
        <p:nvGraphicFramePr>
          <p:cNvPr id="17" name="Table 16">
            <a:extLst>
              <a:ext uri="{FF2B5EF4-FFF2-40B4-BE49-F238E27FC236}">
                <a16:creationId xmlns:a16="http://schemas.microsoft.com/office/drawing/2014/main" id="{92411BE3-684A-4D7C-05FA-0434DE84C55E}"/>
              </a:ext>
            </a:extLst>
          </p:cNvPr>
          <p:cNvGraphicFramePr>
            <a:graphicFrameLocks noGrp="1"/>
          </p:cNvGraphicFramePr>
          <p:nvPr>
            <p:extLst>
              <p:ext uri="{D42A27DB-BD31-4B8C-83A1-F6EECF244321}">
                <p14:modId xmlns:p14="http://schemas.microsoft.com/office/powerpoint/2010/main" val="531531329"/>
              </p:ext>
            </p:extLst>
          </p:nvPr>
        </p:nvGraphicFramePr>
        <p:xfrm>
          <a:off x="838200" y="3836258"/>
          <a:ext cx="10515600" cy="2194560"/>
        </p:xfrm>
        <a:graphic>
          <a:graphicData uri="http://schemas.openxmlformats.org/drawingml/2006/table">
            <a:tbl>
              <a:tblPr/>
              <a:tblGrid>
                <a:gridCol w="2628900">
                  <a:extLst>
                    <a:ext uri="{9D8B030D-6E8A-4147-A177-3AD203B41FA5}">
                      <a16:colId xmlns:a16="http://schemas.microsoft.com/office/drawing/2014/main" val="3271811341"/>
                    </a:ext>
                  </a:extLst>
                </a:gridCol>
                <a:gridCol w="2628900">
                  <a:extLst>
                    <a:ext uri="{9D8B030D-6E8A-4147-A177-3AD203B41FA5}">
                      <a16:colId xmlns:a16="http://schemas.microsoft.com/office/drawing/2014/main" val="3712164114"/>
                    </a:ext>
                  </a:extLst>
                </a:gridCol>
                <a:gridCol w="2628900">
                  <a:extLst>
                    <a:ext uri="{9D8B030D-6E8A-4147-A177-3AD203B41FA5}">
                      <a16:colId xmlns:a16="http://schemas.microsoft.com/office/drawing/2014/main" val="1659829961"/>
                    </a:ext>
                  </a:extLst>
                </a:gridCol>
                <a:gridCol w="2628900">
                  <a:extLst>
                    <a:ext uri="{9D8B030D-6E8A-4147-A177-3AD203B41FA5}">
                      <a16:colId xmlns:a16="http://schemas.microsoft.com/office/drawing/2014/main" val="31093116"/>
                    </a:ext>
                  </a:extLst>
                </a:gridCol>
              </a:tblGrid>
              <a:tr h="0">
                <a:tc>
                  <a:txBody>
                    <a:bodyPr/>
                    <a:lstStyle/>
                    <a:p>
                      <a:pPr>
                        <a:buNone/>
                      </a:pPr>
                      <a:r>
                        <a:rPr lang="en-IN" sz="1400"/>
                        <a:t>Book</a:t>
                      </a:r>
                    </a:p>
                  </a:txBody>
                  <a:tcPr anchor="ctr">
                    <a:lnL>
                      <a:noFill/>
                    </a:lnL>
                    <a:lnR>
                      <a:noFill/>
                    </a:lnR>
                    <a:lnT>
                      <a:noFill/>
                    </a:lnT>
                    <a:lnB>
                      <a:noFill/>
                    </a:lnB>
                    <a:noFill/>
                  </a:tcPr>
                </a:tc>
                <a:tc>
                  <a:txBody>
                    <a:bodyPr/>
                    <a:lstStyle/>
                    <a:p>
                      <a:pPr>
                        <a:buNone/>
                      </a:pPr>
                      <a:r>
                        <a:rPr lang="en-IN" sz="1400"/>
                        <a:t>Latest edition</a:t>
                      </a:r>
                    </a:p>
                  </a:txBody>
                  <a:tcPr anchor="ctr">
                    <a:lnL>
                      <a:noFill/>
                    </a:lnL>
                    <a:lnR>
                      <a:noFill/>
                    </a:lnR>
                    <a:lnT>
                      <a:noFill/>
                    </a:lnT>
                    <a:lnB>
                      <a:noFill/>
                    </a:lnB>
                    <a:noFill/>
                  </a:tcPr>
                </a:tc>
                <a:tc>
                  <a:txBody>
                    <a:bodyPr/>
                    <a:lstStyle/>
                    <a:p>
                      <a:pPr>
                        <a:buNone/>
                      </a:pPr>
                      <a:r>
                        <a:rPr lang="en-IN" sz="1400"/>
                        <a:t>Publisher / year</a:t>
                      </a:r>
                    </a:p>
                  </a:txBody>
                  <a:tcPr anchor="ctr">
                    <a:lnL>
                      <a:noFill/>
                    </a:lnL>
                    <a:lnR>
                      <a:noFill/>
                    </a:lnR>
                    <a:lnT>
                      <a:noFill/>
                    </a:lnT>
                    <a:lnB>
                      <a:noFill/>
                    </a:lnB>
                    <a:noFill/>
                  </a:tcPr>
                </a:tc>
                <a:tc>
                  <a:txBody>
                    <a:bodyPr/>
                    <a:lstStyle/>
                    <a:p>
                      <a:pPr>
                        <a:buNone/>
                      </a:pPr>
                      <a:r>
                        <a:rPr lang="en-IN" sz="1400"/>
                        <a:t>Link</a:t>
                      </a:r>
                    </a:p>
                  </a:txBody>
                  <a:tcPr anchor="ctr">
                    <a:lnL>
                      <a:noFill/>
                    </a:lnL>
                    <a:lnR>
                      <a:noFill/>
                    </a:lnR>
                    <a:lnT>
                      <a:noFill/>
                    </a:lnT>
                    <a:lnB>
                      <a:noFill/>
                    </a:lnB>
                    <a:noFill/>
                  </a:tcPr>
                </a:tc>
                <a:extLst>
                  <a:ext uri="{0D108BD9-81ED-4DB2-BD59-A6C34878D82A}">
                    <a16:rowId xmlns:a16="http://schemas.microsoft.com/office/drawing/2014/main" val="3528479218"/>
                  </a:ext>
                </a:extLst>
              </a:tr>
              <a:tr h="0">
                <a:tc>
                  <a:txBody>
                    <a:bodyPr/>
                    <a:lstStyle/>
                    <a:p>
                      <a:pPr>
                        <a:buNone/>
                      </a:pPr>
                      <a:r>
                        <a:rPr lang="en-IN" sz="1400" b="1"/>
                        <a:t>Database System Concepts</a:t>
                      </a:r>
                      <a:r>
                        <a:rPr lang="en-IN" sz="1400"/>
                        <a:t> — Silberschatz, Korth, Sudarshan</a:t>
                      </a:r>
                    </a:p>
                  </a:txBody>
                  <a:tcPr anchor="ctr">
                    <a:lnL>
                      <a:noFill/>
                    </a:lnL>
                    <a:lnR>
                      <a:noFill/>
                    </a:lnR>
                    <a:lnT>
                      <a:noFill/>
                    </a:lnT>
                    <a:lnB>
                      <a:noFill/>
                    </a:lnB>
                    <a:noFill/>
                  </a:tcPr>
                </a:tc>
                <a:tc>
                  <a:txBody>
                    <a:bodyPr/>
                    <a:lstStyle/>
                    <a:p>
                      <a:pPr>
                        <a:buNone/>
                      </a:pPr>
                      <a:r>
                        <a:rPr lang="en-IN" sz="1400" b="1"/>
                        <a:t>7th</a:t>
                      </a:r>
                      <a:r>
                        <a:rPr lang="en-IN" sz="1400"/>
                        <a:t> (deck currently says 6th)</a:t>
                      </a:r>
                    </a:p>
                  </a:txBody>
                  <a:tcPr anchor="ctr">
                    <a:lnL>
                      <a:noFill/>
                    </a:lnL>
                    <a:lnR>
                      <a:noFill/>
                    </a:lnR>
                    <a:lnT>
                      <a:noFill/>
                    </a:lnT>
                    <a:lnB>
                      <a:noFill/>
                    </a:lnB>
                    <a:noFill/>
                  </a:tcPr>
                </a:tc>
                <a:tc>
                  <a:txBody>
                    <a:bodyPr/>
                    <a:lstStyle/>
                    <a:p>
                      <a:pPr>
                        <a:buNone/>
                      </a:pPr>
                      <a:r>
                        <a:rPr lang="en-IN" sz="1400"/>
                        <a:t>McGraw-Hill, 2019 · ISBN 978-0078022159</a:t>
                      </a:r>
                    </a:p>
                  </a:txBody>
                  <a:tcPr anchor="ctr">
                    <a:lnL>
                      <a:noFill/>
                    </a:lnL>
                    <a:lnR>
                      <a:noFill/>
                    </a:lnR>
                    <a:lnT>
                      <a:noFill/>
                    </a:lnT>
                    <a:lnB>
                      <a:noFill/>
                    </a:lnB>
                    <a:noFill/>
                  </a:tcPr>
                </a:tc>
                <a:tc>
                  <a:txBody>
                    <a:bodyPr/>
                    <a:lstStyle/>
                    <a:p>
                      <a:pPr>
                        <a:buNone/>
                      </a:pPr>
                      <a:r>
                        <a:rPr lang="en-IN" sz="1400">
                          <a:latin typeface="Courier New" panose="02070309020205020404" pitchFamily="49" charset="0"/>
                        </a:rPr>
                        <a:t>https://www.db-book.com/</a:t>
                      </a:r>
                      <a:r>
                        <a:rPr lang="en-IN" sz="1400"/>
                        <a:t> — free slides, lab manual, sample DB</a:t>
                      </a:r>
                    </a:p>
                  </a:txBody>
                  <a:tcPr anchor="ctr">
                    <a:lnL>
                      <a:noFill/>
                    </a:lnL>
                    <a:lnR>
                      <a:noFill/>
                    </a:lnR>
                    <a:lnT>
                      <a:noFill/>
                    </a:lnT>
                    <a:lnB>
                      <a:noFill/>
                    </a:lnB>
                    <a:noFill/>
                  </a:tcPr>
                </a:tc>
                <a:extLst>
                  <a:ext uri="{0D108BD9-81ED-4DB2-BD59-A6C34878D82A}">
                    <a16:rowId xmlns:a16="http://schemas.microsoft.com/office/drawing/2014/main" val="1389146953"/>
                  </a:ext>
                </a:extLst>
              </a:tr>
              <a:tr h="0">
                <a:tc>
                  <a:txBody>
                    <a:bodyPr/>
                    <a:lstStyle/>
                    <a:p>
                      <a:pPr>
                        <a:buNone/>
                      </a:pPr>
                      <a:r>
                        <a:rPr lang="en-IN" sz="1400" b="1" dirty="0"/>
                        <a:t>Fundamentals of Database Systems</a:t>
                      </a:r>
                      <a:r>
                        <a:rPr lang="en-IN" sz="1400" dirty="0"/>
                        <a:t> — Elmasri &amp; Navathe</a:t>
                      </a:r>
                    </a:p>
                  </a:txBody>
                  <a:tcPr anchor="ctr">
                    <a:lnL>
                      <a:noFill/>
                    </a:lnL>
                    <a:lnR>
                      <a:noFill/>
                    </a:lnR>
                    <a:lnT>
                      <a:noFill/>
                    </a:lnT>
                    <a:lnB>
                      <a:noFill/>
                    </a:lnB>
                    <a:noFill/>
                  </a:tcPr>
                </a:tc>
                <a:tc>
                  <a:txBody>
                    <a:bodyPr/>
                    <a:lstStyle/>
                    <a:p>
                      <a:pPr>
                        <a:buNone/>
                      </a:pPr>
                      <a:r>
                        <a:rPr lang="en-IN" sz="1400" b="1" dirty="0"/>
                        <a:t>7th</a:t>
                      </a:r>
                      <a:r>
                        <a:rPr lang="en-IN" sz="1400" dirty="0"/>
                        <a:t> (deck currently says 3rd)</a:t>
                      </a:r>
                    </a:p>
                  </a:txBody>
                  <a:tcPr anchor="ctr">
                    <a:lnL>
                      <a:noFill/>
                    </a:lnL>
                    <a:lnR>
                      <a:noFill/>
                    </a:lnR>
                    <a:lnT>
                      <a:noFill/>
                    </a:lnT>
                    <a:lnB>
                      <a:noFill/>
                    </a:lnB>
                    <a:noFill/>
                  </a:tcPr>
                </a:tc>
                <a:tc>
                  <a:txBody>
                    <a:bodyPr/>
                    <a:lstStyle/>
                    <a:p>
                      <a:pPr>
                        <a:buNone/>
                      </a:pPr>
                      <a:r>
                        <a:rPr lang="en-IN" sz="1400"/>
                        <a:t>Pearson, 2016 · ISBN 978-0133970777</a:t>
                      </a:r>
                    </a:p>
                  </a:txBody>
                  <a:tcPr anchor="ctr">
                    <a:lnL>
                      <a:noFill/>
                    </a:lnL>
                    <a:lnR>
                      <a:noFill/>
                    </a:lnR>
                    <a:lnT>
                      <a:noFill/>
                    </a:lnT>
                    <a:lnB>
                      <a:noFill/>
                    </a:lnB>
                    <a:noFill/>
                  </a:tcPr>
                </a:tc>
                <a:tc>
                  <a:txBody>
                    <a:bodyPr/>
                    <a:lstStyle/>
                    <a:p>
                      <a:pPr>
                        <a:buNone/>
                      </a:pPr>
                      <a:r>
                        <a:rPr lang="en-IN" sz="1400" dirty="0">
                          <a:latin typeface="Courier New" panose="02070309020205020404" pitchFamily="49" charset="0"/>
                        </a:rPr>
                        <a:t>https://www.pearson.com/en-us/subject-catalog/p/fundamentals-of-database-systems/P200000003546</a:t>
                      </a:r>
                      <a:endParaRPr lang="en-IN" sz="1400" dirty="0"/>
                    </a:p>
                  </a:txBody>
                  <a:tcPr anchor="ctr">
                    <a:lnL>
                      <a:noFill/>
                    </a:lnL>
                    <a:lnR>
                      <a:noFill/>
                    </a:lnR>
                    <a:lnT>
                      <a:noFill/>
                    </a:lnT>
                    <a:lnB>
                      <a:noFill/>
                    </a:lnB>
                    <a:noFill/>
                  </a:tcPr>
                </a:tc>
                <a:extLst>
                  <a:ext uri="{0D108BD9-81ED-4DB2-BD59-A6C34878D82A}">
                    <a16:rowId xmlns:a16="http://schemas.microsoft.com/office/drawing/2014/main" val="1703147924"/>
                  </a:ext>
                </a:extLst>
              </a:tr>
            </a:tbl>
          </a:graphicData>
        </a:graphic>
      </p:graphicFrame>
    </p:spTree>
    <p:extLst>
      <p:ext uri="{BB962C8B-B14F-4D97-AF65-F5344CB8AC3E}">
        <p14:creationId xmlns:p14="http://schemas.microsoft.com/office/powerpoint/2010/main" val="3024862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p:txBody>
          <a:bodyPr>
            <a:normAutofit/>
          </a:bodyPr>
          <a:lstStyle/>
          <a:p>
            <a:r>
              <a:rPr sz="3600" b="1">
                <a:solidFill>
                  <a:srgbClr val="0E2841"/>
                </a:solidFill>
                <a:latin typeface="Times New Roman"/>
              </a:rPr>
              <a:t>Exit Ticket</a:t>
            </a:r>
          </a:p>
        </p:txBody>
      </p:sp>
      <p:sp>
        <p:nvSpPr>
          <p:cNvPr id="2" name="TextBox 2"/>
          <p:cNvSpPr txBox="1"/>
          <p:nvPr/>
        </p:nvSpPr>
        <p:spPr>
          <a:xfrm>
            <a:off x="841248" y="1691640"/>
            <a:ext cx="10515600" cy="411480"/>
          </a:xfrm>
          <a:prstGeom prst="rect">
            <a:avLst/>
          </a:prstGeom>
          <a:noFill/>
        </p:spPr>
        <p:txBody>
          <a:bodyPr wrap="square" lIns="0" tIns="18288" rIns="0" bIns="18288" anchor="ctr"/>
          <a:lstStyle/>
          <a:p>
            <a:pPr algn="l">
              <a:spcAft>
                <a:spcPts val="400"/>
              </a:spcAft>
            </a:pPr>
            <a:r>
              <a:rPr sz="2400" b="1" i="0">
                <a:solidFill>
                  <a:srgbClr val="156082"/>
                </a:solidFill>
                <a:latin typeface="Times New Roman"/>
              </a:rPr>
              <a:t>Before you leave…</a:t>
            </a:r>
          </a:p>
        </p:txBody>
      </p:sp>
      <p:sp>
        <p:nvSpPr>
          <p:cNvPr id="3" name="Row"/>
          <p:cNvSpPr/>
          <p:nvPr/>
        </p:nvSpPr>
        <p:spPr>
          <a:xfrm>
            <a:off x="841248" y="2377440"/>
            <a:ext cx="1051560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ow Bar"/>
          <p:cNvSpPr/>
          <p:nvPr/>
        </p:nvSpPr>
        <p:spPr>
          <a:xfrm>
            <a:off x="841248" y="2377440"/>
            <a:ext cx="109728" cy="914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Badge"/>
          <p:cNvSpPr/>
          <p:nvPr/>
        </p:nvSpPr>
        <p:spPr>
          <a:xfrm>
            <a:off x="1069848" y="2514600"/>
            <a:ext cx="640080" cy="640080"/>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6"/>
          <p:cNvSpPr txBox="1"/>
          <p:nvPr/>
        </p:nvSpPr>
        <p:spPr>
          <a:xfrm>
            <a:off x="1069848" y="2514600"/>
            <a:ext cx="640080" cy="64008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1</a:t>
            </a:r>
          </a:p>
        </p:txBody>
      </p:sp>
      <p:sp>
        <p:nvSpPr>
          <p:cNvPr id="7" name="TextBox 7"/>
          <p:cNvSpPr txBox="1"/>
          <p:nvPr/>
        </p:nvSpPr>
        <p:spPr>
          <a:xfrm>
            <a:off x="2029968" y="2377440"/>
            <a:ext cx="8961120" cy="914400"/>
          </a:xfrm>
          <a:prstGeom prst="rect">
            <a:avLst/>
          </a:prstGeom>
          <a:noFill/>
        </p:spPr>
        <p:txBody>
          <a:bodyPr wrap="square" lIns="0" tIns="18288" rIns="0" bIns="18288" anchor="ctr"/>
          <a:lstStyle/>
          <a:p>
            <a:pPr algn="l">
              <a:spcAft>
                <a:spcPts val="400"/>
              </a:spcAft>
            </a:pPr>
            <a:r>
              <a:rPr sz="2000" b="0" i="0">
                <a:solidFill>
                  <a:srgbClr val="2B2B2B"/>
                </a:solidFill>
                <a:latin typeface="Times New Roman"/>
              </a:rPr>
              <a:t>Name one characteristic and one company that depends on it</a:t>
            </a:r>
          </a:p>
        </p:txBody>
      </p:sp>
      <p:sp>
        <p:nvSpPr>
          <p:cNvPr id="8" name="Row"/>
          <p:cNvSpPr/>
          <p:nvPr/>
        </p:nvSpPr>
        <p:spPr>
          <a:xfrm>
            <a:off x="841248" y="3474720"/>
            <a:ext cx="10515600" cy="9144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ow Bar"/>
          <p:cNvSpPr/>
          <p:nvPr/>
        </p:nvSpPr>
        <p:spPr>
          <a:xfrm>
            <a:off x="841248" y="3474720"/>
            <a:ext cx="109728" cy="914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Badge"/>
          <p:cNvSpPr/>
          <p:nvPr/>
        </p:nvSpPr>
        <p:spPr>
          <a:xfrm>
            <a:off x="1069848" y="3611880"/>
            <a:ext cx="640080" cy="640080"/>
          </a:xfrm>
          <a:prstGeom prst="roundRect">
            <a:avLst>
              <a:gd name="adj" fmla="val 2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1"/>
          <p:cNvSpPr txBox="1"/>
          <p:nvPr/>
        </p:nvSpPr>
        <p:spPr>
          <a:xfrm>
            <a:off x="1069848" y="3611880"/>
            <a:ext cx="640080" cy="640080"/>
          </a:xfrm>
          <a:prstGeom prst="rect">
            <a:avLst/>
          </a:prstGeom>
          <a:noFill/>
        </p:spPr>
        <p:txBody>
          <a:bodyPr wrap="square" lIns="0" tIns="18288" rIns="0" bIns="18288" anchor="ctr"/>
          <a:lstStyle/>
          <a:p>
            <a:pPr algn="ctr">
              <a:spcAft>
                <a:spcPts val="400"/>
              </a:spcAft>
            </a:pPr>
            <a:r>
              <a:rPr sz="2000" b="1" i="0">
                <a:solidFill>
                  <a:srgbClr val="FFFFFF"/>
                </a:solidFill>
                <a:latin typeface="Times New Roman"/>
              </a:rPr>
              <a:t>2</a:t>
            </a:r>
          </a:p>
        </p:txBody>
      </p:sp>
      <p:sp>
        <p:nvSpPr>
          <p:cNvPr id="12" name="TextBox 12"/>
          <p:cNvSpPr txBox="1"/>
          <p:nvPr/>
        </p:nvSpPr>
        <p:spPr>
          <a:xfrm>
            <a:off x="2029968" y="3474720"/>
            <a:ext cx="8961120" cy="914400"/>
          </a:xfrm>
          <a:prstGeom prst="rect">
            <a:avLst/>
          </a:prstGeom>
          <a:noFill/>
        </p:spPr>
        <p:txBody>
          <a:bodyPr wrap="square" lIns="0" tIns="18288" rIns="0" bIns="18288" anchor="ctr"/>
          <a:lstStyle/>
          <a:p>
            <a:pPr algn="l">
              <a:spcAft>
                <a:spcPts val="400"/>
              </a:spcAft>
            </a:pPr>
            <a:r>
              <a:rPr sz="2000" b="0" i="0">
                <a:solidFill>
                  <a:srgbClr val="2B2B2B"/>
                </a:solidFill>
                <a:latin typeface="Times New Roman"/>
              </a:rPr>
              <a:t>Which characteristic surprised you most today?</a:t>
            </a:r>
          </a:p>
        </p:txBody>
      </p:sp>
      <p:sp>
        <p:nvSpPr>
          <p:cNvPr id="13" name="Chip"/>
          <p:cNvSpPr/>
          <p:nvPr/>
        </p:nvSpPr>
        <p:spPr>
          <a:xfrm>
            <a:off x="841248" y="4754880"/>
            <a:ext cx="10515600" cy="731520"/>
          </a:xfrm>
          <a:prstGeom prst="roundRect">
            <a:avLst>
              <a:gd name="adj" fmla="val 25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4"/>
          <p:cNvSpPr txBox="1"/>
          <p:nvPr/>
        </p:nvSpPr>
        <p:spPr>
          <a:xfrm>
            <a:off x="841248" y="4754880"/>
            <a:ext cx="10515600" cy="731520"/>
          </a:xfrm>
          <a:prstGeom prst="rect">
            <a:avLst/>
          </a:prstGeom>
          <a:noFill/>
        </p:spPr>
        <p:txBody>
          <a:bodyPr wrap="square" lIns="0" tIns="18288" rIns="0" bIns="18288" anchor="ctr"/>
          <a:lstStyle/>
          <a:p>
            <a:pPr algn="ctr">
              <a:spcAft>
                <a:spcPts val="400"/>
              </a:spcAft>
            </a:pPr>
            <a:r>
              <a:rPr sz="1900" b="1" i="0">
                <a:solidFill>
                  <a:srgbClr val="FFFFFF"/>
                </a:solidFill>
                <a:latin typeface="Times New Roman"/>
              </a:rPr>
              <a:t>Next — Session 3:  Database Architecture &amp; Data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2950</Words>
  <Application>Microsoft Office PowerPoint</Application>
  <PresentationFormat>Widescreen</PresentationFormat>
  <Paragraphs>269</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Prior Knowledge Activation</vt:lpstr>
      <vt:lpstr>Session Outcomes</vt:lpstr>
      <vt:lpstr>Common Misconceptions</vt:lpstr>
      <vt:lpstr>Anatomy of a DBMS Request</vt:lpstr>
      <vt:lpstr>Why These Characteristics Matter</vt:lpstr>
      <vt:lpstr>Six Characteristics at a Glance</vt:lpstr>
      <vt:lpstr>Redundancy and Concurrency in Practice</vt:lpstr>
      <vt:lpstr>Security and Integrity</vt:lpstr>
      <vt:lpstr>Recovery and Independence</vt:lpstr>
      <vt:lpstr>Where a Modern DBMS Runs</vt:lpstr>
      <vt:lpstr>Real-Life Application: One UPI Payment</vt:lpstr>
      <vt:lpstr>Files vs RDBMS vs Cloud-Native</vt:lpstr>
      <vt:lpstr>Hands-on Task</vt:lpstr>
      <vt:lpstr>Think – Pair – Share</vt:lpstr>
      <vt:lpstr>Check for Understanding</vt:lpstr>
      <vt:lpstr>Summary / Takeaways</vt:lpstr>
      <vt:lpstr>Textbooks — Latest Editions</vt:lpstr>
      <vt:lpstr>Further Reading &amp; Self-Learning</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Rohini Kumari</dc:creator>
  <cp:lastModifiedBy>Mansi Kajal-Assistant Professor SOET</cp:lastModifiedBy>
  <cp:revision>28</cp:revision>
  <dcterms:created xsi:type="dcterms:W3CDTF">2025-12-08T16:36:19Z</dcterms:created>
  <dcterms:modified xsi:type="dcterms:W3CDTF">2026-08-05T08:19:25Z</dcterms:modified>
</cp:coreProperties>
</file>