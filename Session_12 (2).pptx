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76" r:id="rId2"/>
    <p:sldId id="287" r:id="rId3"/>
    <p:sldId id="257" r:id="rId4"/>
    <p:sldId id="256"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84" r:id="rId20"/>
    <p:sldId id="272" r:id="rId21"/>
    <p:sldId id="273" r:id="rId22"/>
    <p:sldId id="274" r:id="rId23"/>
    <p:sldId id="275"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0432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to CO3 — applying normalization to design redundancy-free schemas. Bloom's Level 3 (Apply): students must produce decompositions themselves, not merely recite the definitions. This is the shift from Session 11, which was Level 2 (Understand).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Put the relation on screen and take the three questions in order. Expected: the key is the composite (StudentID, CourseID); StudentName and CourseName repeat on every row for the same student or course; repetition causes update, insert and delete anomalies. Do not resolve them fully — the whole session is the answer.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 relation can satisfy 3NF and still fail BCNF when a determinant is not a superkey — the classic advising example later in this session. (2) Decomposition is driven by evidence, not enthusiasm; splitting without a violation costs joins and buys nothing. (3) 4NF and 5NF show up whenever a table stores two independent lists or a triple that is really three pairwise facts — streaming catalogs and CRM territory tables are the standard cases.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rung per kind of redundancy. Each level assumes the one below it, so the ladder is climbed in order — you never check BCNF on a table that is not yet in 1NF. Emphasise that the rules get progressively stricter but the goal never changes: store every fact exactly once. Every OLTP schema at a bank or e-commerce firm climbs this ladder before go-live.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this order in every solution students write. The most common exam mistake is jumping straight to a decomposition without stating the key, which makes it impossible to justify the split. Steps 1 and 2 are evidence gathering; step 3 is the diagnosis reviewers actually grade; steps 4 and 5 are mechanical once the diagnosis is right.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lookup table students should be able to reproduce from memory in an exam. Drill it by reading a clue aloud and asking for the form, then reverse it — name a form and ask for the clue. The bottom strip matters: in schema reviews at MNCs the reviewer wants to hear the diagnosis stated before any table is drawn.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Phones packs two values into one cell, so the relation is not even in 1NF. The fix is a separate relation keyed on (OrderID, Phone). Point out that no information is lost and no information is invented — that is what lossless means. Industry parallel: ingestion pipelines flatten nested payloads into atomic columns as the first gate before any OLTP write.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is the composite (StudentID, CourseID). StudentName depends on only the first half and CourseName on only the second — both are partial dependencies. Grade is the only attribute that genuinely needs the full key, so it is the only one that stays in ENROLLMENT. Ask which anomaly disappears: renaming a course now touches one row instead of every enrolment for that course.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chain on the board: EmpID to DeptID to DeptName. DeptName and DeptPhone are facts about the department, not about the employee, so they belong in their own relation. The 3NF motto is that every fact lives with its own determinant. HR platforms like Workday keep department facts in one place precisely so a single update propagates to ten thousand employees.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(Student, Major) and (Student, Advisor) are candidate keys, so every attribute is prime and 3NF is satisfied. BCNF is stricter: it demands that Advisor, being a determinant, must itself be a superkey — and it is not, because one advisor can appear with many students. Split along the violating FD. Warn students that BCNF decomposition is not always dependency-preserving; that trade-off is why 3NF is sometimes kept deliberately.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double arrow denotes a multivalued dependency. Because skills and hobbies are independent, the single table must store every combination — a Cartesian product that grows multiplicatively while the real facts grow additively. Use the streaming-catalogue example: an actor's languages and genres are independent, so five languages and eight genres would force forty rows for thirteen facts. Ask for the insert anomaly: adding a genre should not require a row per language.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hardest case and the one students most often confuse with 4NF. The distinction: in 4NF the lists are independent, here they are not — the triple exists only when all three pairs exist. No pair of the three relations alone reconstructs SPJ; all three are needed, which is why the decomposition is into three relations rather than two. Note that 5NF cases are rare in practice and are usually found in scheduling, territory and assignment data.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at the desks. Circulate. Expected answer: the key is (SupplierID, PartID); both single-attribute FDs are partial; the 2NF result is SUPPLIER(SupplierID, SupplierName), PART(PartID, PartName, UnitPrice) and SUPPLY(SupplierID, PartID, Qty), which is already in BCNF because every determinant is now a key. Errors to watch for: leaving UnitPrice in SUPPLY, and forgetting to state the key before decomposing. Extension for fast finishers: what changes if UnitPrice is negotiated per supplier?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theory to practice. Schema reviews are a formal gate at most engineering organisations, and the reviewer works exactly through the five steps. In ERP catalogs the payoff is single-point update. In migrations the sequence is flatten to 1NF, then climb. In interviews candidates are graded on naming the violation, not on drawing tables. Close with the caveat on the strip: analytics warehouses deliberately denormalise into star schemas, but only after the normalised model exists and only where query measurements justify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them towards the answer: 3NF exempts prime attributes, so a dependency whose right-hand side is part of a candidate key slips past. BCNF removes the exemption and requires every determinant to be a superkey. Also surface the trade-off — BCNF decomposition can lose dependency preservation, so some designers stop at 3NF deliberately. That trade-off is a good interview follow-up question.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FALSE — the advising example passes 3NF and fails BCNF. (2) TRUE — that is precisely what 4NF fixes, replacing a multiplicative row count with an additive one. (3) FALSE — the SPJ case needs three relations, and no pair of them reconstructs the original. Take hands before revealing each answer, then link answer 1 back to the misconceptions slide and answer 3 back to the 5NF worked example.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three minutes and close the loop on the three opening questions from slide one. Next session covers transactions and concurrency control. Reading: Silberschatz Chapter 7 on relational database design, or Elmasri Chapters 14 and 15. Remind students to finish the hands-on task before the next class if they did not complete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on a slip. Question 1 is a Level-3 check that students can construct a violating relation rather than recognise one — look for a composite key and a genuine partial dependency. Question 2 should read close to 'every determinant must be a superkey'. Read the slips before the next session and spend the first two minutes on the most common gap.</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prescribed texts in their current editions. Silberschatz 7th edition covers normalization in Chapter 7; the companion site at db-book.com carries free slides, lab material and errata. Elmasri 7th edition treats the topic across Chapters 14 and 15 and has the most worked examples. Ramakrishnan remains the standard reference for the algorithmic side, and its Wisconsin site hosts the full solution notes.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book is the single best treatment of normalization specifically and is the recommended read for anyone who found BCNF, 4NF or 5NF unconvincing today. Garcia-Molina covers the design theory with full proofs of the lossless-join and dependency-preservation conditions. The NPTEL course is free and maps closely to this syllabus; point students to the normalization week for revision before the exam.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www.db-book.com"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hyperlink" Target="https://pages.cs.wisc.edu/~dbbook/" TargetMode="External"/><Relationship Id="rId4" Type="http://schemas.openxmlformats.org/officeDocument/2006/relationships/hyperlink" Target="https://www.pearson.com/en-us/subject-catalog/p/fundamentals-of-database-systems/P200000003546"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link.springer.com/book/10.1007/978-1-4842-5540-7"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hyperlink" Target="https://nptel.ac.in/courses/106105175" TargetMode="External"/><Relationship Id="rId4" Type="http://schemas.openxmlformats.org/officeDocument/2006/relationships/hyperlink" Target="http://infolab.stanford.edu/~ullman/dscb.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krmu_bg.png"/>
          <p:cNvPicPr>
            <a:picLocks noChangeAspect="1"/>
          </p:cNvPicPr>
          <p:nvPr/>
        </p:nvPicPr>
        <p:blipFill>
          <a:blip r:embed="rId3"/>
          <a:stretch>
            <a:fillRect/>
          </a:stretch>
        </p:blipFill>
        <p:spPr>
          <a:xfrm>
            <a:off x="1524305" y="0"/>
            <a:ext cx="9144000" cy="6858000"/>
          </a:xfrm>
          <a:prstGeom prst="rect">
            <a:avLst/>
          </a:prstGeom>
        </p:spPr>
      </p:pic>
      <p:pic>
        <p:nvPicPr>
          <p:cNvPr id="3" name="Image 1" descr="krmu_logo.png"/>
          <p:cNvPicPr>
            <a:picLocks noChangeAspect="1"/>
          </p:cNvPicPr>
          <p:nvPr/>
        </p:nvPicPr>
        <p:blipFill>
          <a:blip r:embed="rId4"/>
          <a:stretch>
            <a:fillRect/>
          </a:stretch>
        </p:blipFill>
        <p:spPr>
          <a:xfrm>
            <a:off x="2893162" y="149962"/>
            <a:ext cx="6397142" cy="920801"/>
          </a:xfrm>
          <a:prstGeom prst="rect">
            <a:avLst/>
          </a:prstGeom>
        </p:spPr>
      </p:pic>
      <p:sp>
        <p:nvSpPr>
          <p:cNvPr id="4" name="Text 0"/>
          <p:cNvSpPr/>
          <p:nvPr/>
        </p:nvSpPr>
        <p:spPr>
          <a:xfrm>
            <a:off x="1783994" y="1600200"/>
            <a:ext cx="8494776" cy="594360"/>
          </a:xfrm>
          <a:prstGeom prst="rect">
            <a:avLst/>
          </a:prstGeom>
          <a:noFill/>
          <a:ln/>
        </p:spPr>
        <p:txBody>
          <a:bodyPr wrap="square" lIns="0" tIns="0" rIns="0" bIns="0" rtlCol="0" anchor="ctr"/>
          <a:lstStyle/>
          <a:p>
            <a:pPr marL="0" indent="0" algn="ctr">
              <a:buNone/>
            </a:pPr>
            <a:r>
              <a:rPr lang="en-US" sz="3200" b="1" dirty="0">
                <a:solidFill>
                  <a:srgbClr val="E31E24"/>
                </a:solidFill>
                <a:latin typeface="Times New Roman" pitchFamily="34" charset="0"/>
                <a:ea typeface="Times New Roman" pitchFamily="34" charset="-122"/>
                <a:cs typeface="Times New Roman" pitchFamily="34" charset="-120"/>
              </a:rPr>
              <a:t>Database Management Systems</a:t>
            </a:r>
            <a:endParaRPr lang="en-US" sz="3200" dirty="0"/>
          </a:p>
        </p:txBody>
      </p:sp>
      <p:sp>
        <p:nvSpPr>
          <p:cNvPr id="5" name="Text 1"/>
          <p:cNvSpPr/>
          <p:nvPr/>
        </p:nvSpPr>
        <p:spPr>
          <a:xfrm>
            <a:off x="1097280" y="2697480"/>
            <a:ext cx="9966960" cy="548640"/>
          </a:xfrm>
          <a:prstGeom prst="rect">
            <a:avLst/>
          </a:prstGeom>
          <a:noFill/>
          <a:ln/>
        </p:spPr>
        <p:txBody>
          <a:bodyPr wrap="square" lIns="0" tIns="0" rIns="0" bIns="0" rtlCol="0" anchor="ctr"/>
          <a:lstStyle/>
          <a:p>
            <a:pPr marL="0" indent="0" algn="ctr">
              <a:buNone/>
            </a:pPr>
            <a:r>
              <a:rPr lang="en-US" sz="2400" b="1" dirty="0">
                <a:solidFill>
                  <a:srgbClr val="E31E24"/>
                </a:solidFill>
                <a:latin typeface="Times New Roman" pitchFamily="34" charset="0"/>
                <a:ea typeface="Times New Roman" pitchFamily="34" charset="-122"/>
                <a:cs typeface="Times New Roman" pitchFamily="34" charset="-120"/>
              </a:rPr>
              <a:t>Problem Solving on Normalization</a:t>
            </a:r>
            <a:endParaRPr lang="en-US" sz="2400" dirty="0"/>
          </a:p>
        </p:txBody>
      </p:sp>
      <p:sp>
        <p:nvSpPr>
          <p:cNvPr id="6" name="Text 2"/>
          <p:cNvSpPr/>
          <p:nvPr/>
        </p:nvSpPr>
        <p:spPr>
          <a:xfrm>
            <a:off x="1819656" y="4160520"/>
            <a:ext cx="8494776" cy="1005840"/>
          </a:xfrm>
          <a:prstGeom prst="rect">
            <a:avLst/>
          </a:prstGeom>
          <a:noFill/>
          <a:ln/>
        </p:spPr>
        <p:txBody>
          <a:bodyPr wrap="square" lIns="0" tIns="0" rIns="0" bIns="0" rtlCol="0" anchor="ctr"/>
          <a:lstStyle/>
          <a:p>
            <a:pPr marL="0" indent="0" algn="ctr">
              <a:buNone/>
            </a:pPr>
            <a:r>
              <a:rPr lang="en-US" sz="1300" b="1" dirty="0">
                <a:solidFill>
                  <a:srgbClr val="1F3864"/>
                </a:solidFill>
                <a:latin typeface="Verdana" pitchFamily="34" charset="0"/>
                <a:ea typeface="Verdana" pitchFamily="34" charset="-122"/>
                <a:cs typeface="Verdana" pitchFamily="34" charset="-120"/>
              </a:rPr>
              <a:t>Session 12 | DBMS Classroom PPT</a:t>
            </a:r>
            <a:endParaRPr lang="en-US" sz="1300" dirty="0"/>
          </a:p>
          <a:p>
            <a:pPr marL="0" indent="0" algn="ctr">
              <a:buNone/>
            </a:pPr>
            <a:r>
              <a:rPr lang="en-US" sz="1300" b="1" dirty="0">
                <a:solidFill>
                  <a:srgbClr val="1F3864"/>
                </a:solidFill>
                <a:latin typeface="Verdana" pitchFamily="34" charset="0"/>
                <a:ea typeface="Verdana" pitchFamily="34" charset="-122"/>
                <a:cs typeface="Verdana" pitchFamily="34" charset="-120"/>
              </a:rPr>
              <a:t>School of Engineering &amp; Technology (SOET)</a:t>
            </a:r>
            <a:endParaRPr lang="en-US" sz="1300" dirty="0"/>
          </a:p>
          <a:p>
            <a:pPr marL="0" indent="0" algn="ctr">
              <a:buNone/>
            </a:pPr>
            <a:r>
              <a:rPr lang="en-US" sz="1300" b="1" dirty="0">
                <a:solidFill>
                  <a:srgbClr val="1F3864"/>
                </a:solidFill>
                <a:latin typeface="Verdana" pitchFamily="34" charset="0"/>
                <a:ea typeface="Verdana" pitchFamily="34" charset="-122"/>
                <a:cs typeface="Verdana" pitchFamily="34" charset="-120"/>
              </a:rPr>
              <a:t>K. R. Mangalam University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2">
            <a:extLst>
              <a:ext uri="{FF2B5EF4-FFF2-40B4-BE49-F238E27FC236}">
                <a16:creationId xmlns:a16="http://schemas.microsoft.com/office/drawing/2014/main" id="{5F747338-4EC9-3DDA-4E2B-CC36A223ACBF}"/>
              </a:ext>
            </a:extLst>
          </p:cNvPr>
          <p:cNvSpPr/>
          <p:nvPr/>
        </p:nvSpPr>
        <p:spPr>
          <a:xfrm>
            <a:off x="5687568" y="777240"/>
            <a:ext cx="822960" cy="822960"/>
          </a:xfrm>
          <a:prstGeom prst="ellipse">
            <a:avLst/>
          </a:prstGeom>
          <a:solidFill>
            <a:srgbClr val="2E75B6"/>
          </a:solidFill>
          <a:ln/>
        </p:spPr>
      </p:sp>
      <p:pic>
        <p:nvPicPr>
          <p:cNvPr id="10" name="Image 0" descr="icons/tools.png">
            <a:extLst>
              <a:ext uri="{FF2B5EF4-FFF2-40B4-BE49-F238E27FC236}">
                <a16:creationId xmlns:a16="http://schemas.microsoft.com/office/drawing/2014/main" id="{57BFFE5F-9D70-BCB6-B509-DA53D9A429C1}"/>
              </a:ext>
            </a:extLst>
          </p:cNvPr>
          <p:cNvPicPr>
            <a:picLocks noChangeAspect="1"/>
          </p:cNvPicPr>
          <p:nvPr/>
        </p:nvPicPr>
        <p:blipFill>
          <a:blip r:embed="rId3"/>
          <a:stretch>
            <a:fillRect/>
          </a:stretch>
        </p:blipFill>
        <p:spPr>
          <a:xfrm>
            <a:off x="5917997" y="1007669"/>
            <a:ext cx="362102" cy="362102"/>
          </a:xfrm>
          <a:prstGeom prst="rect">
            <a:avLst/>
          </a:prstGeom>
        </p:spPr>
      </p:pic>
      <p:sp>
        <p:nvSpPr>
          <p:cNvPr id="12" name="Shape 3">
            <a:extLst>
              <a:ext uri="{FF2B5EF4-FFF2-40B4-BE49-F238E27FC236}">
                <a16:creationId xmlns:a16="http://schemas.microsoft.com/office/drawing/2014/main" id="{AC8D2F6B-4EA0-CDFA-290D-47E3E8E40A3D}"/>
              </a:ext>
            </a:extLst>
          </p:cNvPr>
          <p:cNvSpPr/>
          <p:nvPr/>
        </p:nvSpPr>
        <p:spPr>
          <a:xfrm>
            <a:off x="5138928" y="1828800"/>
            <a:ext cx="1920240" cy="384048"/>
          </a:xfrm>
          <a:prstGeom prst="roundRect">
            <a:avLst>
              <a:gd name="adj" fmla="val 50000"/>
            </a:avLst>
          </a:prstGeom>
          <a:solidFill>
            <a:srgbClr val="F0A32E"/>
          </a:solidFill>
          <a:ln/>
        </p:spPr>
      </p:sp>
      <p:sp>
        <p:nvSpPr>
          <p:cNvPr id="14" name="Text 4">
            <a:extLst>
              <a:ext uri="{FF2B5EF4-FFF2-40B4-BE49-F238E27FC236}">
                <a16:creationId xmlns:a16="http://schemas.microsoft.com/office/drawing/2014/main" id="{74A46795-9E59-9246-DDF7-BD1BEEC273E1}"/>
              </a:ext>
            </a:extLst>
          </p:cNvPr>
          <p:cNvSpPr/>
          <p:nvPr/>
        </p:nvSpPr>
        <p:spPr>
          <a:xfrm>
            <a:off x="5138928" y="1810512"/>
            <a:ext cx="1920240" cy="384048"/>
          </a:xfrm>
          <a:prstGeom prst="rect">
            <a:avLst/>
          </a:prstGeom>
          <a:noFill/>
          <a:ln/>
        </p:spPr>
        <p:txBody>
          <a:bodyPr wrap="square" lIns="0" tIns="0" rIns="0" bIns="0" rtlCol="0" anchor="ctr"/>
          <a:lstStyle/>
          <a:p>
            <a:pPr marL="0" indent="0" algn="ctr">
              <a:buNone/>
            </a:pPr>
            <a:r>
              <a:rPr lang="en-US" sz="1300" b="1" dirty="0">
                <a:solidFill>
                  <a:srgbClr val="1F4E79"/>
                </a:solidFill>
                <a:latin typeface="Calibri" pitchFamily="34" charset="0"/>
                <a:ea typeface="Calibri" pitchFamily="34" charset="-122"/>
                <a:cs typeface="Calibri" pitchFamily="34" charset="-120"/>
              </a:rPr>
              <a:t>SESSION 12</a:t>
            </a:r>
            <a:endParaRPr lang="en-US" sz="1300" dirty="0"/>
          </a:p>
        </p:txBody>
      </p:sp>
      <p:sp>
        <p:nvSpPr>
          <p:cNvPr id="16" name="Text 7">
            <a:extLst>
              <a:ext uri="{FF2B5EF4-FFF2-40B4-BE49-F238E27FC236}">
                <a16:creationId xmlns:a16="http://schemas.microsoft.com/office/drawing/2014/main" id="{7E0A1353-10E5-333F-5EF1-688984A92C38}"/>
              </a:ext>
            </a:extLst>
          </p:cNvPr>
          <p:cNvSpPr/>
          <p:nvPr/>
        </p:nvSpPr>
        <p:spPr>
          <a:xfrm>
            <a:off x="1371600" y="3977640"/>
            <a:ext cx="9445752" cy="411480"/>
          </a:xfrm>
          <a:prstGeom prst="rect">
            <a:avLst/>
          </a:prstGeom>
          <a:noFill/>
          <a:ln/>
        </p:spPr>
        <p:txBody>
          <a:bodyPr wrap="square" lIns="0" tIns="0" rIns="0" bIns="0" rtlCol="0" anchor="ctr"/>
          <a:lstStyle/>
          <a:p>
            <a:pPr marL="0" indent="0" algn="ctr">
              <a:buNone/>
            </a:pPr>
            <a:r>
              <a:rPr lang="en-US" sz="1500" i="1" dirty="0">
                <a:solidFill>
                  <a:srgbClr val="F0A32E"/>
                </a:solidFill>
                <a:latin typeface="Calibri" pitchFamily="34" charset="0"/>
                <a:ea typeface="Calibri" pitchFamily="34" charset="-122"/>
                <a:cs typeface="Calibri" pitchFamily="34" charset="-120"/>
              </a:rPr>
              <a:t>Practice the exact schema-review questions asked at Amazon, Google &amp; TCS interviews</a:t>
            </a:r>
            <a:endParaRPr lang="en-US" sz="1500" dirty="0"/>
          </a:p>
        </p:txBody>
      </p:sp>
      <p:sp>
        <p:nvSpPr>
          <p:cNvPr id="18" name="Shape 8">
            <a:extLst>
              <a:ext uri="{FF2B5EF4-FFF2-40B4-BE49-F238E27FC236}">
                <a16:creationId xmlns:a16="http://schemas.microsoft.com/office/drawing/2014/main" id="{622BBC26-56A8-ABCF-33C0-7720408EFCC7}"/>
              </a:ext>
            </a:extLst>
          </p:cNvPr>
          <p:cNvSpPr/>
          <p:nvPr/>
        </p:nvSpPr>
        <p:spPr>
          <a:xfrm>
            <a:off x="1821028" y="4800600"/>
            <a:ext cx="1234440" cy="402336"/>
          </a:xfrm>
          <a:prstGeom prst="roundRect">
            <a:avLst>
              <a:gd name="adj" fmla="val 50000"/>
            </a:avLst>
          </a:prstGeom>
          <a:solidFill>
            <a:srgbClr val="1F4E79"/>
          </a:solidFill>
          <a:ln w="12700">
            <a:solidFill>
              <a:srgbClr val="CADCFC"/>
            </a:solidFill>
            <a:prstDash val="solid"/>
          </a:ln>
        </p:spPr>
      </p:sp>
      <p:sp>
        <p:nvSpPr>
          <p:cNvPr id="20" name="Text 9">
            <a:extLst>
              <a:ext uri="{FF2B5EF4-FFF2-40B4-BE49-F238E27FC236}">
                <a16:creationId xmlns:a16="http://schemas.microsoft.com/office/drawing/2014/main" id="{F69CC3F4-2C69-A698-C4BA-E61493567E8D}"/>
              </a:ext>
            </a:extLst>
          </p:cNvPr>
          <p:cNvSpPr/>
          <p:nvPr/>
        </p:nvSpPr>
        <p:spPr>
          <a:xfrm>
            <a:off x="1821028" y="4782312"/>
            <a:ext cx="1234440" cy="402336"/>
          </a:xfrm>
          <a:prstGeom prst="rect">
            <a:avLst/>
          </a:prstGeom>
          <a:noFill/>
          <a:ln/>
        </p:spPr>
        <p:txBody>
          <a:bodyPr wrap="square" lIns="0" tIns="0" rIns="0" bIns="0" rtlCol="0" anchor="ctr"/>
          <a:lstStyle/>
          <a:p>
            <a:pPr marL="0" indent="0" algn="ctr">
              <a:buNone/>
            </a:pPr>
            <a:r>
              <a:rPr lang="en-US" sz="1200" b="1" dirty="0">
                <a:solidFill>
                  <a:srgbClr val="CADCFC"/>
                </a:solidFill>
                <a:latin typeface="Calibri" pitchFamily="34" charset="0"/>
                <a:ea typeface="Calibri" pitchFamily="34" charset="-122"/>
                <a:cs typeface="Calibri" pitchFamily="34" charset="-120"/>
              </a:rPr>
              <a:t>1NF</a:t>
            </a:r>
            <a:endParaRPr lang="en-US" sz="1200" dirty="0"/>
          </a:p>
        </p:txBody>
      </p:sp>
      <p:sp>
        <p:nvSpPr>
          <p:cNvPr id="22" name="Shape 10">
            <a:extLst>
              <a:ext uri="{FF2B5EF4-FFF2-40B4-BE49-F238E27FC236}">
                <a16:creationId xmlns:a16="http://schemas.microsoft.com/office/drawing/2014/main" id="{14CE8BE2-35EC-BA9F-BCAC-8A3F6517F89B}"/>
              </a:ext>
            </a:extLst>
          </p:cNvPr>
          <p:cNvSpPr/>
          <p:nvPr/>
        </p:nvSpPr>
        <p:spPr>
          <a:xfrm>
            <a:off x="3284068" y="4800600"/>
            <a:ext cx="1234440" cy="402336"/>
          </a:xfrm>
          <a:prstGeom prst="roundRect">
            <a:avLst>
              <a:gd name="adj" fmla="val 50000"/>
            </a:avLst>
          </a:prstGeom>
          <a:solidFill>
            <a:srgbClr val="1F4E79"/>
          </a:solidFill>
          <a:ln w="12700">
            <a:solidFill>
              <a:srgbClr val="CADCFC"/>
            </a:solidFill>
            <a:prstDash val="solid"/>
          </a:ln>
        </p:spPr>
      </p:sp>
      <p:sp>
        <p:nvSpPr>
          <p:cNvPr id="24" name="Text 11">
            <a:extLst>
              <a:ext uri="{FF2B5EF4-FFF2-40B4-BE49-F238E27FC236}">
                <a16:creationId xmlns:a16="http://schemas.microsoft.com/office/drawing/2014/main" id="{ACCDAB1B-636D-58B0-D117-9891901077D5}"/>
              </a:ext>
            </a:extLst>
          </p:cNvPr>
          <p:cNvSpPr/>
          <p:nvPr/>
        </p:nvSpPr>
        <p:spPr>
          <a:xfrm>
            <a:off x="3284068" y="4782312"/>
            <a:ext cx="1234440" cy="402336"/>
          </a:xfrm>
          <a:prstGeom prst="rect">
            <a:avLst/>
          </a:prstGeom>
          <a:noFill/>
          <a:ln/>
        </p:spPr>
        <p:txBody>
          <a:bodyPr wrap="square" lIns="0" tIns="0" rIns="0" bIns="0" rtlCol="0" anchor="ctr"/>
          <a:lstStyle/>
          <a:p>
            <a:pPr marL="0" indent="0" algn="ctr">
              <a:buNone/>
            </a:pPr>
            <a:r>
              <a:rPr lang="en-US" sz="1200" b="1" dirty="0">
                <a:solidFill>
                  <a:srgbClr val="CADCFC"/>
                </a:solidFill>
                <a:latin typeface="Calibri" pitchFamily="34" charset="0"/>
                <a:ea typeface="Calibri" pitchFamily="34" charset="-122"/>
                <a:cs typeface="Calibri" pitchFamily="34" charset="-120"/>
              </a:rPr>
              <a:t>2NF</a:t>
            </a:r>
            <a:endParaRPr lang="en-US" sz="1200" dirty="0"/>
          </a:p>
        </p:txBody>
      </p:sp>
      <p:sp>
        <p:nvSpPr>
          <p:cNvPr id="26" name="Shape 12">
            <a:extLst>
              <a:ext uri="{FF2B5EF4-FFF2-40B4-BE49-F238E27FC236}">
                <a16:creationId xmlns:a16="http://schemas.microsoft.com/office/drawing/2014/main" id="{534AFF73-E0ED-1464-3FBB-8366CC6AA743}"/>
              </a:ext>
            </a:extLst>
          </p:cNvPr>
          <p:cNvSpPr/>
          <p:nvPr/>
        </p:nvSpPr>
        <p:spPr>
          <a:xfrm>
            <a:off x="4747108" y="4800600"/>
            <a:ext cx="1234440" cy="402336"/>
          </a:xfrm>
          <a:prstGeom prst="roundRect">
            <a:avLst>
              <a:gd name="adj" fmla="val 50000"/>
            </a:avLst>
          </a:prstGeom>
          <a:solidFill>
            <a:srgbClr val="1F4E79"/>
          </a:solidFill>
          <a:ln w="12700">
            <a:solidFill>
              <a:srgbClr val="CADCFC"/>
            </a:solidFill>
            <a:prstDash val="solid"/>
          </a:ln>
        </p:spPr>
      </p:sp>
      <p:sp>
        <p:nvSpPr>
          <p:cNvPr id="28" name="Text 13">
            <a:extLst>
              <a:ext uri="{FF2B5EF4-FFF2-40B4-BE49-F238E27FC236}">
                <a16:creationId xmlns:a16="http://schemas.microsoft.com/office/drawing/2014/main" id="{66584BFF-C2E8-C7B8-0625-E00520701C9B}"/>
              </a:ext>
            </a:extLst>
          </p:cNvPr>
          <p:cNvSpPr/>
          <p:nvPr/>
        </p:nvSpPr>
        <p:spPr>
          <a:xfrm>
            <a:off x="4747108" y="4782312"/>
            <a:ext cx="1234440" cy="402336"/>
          </a:xfrm>
          <a:prstGeom prst="rect">
            <a:avLst/>
          </a:prstGeom>
          <a:noFill/>
          <a:ln/>
        </p:spPr>
        <p:txBody>
          <a:bodyPr wrap="square" lIns="0" tIns="0" rIns="0" bIns="0" rtlCol="0" anchor="ctr"/>
          <a:lstStyle/>
          <a:p>
            <a:pPr marL="0" indent="0" algn="ctr">
              <a:buNone/>
            </a:pPr>
            <a:r>
              <a:rPr lang="en-US" sz="1200" b="1" dirty="0">
                <a:solidFill>
                  <a:srgbClr val="CADCFC"/>
                </a:solidFill>
                <a:latin typeface="Calibri" pitchFamily="34" charset="0"/>
                <a:ea typeface="Calibri" pitchFamily="34" charset="-122"/>
                <a:cs typeface="Calibri" pitchFamily="34" charset="-120"/>
              </a:rPr>
              <a:t>3NF</a:t>
            </a:r>
            <a:endParaRPr lang="en-US" sz="1200" dirty="0"/>
          </a:p>
        </p:txBody>
      </p:sp>
      <p:sp>
        <p:nvSpPr>
          <p:cNvPr id="30" name="Shape 14">
            <a:extLst>
              <a:ext uri="{FF2B5EF4-FFF2-40B4-BE49-F238E27FC236}">
                <a16:creationId xmlns:a16="http://schemas.microsoft.com/office/drawing/2014/main" id="{20D73EBC-2984-7C7A-6127-17D518526B26}"/>
              </a:ext>
            </a:extLst>
          </p:cNvPr>
          <p:cNvSpPr/>
          <p:nvPr/>
        </p:nvSpPr>
        <p:spPr>
          <a:xfrm>
            <a:off x="6210148" y="4800600"/>
            <a:ext cx="1234440" cy="402336"/>
          </a:xfrm>
          <a:prstGeom prst="roundRect">
            <a:avLst>
              <a:gd name="adj" fmla="val 50000"/>
            </a:avLst>
          </a:prstGeom>
          <a:solidFill>
            <a:srgbClr val="1F4E79"/>
          </a:solidFill>
          <a:ln w="12700">
            <a:solidFill>
              <a:srgbClr val="CADCFC"/>
            </a:solidFill>
            <a:prstDash val="solid"/>
          </a:ln>
        </p:spPr>
      </p:sp>
      <p:sp>
        <p:nvSpPr>
          <p:cNvPr id="32" name="Text 15">
            <a:extLst>
              <a:ext uri="{FF2B5EF4-FFF2-40B4-BE49-F238E27FC236}">
                <a16:creationId xmlns:a16="http://schemas.microsoft.com/office/drawing/2014/main" id="{0BD2E8B9-EE84-1EDE-7519-6641032C9A85}"/>
              </a:ext>
            </a:extLst>
          </p:cNvPr>
          <p:cNvSpPr/>
          <p:nvPr/>
        </p:nvSpPr>
        <p:spPr>
          <a:xfrm>
            <a:off x="6210148" y="4782312"/>
            <a:ext cx="1234440" cy="402336"/>
          </a:xfrm>
          <a:prstGeom prst="rect">
            <a:avLst/>
          </a:prstGeom>
          <a:noFill/>
          <a:ln/>
        </p:spPr>
        <p:txBody>
          <a:bodyPr wrap="square" lIns="0" tIns="0" rIns="0" bIns="0" rtlCol="0" anchor="ctr"/>
          <a:lstStyle/>
          <a:p>
            <a:pPr marL="0" indent="0" algn="ctr">
              <a:buNone/>
            </a:pPr>
            <a:r>
              <a:rPr lang="en-US" sz="1200" b="1" dirty="0">
                <a:solidFill>
                  <a:srgbClr val="CADCFC"/>
                </a:solidFill>
                <a:latin typeface="Calibri" pitchFamily="34" charset="0"/>
                <a:ea typeface="Calibri" pitchFamily="34" charset="-122"/>
                <a:cs typeface="Calibri" pitchFamily="34" charset="-120"/>
              </a:rPr>
              <a:t>BCNF</a:t>
            </a:r>
            <a:endParaRPr lang="en-US" sz="1200" dirty="0"/>
          </a:p>
        </p:txBody>
      </p:sp>
      <p:sp>
        <p:nvSpPr>
          <p:cNvPr id="34" name="Shape 16">
            <a:extLst>
              <a:ext uri="{FF2B5EF4-FFF2-40B4-BE49-F238E27FC236}">
                <a16:creationId xmlns:a16="http://schemas.microsoft.com/office/drawing/2014/main" id="{80BF2B59-D5F1-A2BA-C7A4-83B7F1D10A3A}"/>
              </a:ext>
            </a:extLst>
          </p:cNvPr>
          <p:cNvSpPr/>
          <p:nvPr/>
        </p:nvSpPr>
        <p:spPr>
          <a:xfrm>
            <a:off x="7673188" y="4800600"/>
            <a:ext cx="1234440" cy="402336"/>
          </a:xfrm>
          <a:prstGeom prst="roundRect">
            <a:avLst>
              <a:gd name="adj" fmla="val 50000"/>
            </a:avLst>
          </a:prstGeom>
          <a:solidFill>
            <a:srgbClr val="1F4E79"/>
          </a:solidFill>
          <a:ln w="12700">
            <a:solidFill>
              <a:srgbClr val="CADCFC"/>
            </a:solidFill>
            <a:prstDash val="solid"/>
          </a:ln>
        </p:spPr>
      </p:sp>
      <p:sp>
        <p:nvSpPr>
          <p:cNvPr id="36" name="Text 17">
            <a:extLst>
              <a:ext uri="{FF2B5EF4-FFF2-40B4-BE49-F238E27FC236}">
                <a16:creationId xmlns:a16="http://schemas.microsoft.com/office/drawing/2014/main" id="{2803E022-D1D6-FE5B-3270-DF1594AF8033}"/>
              </a:ext>
            </a:extLst>
          </p:cNvPr>
          <p:cNvSpPr/>
          <p:nvPr/>
        </p:nvSpPr>
        <p:spPr>
          <a:xfrm>
            <a:off x="7673188" y="4782312"/>
            <a:ext cx="1234440" cy="402336"/>
          </a:xfrm>
          <a:prstGeom prst="rect">
            <a:avLst/>
          </a:prstGeom>
          <a:noFill/>
          <a:ln/>
        </p:spPr>
        <p:txBody>
          <a:bodyPr wrap="square" lIns="0" tIns="0" rIns="0" bIns="0" rtlCol="0" anchor="ctr"/>
          <a:lstStyle/>
          <a:p>
            <a:pPr marL="0" indent="0" algn="ctr">
              <a:buNone/>
            </a:pPr>
            <a:r>
              <a:rPr lang="en-US" sz="1200" b="1" dirty="0">
                <a:solidFill>
                  <a:srgbClr val="CADCFC"/>
                </a:solidFill>
                <a:latin typeface="Calibri" pitchFamily="34" charset="0"/>
                <a:ea typeface="Calibri" pitchFamily="34" charset="-122"/>
                <a:cs typeface="Calibri" pitchFamily="34" charset="-120"/>
              </a:rPr>
              <a:t>4NF</a:t>
            </a:r>
            <a:endParaRPr lang="en-US" sz="1200" dirty="0"/>
          </a:p>
        </p:txBody>
      </p:sp>
      <p:sp>
        <p:nvSpPr>
          <p:cNvPr id="38" name="Shape 18">
            <a:extLst>
              <a:ext uri="{FF2B5EF4-FFF2-40B4-BE49-F238E27FC236}">
                <a16:creationId xmlns:a16="http://schemas.microsoft.com/office/drawing/2014/main" id="{36EBBD66-C865-A465-9161-F9A91E714494}"/>
              </a:ext>
            </a:extLst>
          </p:cNvPr>
          <p:cNvSpPr/>
          <p:nvPr/>
        </p:nvSpPr>
        <p:spPr>
          <a:xfrm>
            <a:off x="9136228" y="4800600"/>
            <a:ext cx="1234440" cy="402336"/>
          </a:xfrm>
          <a:prstGeom prst="roundRect">
            <a:avLst>
              <a:gd name="adj" fmla="val 50000"/>
            </a:avLst>
          </a:prstGeom>
          <a:solidFill>
            <a:srgbClr val="1F4E79"/>
          </a:solidFill>
          <a:ln w="12700">
            <a:solidFill>
              <a:srgbClr val="CADCFC"/>
            </a:solidFill>
            <a:prstDash val="solid"/>
          </a:ln>
        </p:spPr>
      </p:sp>
      <p:sp>
        <p:nvSpPr>
          <p:cNvPr id="40" name="Text 19">
            <a:extLst>
              <a:ext uri="{FF2B5EF4-FFF2-40B4-BE49-F238E27FC236}">
                <a16:creationId xmlns:a16="http://schemas.microsoft.com/office/drawing/2014/main" id="{EAE4F05A-E44C-3C72-700E-08541709FC96}"/>
              </a:ext>
            </a:extLst>
          </p:cNvPr>
          <p:cNvSpPr/>
          <p:nvPr/>
        </p:nvSpPr>
        <p:spPr>
          <a:xfrm>
            <a:off x="9136228" y="4782312"/>
            <a:ext cx="1234440" cy="402336"/>
          </a:xfrm>
          <a:prstGeom prst="rect">
            <a:avLst/>
          </a:prstGeom>
          <a:noFill/>
          <a:ln/>
        </p:spPr>
        <p:txBody>
          <a:bodyPr wrap="square" lIns="0" tIns="0" rIns="0" bIns="0" rtlCol="0" anchor="ctr"/>
          <a:lstStyle/>
          <a:p>
            <a:pPr marL="0" indent="0" algn="ctr">
              <a:buNone/>
            </a:pPr>
            <a:r>
              <a:rPr lang="en-US" sz="1200" b="1" dirty="0">
                <a:solidFill>
                  <a:srgbClr val="CADCFC"/>
                </a:solidFill>
                <a:latin typeface="Calibri" pitchFamily="34" charset="0"/>
                <a:ea typeface="Calibri" pitchFamily="34" charset="-122"/>
                <a:cs typeface="Calibri" pitchFamily="34" charset="-120"/>
              </a:rPr>
              <a:t>5NF</a:t>
            </a:r>
            <a:endParaRPr lang="en-US" sz="1200" dirty="0"/>
          </a:p>
        </p:txBody>
      </p:sp>
      <p:sp>
        <p:nvSpPr>
          <p:cNvPr id="42" name="TextBox 41">
            <a:extLst>
              <a:ext uri="{FF2B5EF4-FFF2-40B4-BE49-F238E27FC236}">
                <a16:creationId xmlns:a16="http://schemas.microsoft.com/office/drawing/2014/main" id="{4CCC74A6-76DB-6CA1-1283-7CCAE665D0B6}"/>
              </a:ext>
            </a:extLst>
          </p:cNvPr>
          <p:cNvSpPr txBox="1"/>
          <p:nvPr/>
        </p:nvSpPr>
        <p:spPr>
          <a:xfrm>
            <a:off x="2046911" y="2526417"/>
            <a:ext cx="8095129" cy="707886"/>
          </a:xfrm>
          <a:prstGeom prst="rect">
            <a:avLst/>
          </a:prstGeom>
          <a:noFill/>
        </p:spPr>
        <p:txBody>
          <a:bodyPr wrap="square">
            <a:spAutoFit/>
          </a:bodyPr>
          <a:lstStyle/>
          <a:p>
            <a:pPr marL="0" indent="0" algn="ctr">
              <a:buNone/>
            </a:pPr>
            <a:r>
              <a:rPr lang="en-US" sz="4000" b="1" dirty="0">
                <a:solidFill>
                  <a:schemeClr val="accent1"/>
                </a:solidFill>
                <a:latin typeface="Calibri" pitchFamily="34" charset="0"/>
                <a:ea typeface="Calibri" pitchFamily="34" charset="-122"/>
                <a:cs typeface="Calibri" pitchFamily="34" charset="-120"/>
              </a:rPr>
              <a:t>Problem Solving on Normalization</a:t>
            </a:r>
            <a:endParaRPr lang="en-US" sz="4000" dirty="0">
              <a:solidFill>
                <a:schemeClr val="accent1"/>
              </a:solidFill>
            </a:endParaRPr>
          </a:p>
        </p:txBody>
      </p:sp>
      <p:sp>
        <p:nvSpPr>
          <p:cNvPr id="44" name="TextBox 43">
            <a:extLst>
              <a:ext uri="{FF2B5EF4-FFF2-40B4-BE49-F238E27FC236}">
                <a16:creationId xmlns:a16="http://schemas.microsoft.com/office/drawing/2014/main" id="{7100AE49-BF9E-AEDD-48BA-F0898D5B426D}"/>
              </a:ext>
            </a:extLst>
          </p:cNvPr>
          <p:cNvSpPr txBox="1"/>
          <p:nvPr/>
        </p:nvSpPr>
        <p:spPr>
          <a:xfrm>
            <a:off x="3048000" y="3228945"/>
            <a:ext cx="6096000" cy="400110"/>
          </a:xfrm>
          <a:prstGeom prst="rect">
            <a:avLst/>
          </a:prstGeom>
          <a:noFill/>
        </p:spPr>
        <p:txBody>
          <a:bodyPr wrap="square">
            <a:spAutoFit/>
          </a:bodyPr>
          <a:lstStyle/>
          <a:p>
            <a:pPr marL="0" indent="0" algn="ctr">
              <a:buNone/>
            </a:pPr>
            <a:r>
              <a:rPr lang="en-US" sz="2000" dirty="0">
                <a:solidFill>
                  <a:schemeClr val="accent1"/>
                </a:solidFill>
                <a:latin typeface="Calibri" pitchFamily="34" charset="0"/>
                <a:ea typeface="Calibri" pitchFamily="34" charset="-122"/>
                <a:cs typeface="Calibri" pitchFamily="34" charset="-120"/>
              </a:rPr>
              <a:t>Drill 1NF → 5NF, Exam &amp; Interview Ready</a:t>
            </a:r>
            <a:endParaRPr lang="en-US" sz="2000" dirty="0">
              <a:solidFill>
                <a:schemeClr val="accent1"/>
              </a:solidFill>
            </a:endParaRPr>
          </a:p>
        </p:txBody>
      </p:sp>
      <p:pic>
        <p:nvPicPr>
          <p:cNvPr id="46" name="Image 0" descr="s1_unpacked/ppt/media/image5.png">
            <a:extLst>
              <a:ext uri="{FF2B5EF4-FFF2-40B4-BE49-F238E27FC236}">
                <a16:creationId xmlns:a16="http://schemas.microsoft.com/office/drawing/2014/main" id="{A26E8075-863B-1552-03B4-A38E17366FF6}"/>
              </a:ext>
            </a:extLst>
          </p:cNvPr>
          <p:cNvPicPr>
            <a:picLocks noChangeAspect="1"/>
          </p:cNvPicPr>
          <p:nvPr/>
        </p:nvPicPr>
        <p:blipFill>
          <a:blip r:embed="rId4"/>
          <a:stretch>
            <a:fillRect/>
          </a:stretch>
        </p:blipFill>
        <p:spPr>
          <a:xfrm>
            <a:off x="9646920" y="256032"/>
            <a:ext cx="2240280" cy="3200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Session Outcomes</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56082"/>
                </a:solidFill>
                <a:latin typeface="Times New Roman" pitchFamily="34" charset="0"/>
                <a:ea typeface="Times New Roman" pitchFamily="34" charset="-122"/>
                <a:cs typeface="Times New Roman" pitchFamily="34" charset="-120"/>
              </a:rPr>
              <a:t>You will be able to:</a:t>
            </a:r>
            <a:endParaRPr lang="en-US" sz="2400" dirty="0"/>
          </a:p>
        </p:txBody>
      </p:sp>
      <p:sp>
        <p:nvSpPr>
          <p:cNvPr id="4" name="Shape 2"/>
          <p:cNvSpPr/>
          <p:nvPr/>
        </p:nvSpPr>
        <p:spPr>
          <a:xfrm>
            <a:off x="841248" y="2286000"/>
            <a:ext cx="10515600" cy="960120"/>
          </a:xfrm>
          <a:prstGeom prst="roundRect">
            <a:avLst>
              <a:gd name="adj" fmla="val 5714"/>
            </a:avLst>
          </a:prstGeom>
          <a:solidFill>
            <a:srgbClr val="F2F6FA"/>
          </a:solidFill>
          <a:ln w="12700">
            <a:solidFill>
              <a:srgbClr val="F2F6FA"/>
            </a:solidFill>
            <a:prstDash val="solid"/>
          </a:ln>
        </p:spPr>
      </p:sp>
      <p:sp>
        <p:nvSpPr>
          <p:cNvPr id="5" name="Shape 3"/>
          <p:cNvSpPr/>
          <p:nvPr/>
        </p:nvSpPr>
        <p:spPr>
          <a:xfrm>
            <a:off x="1069848" y="2468880"/>
            <a:ext cx="603504" cy="603504"/>
          </a:xfrm>
          <a:prstGeom prst="roundRect">
            <a:avLst>
              <a:gd name="adj" fmla="val 15152"/>
            </a:avLst>
          </a:prstGeom>
          <a:solidFill>
            <a:srgbClr val="156082"/>
          </a:solidFill>
          <a:ln w="12700">
            <a:solidFill>
              <a:srgbClr val="333333"/>
            </a:solidFill>
            <a:prstDash val="solid"/>
          </a:ln>
        </p:spPr>
      </p:sp>
      <p:sp>
        <p:nvSpPr>
          <p:cNvPr id="6" name="Text 4"/>
          <p:cNvSpPr/>
          <p:nvPr/>
        </p:nvSpPr>
        <p:spPr>
          <a:xfrm>
            <a:off x="1069848" y="2468880"/>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1</a:t>
            </a:r>
            <a:endParaRPr lang="en-US" sz="2100" dirty="0"/>
          </a:p>
        </p:txBody>
      </p:sp>
      <p:sp>
        <p:nvSpPr>
          <p:cNvPr id="7" name="Text 5"/>
          <p:cNvSpPr/>
          <p:nvPr/>
        </p:nvSpPr>
        <p:spPr>
          <a:xfrm>
            <a:off x="1938528" y="2286000"/>
            <a:ext cx="7772400" cy="960120"/>
          </a:xfrm>
          <a:prstGeom prst="rect">
            <a:avLst/>
          </a:prstGeom>
          <a:noFill/>
          <a:ln/>
        </p:spPr>
        <p:txBody>
          <a:bodyPr wrap="square" lIns="0" tIns="0" rIns="0" bIns="0" rtlCol="0" anchor="ctr"/>
          <a:lstStyle/>
          <a:p>
            <a:pPr marL="0" indent="0">
              <a:buNone/>
            </a:pPr>
            <a:r>
              <a:rPr lang="en-US" sz="2200" dirty="0">
                <a:solidFill>
                  <a:srgbClr val="2B2B2B"/>
                </a:solidFill>
                <a:latin typeface="Times New Roman" pitchFamily="34" charset="0"/>
                <a:ea typeface="Times New Roman" pitchFamily="34" charset="-122"/>
                <a:cs typeface="Times New Roman" pitchFamily="34" charset="-120"/>
              </a:rPr>
              <a:t>Diagnose which normal form a relation violates</a:t>
            </a:r>
            <a:endParaRPr lang="en-US" sz="2200" dirty="0"/>
          </a:p>
        </p:txBody>
      </p:sp>
      <p:sp>
        <p:nvSpPr>
          <p:cNvPr id="8" name="Shape 6"/>
          <p:cNvSpPr/>
          <p:nvPr/>
        </p:nvSpPr>
        <p:spPr>
          <a:xfrm>
            <a:off x="841248" y="3383280"/>
            <a:ext cx="10515600" cy="960120"/>
          </a:xfrm>
          <a:prstGeom prst="roundRect">
            <a:avLst>
              <a:gd name="adj" fmla="val 5714"/>
            </a:avLst>
          </a:prstGeom>
          <a:solidFill>
            <a:srgbClr val="F2F6FA"/>
          </a:solidFill>
          <a:ln w="12700">
            <a:solidFill>
              <a:srgbClr val="F2F6FA"/>
            </a:solidFill>
            <a:prstDash val="solid"/>
          </a:ln>
        </p:spPr>
      </p:sp>
      <p:sp>
        <p:nvSpPr>
          <p:cNvPr id="9" name="Shape 7"/>
          <p:cNvSpPr/>
          <p:nvPr/>
        </p:nvSpPr>
        <p:spPr>
          <a:xfrm>
            <a:off x="1069848" y="3566160"/>
            <a:ext cx="603504" cy="603504"/>
          </a:xfrm>
          <a:prstGeom prst="roundRect">
            <a:avLst>
              <a:gd name="adj" fmla="val 15152"/>
            </a:avLst>
          </a:prstGeom>
          <a:solidFill>
            <a:srgbClr val="E97132"/>
          </a:solidFill>
          <a:ln w="12700">
            <a:solidFill>
              <a:srgbClr val="333333"/>
            </a:solidFill>
            <a:prstDash val="solid"/>
          </a:ln>
        </p:spPr>
      </p:sp>
      <p:sp>
        <p:nvSpPr>
          <p:cNvPr id="10" name="Text 8"/>
          <p:cNvSpPr/>
          <p:nvPr/>
        </p:nvSpPr>
        <p:spPr>
          <a:xfrm>
            <a:off x="1069848" y="3566160"/>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2</a:t>
            </a:r>
            <a:endParaRPr lang="en-US" sz="2100" dirty="0"/>
          </a:p>
        </p:txBody>
      </p:sp>
      <p:sp>
        <p:nvSpPr>
          <p:cNvPr id="11" name="Text 9"/>
          <p:cNvSpPr/>
          <p:nvPr/>
        </p:nvSpPr>
        <p:spPr>
          <a:xfrm>
            <a:off x="1938528" y="3383280"/>
            <a:ext cx="7772400" cy="960120"/>
          </a:xfrm>
          <a:prstGeom prst="rect">
            <a:avLst/>
          </a:prstGeom>
          <a:noFill/>
          <a:ln/>
        </p:spPr>
        <p:txBody>
          <a:bodyPr wrap="square" lIns="0" tIns="0" rIns="0" bIns="0" rtlCol="0" anchor="ctr"/>
          <a:lstStyle/>
          <a:p>
            <a:pPr marL="0" indent="0">
              <a:buNone/>
            </a:pPr>
            <a:r>
              <a:rPr lang="en-US" sz="2200" dirty="0">
                <a:solidFill>
                  <a:srgbClr val="2B2B2B"/>
                </a:solidFill>
                <a:latin typeface="Times New Roman" pitchFamily="34" charset="0"/>
                <a:ea typeface="Times New Roman" pitchFamily="34" charset="-122"/>
                <a:cs typeface="Times New Roman" pitchFamily="34" charset="-120"/>
              </a:rPr>
              <a:t>Decompose relations from 1NF through 5NF</a:t>
            </a:r>
            <a:endParaRPr lang="en-US" sz="2200" dirty="0"/>
          </a:p>
        </p:txBody>
      </p:sp>
      <p:sp>
        <p:nvSpPr>
          <p:cNvPr id="12" name="Shape 10"/>
          <p:cNvSpPr/>
          <p:nvPr/>
        </p:nvSpPr>
        <p:spPr>
          <a:xfrm>
            <a:off x="841248" y="4480560"/>
            <a:ext cx="10515600" cy="960120"/>
          </a:xfrm>
          <a:prstGeom prst="roundRect">
            <a:avLst>
              <a:gd name="adj" fmla="val 5714"/>
            </a:avLst>
          </a:prstGeom>
          <a:solidFill>
            <a:srgbClr val="F2F6FA"/>
          </a:solidFill>
          <a:ln w="12700">
            <a:solidFill>
              <a:srgbClr val="F2F6FA"/>
            </a:solidFill>
            <a:prstDash val="solid"/>
          </a:ln>
        </p:spPr>
      </p:sp>
      <p:sp>
        <p:nvSpPr>
          <p:cNvPr id="13" name="Shape 11"/>
          <p:cNvSpPr/>
          <p:nvPr/>
        </p:nvSpPr>
        <p:spPr>
          <a:xfrm>
            <a:off x="1069848" y="4663440"/>
            <a:ext cx="603504" cy="603504"/>
          </a:xfrm>
          <a:prstGeom prst="roundRect">
            <a:avLst>
              <a:gd name="adj" fmla="val 15152"/>
            </a:avLst>
          </a:prstGeom>
          <a:solidFill>
            <a:srgbClr val="196B24"/>
          </a:solidFill>
          <a:ln w="12700">
            <a:solidFill>
              <a:srgbClr val="333333"/>
            </a:solidFill>
            <a:prstDash val="solid"/>
          </a:ln>
        </p:spPr>
      </p:sp>
      <p:sp>
        <p:nvSpPr>
          <p:cNvPr id="14" name="Text 12"/>
          <p:cNvSpPr/>
          <p:nvPr/>
        </p:nvSpPr>
        <p:spPr>
          <a:xfrm>
            <a:off x="1069848" y="4663440"/>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3</a:t>
            </a:r>
            <a:endParaRPr lang="en-US" sz="2100" dirty="0"/>
          </a:p>
        </p:txBody>
      </p:sp>
      <p:sp>
        <p:nvSpPr>
          <p:cNvPr id="15" name="Text 13"/>
          <p:cNvSpPr/>
          <p:nvPr/>
        </p:nvSpPr>
        <p:spPr>
          <a:xfrm>
            <a:off x="1938528" y="4480560"/>
            <a:ext cx="7772400" cy="960120"/>
          </a:xfrm>
          <a:prstGeom prst="rect">
            <a:avLst/>
          </a:prstGeom>
          <a:noFill/>
          <a:ln/>
        </p:spPr>
        <p:txBody>
          <a:bodyPr wrap="square" lIns="0" tIns="0" rIns="0" bIns="0" rtlCol="0" anchor="ctr"/>
          <a:lstStyle/>
          <a:p>
            <a:pPr marL="0" indent="0">
              <a:buNone/>
            </a:pPr>
            <a:r>
              <a:rPr lang="en-US" sz="2200" dirty="0">
                <a:solidFill>
                  <a:srgbClr val="2B2B2B"/>
                </a:solidFill>
                <a:latin typeface="Times New Roman" pitchFamily="34" charset="0"/>
                <a:ea typeface="Times New Roman" pitchFamily="34" charset="-122"/>
                <a:cs typeface="Times New Roman" pitchFamily="34" charset="-120"/>
              </a:rPr>
              <a:t>Verify the split is lossless and redundancy-free</a:t>
            </a:r>
            <a:endParaRPr lang="en-US" sz="2200" dirty="0"/>
          </a:p>
        </p:txBody>
      </p:sp>
      <p:sp>
        <p:nvSpPr>
          <p:cNvPr id="16" name="Shape 14"/>
          <p:cNvSpPr/>
          <p:nvPr/>
        </p:nvSpPr>
        <p:spPr>
          <a:xfrm>
            <a:off x="8339328" y="5532120"/>
            <a:ext cx="3017520" cy="548640"/>
          </a:xfrm>
          <a:prstGeom prst="roundRect">
            <a:avLst>
              <a:gd name="adj" fmla="val 15000"/>
            </a:avLst>
          </a:prstGeom>
          <a:solidFill>
            <a:srgbClr val="0E2841"/>
          </a:solidFill>
          <a:ln w="12700">
            <a:solidFill>
              <a:srgbClr val="333333"/>
            </a:solidFill>
            <a:prstDash val="solid"/>
          </a:ln>
        </p:spPr>
      </p:sp>
      <p:sp>
        <p:nvSpPr>
          <p:cNvPr id="17" name="Text 15"/>
          <p:cNvSpPr/>
          <p:nvPr/>
        </p:nvSpPr>
        <p:spPr>
          <a:xfrm>
            <a:off x="8339328" y="5532120"/>
            <a:ext cx="3017520" cy="548640"/>
          </a:xfrm>
          <a:prstGeom prst="rect">
            <a:avLst/>
          </a:prstGeom>
          <a:noFill/>
          <a:ln/>
        </p:spPr>
        <p:txBody>
          <a:bodyPr wrap="square" lIns="0" tIns="0" rIns="0" bIns="0" rtlCol="0" anchor="ctr"/>
          <a:lstStyle/>
          <a:p>
            <a:pPr marL="0" indent="0" algn="ctr">
              <a:buNone/>
            </a:pPr>
            <a:r>
              <a:rPr lang="en-US" sz="1900" dirty="0">
                <a:solidFill>
                  <a:srgbClr val="FFFFFF"/>
                </a:solidFill>
                <a:latin typeface="Times New Roman" pitchFamily="34" charset="0"/>
                <a:ea typeface="Times New Roman" pitchFamily="34" charset="-122"/>
                <a:cs typeface="Times New Roman" pitchFamily="34" charset="-120"/>
              </a:rPr>
              <a:t>CO3   |   Bloom's L3</a:t>
            </a:r>
            <a:endParaRPr lang="en-US" sz="1900" dirty="0"/>
          </a:p>
        </p:txBody>
      </p:sp>
      <p:pic>
        <p:nvPicPr>
          <p:cNvPr id="19" name="Image 0" descr="s1_unpacked/ppt/media/image5.png">
            <a:extLst>
              <a:ext uri="{FF2B5EF4-FFF2-40B4-BE49-F238E27FC236}">
                <a16:creationId xmlns:a16="http://schemas.microsoft.com/office/drawing/2014/main" id="{FE7D7FA8-47F3-3FE5-FE0C-3CCE0E5548EC}"/>
              </a:ext>
            </a:extLst>
          </p:cNvPr>
          <p:cNvPicPr>
            <a:picLocks noChangeAspect="1"/>
          </p:cNvPicPr>
          <p:nvPr/>
        </p:nvPicPr>
        <p:blipFill>
          <a:blip r:embed="rId3"/>
          <a:stretch>
            <a:fillRect/>
          </a:stretch>
        </p:blipFill>
        <p:spPr>
          <a:xfrm>
            <a:off x="9646920" y="256032"/>
            <a:ext cx="2240280" cy="3200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Prior Knowledge Activation</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56082"/>
                </a:solidFill>
                <a:latin typeface="Times New Roman" pitchFamily="34" charset="0"/>
                <a:ea typeface="Times New Roman" pitchFamily="34" charset="-122"/>
                <a:cs typeface="Times New Roman" pitchFamily="34" charset="-120"/>
              </a:rPr>
              <a:t>Last session you designed this relation:</a:t>
            </a:r>
            <a:endParaRPr lang="en-US" sz="2400" dirty="0"/>
          </a:p>
        </p:txBody>
      </p:sp>
      <p:sp>
        <p:nvSpPr>
          <p:cNvPr id="4" name="Shape 2"/>
          <p:cNvSpPr/>
          <p:nvPr/>
        </p:nvSpPr>
        <p:spPr>
          <a:xfrm>
            <a:off x="2304288" y="2240280"/>
            <a:ext cx="7589520" cy="1371600"/>
          </a:xfrm>
          <a:prstGeom prst="roundRect">
            <a:avLst>
              <a:gd name="adj" fmla="val 4000"/>
            </a:avLst>
          </a:prstGeom>
          <a:solidFill>
            <a:srgbClr val="1E3040"/>
          </a:solidFill>
          <a:ln w="12700">
            <a:solidFill>
              <a:srgbClr val="333333"/>
            </a:solidFill>
            <a:prstDash val="solid"/>
          </a:ln>
        </p:spPr>
      </p:sp>
      <p:sp>
        <p:nvSpPr>
          <p:cNvPr id="5" name="Text 3"/>
          <p:cNvSpPr/>
          <p:nvPr/>
        </p:nvSpPr>
        <p:spPr>
          <a:xfrm>
            <a:off x="2560320" y="2423160"/>
            <a:ext cx="7077456" cy="1005840"/>
          </a:xfrm>
          <a:prstGeom prst="rect">
            <a:avLst/>
          </a:prstGeom>
          <a:noFill/>
          <a:ln/>
        </p:spPr>
        <p:txBody>
          <a:bodyPr wrap="square" lIns="0" tIns="0" rIns="0" bIns="0" rtlCol="0" anchor="ctr"/>
          <a:lstStyle/>
          <a:p>
            <a:pPr marL="0" indent="0">
              <a:lnSpc>
                <a:spcPct val="118000"/>
              </a:lnSpc>
              <a:buNone/>
            </a:pPr>
            <a:r>
              <a:rPr lang="en-US" sz="1900" dirty="0">
                <a:solidFill>
                  <a:srgbClr val="E8F2F8"/>
                </a:solidFill>
                <a:latin typeface="Consolas" pitchFamily="34" charset="0"/>
                <a:ea typeface="Consolas" pitchFamily="34" charset="-122"/>
                <a:cs typeface="Consolas" pitchFamily="34" charset="-120"/>
              </a:rPr>
              <a:t>STUDENT_COURSE (StudentID, CourseID,</a:t>
            </a:r>
            <a:endParaRPr lang="en-US" sz="1900" dirty="0"/>
          </a:p>
          <a:p>
            <a:pPr marL="0" indent="0">
              <a:lnSpc>
                <a:spcPct val="118000"/>
              </a:lnSpc>
              <a:buNone/>
            </a:pPr>
            <a:r>
              <a:rPr lang="en-US" sz="1900" dirty="0">
                <a:solidFill>
                  <a:srgbClr val="E8F2F8"/>
                </a:solidFill>
                <a:latin typeface="Consolas" pitchFamily="34" charset="0"/>
                <a:ea typeface="Consolas" pitchFamily="34" charset="-122"/>
                <a:cs typeface="Consolas" pitchFamily="34" charset="-120"/>
              </a:rPr>
              <a:t>        StudentName, CourseName, Grade)</a:t>
            </a:r>
            <a:endParaRPr lang="en-US" sz="1900" dirty="0"/>
          </a:p>
        </p:txBody>
      </p:sp>
      <p:sp>
        <p:nvSpPr>
          <p:cNvPr id="6" name="Shape 4"/>
          <p:cNvSpPr/>
          <p:nvPr/>
        </p:nvSpPr>
        <p:spPr>
          <a:xfrm>
            <a:off x="841248" y="4069080"/>
            <a:ext cx="3264408" cy="960120"/>
          </a:xfrm>
          <a:prstGeom prst="roundRect">
            <a:avLst>
              <a:gd name="adj" fmla="val 5714"/>
            </a:avLst>
          </a:prstGeom>
          <a:solidFill>
            <a:srgbClr val="F2F6FA"/>
          </a:solidFill>
          <a:ln w="12700">
            <a:solidFill>
              <a:srgbClr val="F2F6FA"/>
            </a:solidFill>
            <a:prstDash val="solid"/>
          </a:ln>
        </p:spPr>
      </p:sp>
      <p:sp>
        <p:nvSpPr>
          <p:cNvPr id="7" name="Shape 5"/>
          <p:cNvSpPr/>
          <p:nvPr/>
        </p:nvSpPr>
        <p:spPr>
          <a:xfrm>
            <a:off x="841248" y="4069080"/>
            <a:ext cx="91440" cy="960120"/>
          </a:xfrm>
          <a:prstGeom prst="rect">
            <a:avLst/>
          </a:prstGeom>
          <a:solidFill>
            <a:srgbClr val="156082"/>
          </a:solidFill>
          <a:ln w="12700">
            <a:solidFill>
              <a:srgbClr val="333333"/>
            </a:solidFill>
            <a:prstDash val="solid"/>
          </a:ln>
        </p:spPr>
      </p:sp>
      <p:sp>
        <p:nvSpPr>
          <p:cNvPr id="8" name="Text 6"/>
          <p:cNvSpPr/>
          <p:nvPr/>
        </p:nvSpPr>
        <p:spPr>
          <a:xfrm>
            <a:off x="1097280" y="4069080"/>
            <a:ext cx="2807208" cy="960120"/>
          </a:xfrm>
          <a:prstGeom prst="rect">
            <a:avLst/>
          </a:prstGeom>
          <a:noFill/>
          <a:ln/>
        </p:spPr>
        <p:txBody>
          <a:bodyPr wrap="square" lIns="0" tIns="0" rIns="0" bIns="0" rtlCol="0" anchor="ctr"/>
          <a:lstStyle/>
          <a:p>
            <a:pPr marL="0" indent="0">
              <a:buNone/>
            </a:pPr>
            <a:r>
              <a:rPr lang="en-US" sz="2100" dirty="0">
                <a:solidFill>
                  <a:srgbClr val="0E2841"/>
                </a:solidFill>
                <a:latin typeface="Times New Roman" pitchFamily="34" charset="0"/>
                <a:ea typeface="Times New Roman" pitchFamily="34" charset="-122"/>
                <a:cs typeface="Times New Roman" pitchFamily="34" charset="-120"/>
              </a:rPr>
              <a:t>What is the key here?</a:t>
            </a:r>
            <a:endParaRPr lang="en-US" sz="2100" dirty="0"/>
          </a:p>
        </p:txBody>
      </p:sp>
      <p:sp>
        <p:nvSpPr>
          <p:cNvPr id="9" name="Shape 7"/>
          <p:cNvSpPr/>
          <p:nvPr/>
        </p:nvSpPr>
        <p:spPr>
          <a:xfrm>
            <a:off x="4471416" y="4069080"/>
            <a:ext cx="3264408" cy="960120"/>
          </a:xfrm>
          <a:prstGeom prst="roundRect">
            <a:avLst>
              <a:gd name="adj" fmla="val 5714"/>
            </a:avLst>
          </a:prstGeom>
          <a:solidFill>
            <a:srgbClr val="F2F6FA"/>
          </a:solidFill>
          <a:ln w="12700">
            <a:solidFill>
              <a:srgbClr val="F2F6FA"/>
            </a:solidFill>
            <a:prstDash val="solid"/>
          </a:ln>
        </p:spPr>
      </p:sp>
      <p:sp>
        <p:nvSpPr>
          <p:cNvPr id="10" name="Shape 8"/>
          <p:cNvSpPr/>
          <p:nvPr/>
        </p:nvSpPr>
        <p:spPr>
          <a:xfrm>
            <a:off x="4471416" y="4069080"/>
            <a:ext cx="91440" cy="960120"/>
          </a:xfrm>
          <a:prstGeom prst="rect">
            <a:avLst/>
          </a:prstGeom>
          <a:solidFill>
            <a:srgbClr val="E97132"/>
          </a:solidFill>
          <a:ln w="12700">
            <a:solidFill>
              <a:srgbClr val="333333"/>
            </a:solidFill>
            <a:prstDash val="solid"/>
          </a:ln>
        </p:spPr>
      </p:sp>
      <p:sp>
        <p:nvSpPr>
          <p:cNvPr id="11" name="Text 9"/>
          <p:cNvSpPr/>
          <p:nvPr/>
        </p:nvSpPr>
        <p:spPr>
          <a:xfrm>
            <a:off x="4727448" y="4069080"/>
            <a:ext cx="2807208" cy="960120"/>
          </a:xfrm>
          <a:prstGeom prst="rect">
            <a:avLst/>
          </a:prstGeom>
          <a:noFill/>
          <a:ln/>
        </p:spPr>
        <p:txBody>
          <a:bodyPr wrap="square" lIns="0" tIns="0" rIns="0" bIns="0" rtlCol="0" anchor="ctr"/>
          <a:lstStyle/>
          <a:p>
            <a:pPr marL="0" indent="0">
              <a:buNone/>
            </a:pPr>
            <a:r>
              <a:rPr lang="en-US" sz="2100" dirty="0">
                <a:solidFill>
                  <a:srgbClr val="0E2841"/>
                </a:solidFill>
                <a:latin typeface="Times New Roman" pitchFamily="34" charset="0"/>
                <a:ea typeface="Times New Roman" pitchFamily="34" charset="-122"/>
                <a:cs typeface="Times New Roman" pitchFamily="34" charset="-120"/>
              </a:rPr>
              <a:t>What data repeats?</a:t>
            </a:r>
            <a:endParaRPr lang="en-US" sz="2100" dirty="0"/>
          </a:p>
        </p:txBody>
      </p:sp>
      <p:sp>
        <p:nvSpPr>
          <p:cNvPr id="12" name="Shape 10"/>
          <p:cNvSpPr/>
          <p:nvPr/>
        </p:nvSpPr>
        <p:spPr>
          <a:xfrm>
            <a:off x="8101584" y="4069080"/>
            <a:ext cx="3264408" cy="960120"/>
          </a:xfrm>
          <a:prstGeom prst="roundRect">
            <a:avLst>
              <a:gd name="adj" fmla="val 5714"/>
            </a:avLst>
          </a:prstGeom>
          <a:solidFill>
            <a:srgbClr val="F2F6FA"/>
          </a:solidFill>
          <a:ln w="12700">
            <a:solidFill>
              <a:srgbClr val="F2F6FA"/>
            </a:solidFill>
            <a:prstDash val="solid"/>
          </a:ln>
        </p:spPr>
      </p:sp>
      <p:sp>
        <p:nvSpPr>
          <p:cNvPr id="13" name="Shape 11"/>
          <p:cNvSpPr/>
          <p:nvPr/>
        </p:nvSpPr>
        <p:spPr>
          <a:xfrm>
            <a:off x="8101584" y="4069080"/>
            <a:ext cx="91440" cy="960120"/>
          </a:xfrm>
          <a:prstGeom prst="rect">
            <a:avLst/>
          </a:prstGeom>
          <a:solidFill>
            <a:srgbClr val="A02B93"/>
          </a:solidFill>
          <a:ln w="12700">
            <a:solidFill>
              <a:srgbClr val="333333"/>
            </a:solidFill>
            <a:prstDash val="solid"/>
          </a:ln>
        </p:spPr>
      </p:sp>
      <p:sp>
        <p:nvSpPr>
          <p:cNvPr id="14" name="Text 12"/>
          <p:cNvSpPr/>
          <p:nvPr/>
        </p:nvSpPr>
        <p:spPr>
          <a:xfrm>
            <a:off x="8357616" y="4069080"/>
            <a:ext cx="2807208" cy="960120"/>
          </a:xfrm>
          <a:prstGeom prst="rect">
            <a:avLst/>
          </a:prstGeom>
          <a:noFill/>
          <a:ln/>
        </p:spPr>
        <p:txBody>
          <a:bodyPr wrap="square" lIns="0" tIns="0" rIns="0" bIns="0" rtlCol="0" anchor="ctr"/>
          <a:lstStyle/>
          <a:p>
            <a:pPr marL="0" indent="0">
              <a:buNone/>
            </a:pPr>
            <a:r>
              <a:rPr lang="en-US" sz="2100" dirty="0">
                <a:solidFill>
                  <a:srgbClr val="0E2841"/>
                </a:solidFill>
                <a:latin typeface="Times New Roman" pitchFamily="34" charset="0"/>
                <a:ea typeface="Times New Roman" pitchFamily="34" charset="-122"/>
                <a:cs typeface="Times New Roman" pitchFamily="34" charset="-120"/>
              </a:rPr>
              <a:t>Why is repeating bad?</a:t>
            </a:r>
            <a:endParaRPr lang="en-US" sz="2100" dirty="0"/>
          </a:p>
        </p:txBody>
      </p:sp>
      <p:sp>
        <p:nvSpPr>
          <p:cNvPr id="15" name="Shape 13"/>
          <p:cNvSpPr/>
          <p:nvPr/>
        </p:nvSpPr>
        <p:spPr>
          <a:xfrm>
            <a:off x="841248" y="5349240"/>
            <a:ext cx="10515600" cy="548640"/>
          </a:xfrm>
          <a:prstGeom prst="roundRect">
            <a:avLst>
              <a:gd name="adj" fmla="val 13333"/>
            </a:avLst>
          </a:prstGeom>
          <a:solidFill>
            <a:srgbClr val="E8EFF4"/>
          </a:solidFill>
          <a:ln w="12700">
            <a:solidFill>
              <a:srgbClr val="333333"/>
            </a:solidFill>
            <a:prstDash val="solid"/>
          </a:ln>
        </p:spPr>
      </p:sp>
      <p:sp>
        <p:nvSpPr>
          <p:cNvPr id="16" name="Text 14"/>
          <p:cNvSpPr/>
          <p:nvPr/>
        </p:nvSpPr>
        <p:spPr>
          <a:xfrm>
            <a:off x="841248" y="5349240"/>
            <a:ext cx="10515600" cy="548640"/>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Hold your answers — today we turn all three into a repeatable routine</a:t>
            </a:r>
            <a:endParaRPr lang="en-US" sz="1800" dirty="0"/>
          </a:p>
        </p:txBody>
      </p:sp>
      <p:pic>
        <p:nvPicPr>
          <p:cNvPr id="18" name="Image 0" descr="s1_unpacked/ppt/media/image5.png">
            <a:extLst>
              <a:ext uri="{FF2B5EF4-FFF2-40B4-BE49-F238E27FC236}">
                <a16:creationId xmlns:a16="http://schemas.microsoft.com/office/drawing/2014/main" id="{29397DBC-221A-7287-5832-914060AE6450}"/>
              </a:ext>
            </a:extLst>
          </p:cNvPr>
          <p:cNvPicPr>
            <a:picLocks noChangeAspect="1"/>
          </p:cNvPicPr>
          <p:nvPr/>
        </p:nvPicPr>
        <p:blipFill>
          <a:blip r:embed="rId3"/>
          <a:stretch>
            <a:fillRect/>
          </a:stretch>
        </p:blipFill>
        <p:spPr>
          <a:xfrm>
            <a:off x="9646920" y="256032"/>
            <a:ext cx="2240280" cy="3200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Common Misconceptions</a:t>
            </a:r>
            <a:endParaRPr lang="en-US" sz="3600" dirty="0"/>
          </a:p>
        </p:txBody>
      </p:sp>
      <p:sp>
        <p:nvSpPr>
          <p:cNvPr id="3" name="Text 1"/>
          <p:cNvSpPr/>
          <p:nvPr/>
        </p:nvSpPr>
        <p:spPr>
          <a:xfrm>
            <a:off x="841248" y="1691640"/>
            <a:ext cx="4937760" cy="411480"/>
          </a:xfrm>
          <a:prstGeom prst="rect">
            <a:avLst/>
          </a:prstGeom>
          <a:noFill/>
          <a:ln/>
        </p:spPr>
        <p:txBody>
          <a:bodyPr wrap="square" lIns="0" tIns="0" rIns="0" bIns="0" rtlCol="0" anchor="ctr"/>
          <a:lstStyle/>
          <a:p>
            <a:pPr marL="0" indent="0">
              <a:buNone/>
            </a:pPr>
            <a:r>
              <a:rPr lang="en-US" sz="2400" dirty="0">
                <a:solidFill>
                  <a:srgbClr val="C03030"/>
                </a:solidFill>
                <a:latin typeface="Times New Roman" pitchFamily="34" charset="0"/>
                <a:ea typeface="Times New Roman" pitchFamily="34" charset="-122"/>
                <a:cs typeface="Times New Roman" pitchFamily="34" charset="-120"/>
              </a:rPr>
              <a:t>✗   Myth</a:t>
            </a:r>
            <a:endParaRPr lang="en-US" sz="2400" dirty="0"/>
          </a:p>
        </p:txBody>
      </p:sp>
      <p:sp>
        <p:nvSpPr>
          <p:cNvPr id="4" name="Text 2"/>
          <p:cNvSpPr/>
          <p:nvPr/>
        </p:nvSpPr>
        <p:spPr>
          <a:xfrm>
            <a:off x="6419088" y="1691640"/>
            <a:ext cx="4937760" cy="411480"/>
          </a:xfrm>
          <a:prstGeom prst="rect">
            <a:avLst/>
          </a:prstGeom>
          <a:noFill/>
          <a:ln/>
        </p:spPr>
        <p:txBody>
          <a:bodyPr wrap="square" lIns="0" tIns="0" rIns="0" bIns="0" rtlCol="0" anchor="ctr"/>
          <a:lstStyle/>
          <a:p>
            <a:pPr marL="0" indent="0">
              <a:buNone/>
            </a:pPr>
            <a:r>
              <a:rPr lang="en-US" sz="2400" dirty="0">
                <a:solidFill>
                  <a:srgbClr val="196B24"/>
                </a:solidFill>
                <a:latin typeface="Times New Roman" pitchFamily="34" charset="0"/>
                <a:ea typeface="Times New Roman" pitchFamily="34" charset="-122"/>
                <a:cs typeface="Times New Roman" pitchFamily="34" charset="-120"/>
              </a:rPr>
              <a:t>✓   Fact</a:t>
            </a:r>
            <a:endParaRPr lang="en-US" sz="2400" dirty="0"/>
          </a:p>
        </p:txBody>
      </p:sp>
      <p:sp>
        <p:nvSpPr>
          <p:cNvPr id="5" name="Shape 3"/>
          <p:cNvSpPr/>
          <p:nvPr/>
        </p:nvSpPr>
        <p:spPr>
          <a:xfrm>
            <a:off x="841248" y="2286000"/>
            <a:ext cx="4937760" cy="960120"/>
          </a:xfrm>
          <a:prstGeom prst="roundRect">
            <a:avLst>
              <a:gd name="adj" fmla="val 5714"/>
            </a:avLst>
          </a:prstGeom>
          <a:solidFill>
            <a:srgbClr val="FDF0F0"/>
          </a:solidFill>
          <a:ln w="12700">
            <a:solidFill>
              <a:srgbClr val="FDF0F0"/>
            </a:solidFill>
            <a:prstDash val="solid"/>
          </a:ln>
        </p:spPr>
      </p:sp>
      <p:sp>
        <p:nvSpPr>
          <p:cNvPr id="6" name="Text 4"/>
          <p:cNvSpPr/>
          <p:nvPr/>
        </p:nvSpPr>
        <p:spPr>
          <a:xfrm>
            <a:off x="1069848" y="2286000"/>
            <a:ext cx="4480560" cy="960120"/>
          </a:xfrm>
          <a:prstGeom prst="rect">
            <a:avLst/>
          </a:prstGeom>
          <a:noFill/>
          <a:ln/>
        </p:spPr>
        <p:txBody>
          <a:bodyPr wrap="square" lIns="0" tIns="0" rIns="0" bIns="0" rtlCol="0" anchor="ctr"/>
          <a:lstStyle/>
          <a:p>
            <a:pPr marL="0" indent="0">
              <a:buNone/>
            </a:pPr>
            <a:r>
              <a:rPr lang="en-US" sz="2000" dirty="0">
                <a:solidFill>
                  <a:srgbClr val="2B2B2B"/>
                </a:solidFill>
                <a:latin typeface="Times New Roman" pitchFamily="34" charset="0"/>
                <a:ea typeface="Times New Roman" pitchFamily="34" charset="-122"/>
                <a:cs typeface="Times New Roman" pitchFamily="34" charset="-120"/>
              </a:rPr>
              <a:t>3NF is always good enough</a:t>
            </a:r>
            <a:endParaRPr lang="en-US" sz="2000" dirty="0"/>
          </a:p>
        </p:txBody>
      </p:sp>
      <p:sp>
        <p:nvSpPr>
          <p:cNvPr id="7" name="Shape 5"/>
          <p:cNvSpPr/>
          <p:nvPr/>
        </p:nvSpPr>
        <p:spPr>
          <a:xfrm>
            <a:off x="5925312" y="2624328"/>
            <a:ext cx="347472" cy="274320"/>
          </a:xfrm>
          <a:prstGeom prst="rightArrow">
            <a:avLst/>
          </a:prstGeom>
          <a:solidFill>
            <a:srgbClr val="5A6472"/>
          </a:solidFill>
          <a:ln w="12700">
            <a:solidFill>
              <a:srgbClr val="333333"/>
            </a:solidFill>
            <a:prstDash val="solid"/>
          </a:ln>
        </p:spPr>
      </p:sp>
      <p:sp>
        <p:nvSpPr>
          <p:cNvPr id="8" name="Shape 6"/>
          <p:cNvSpPr/>
          <p:nvPr/>
        </p:nvSpPr>
        <p:spPr>
          <a:xfrm>
            <a:off x="6419088" y="2286000"/>
            <a:ext cx="4937760" cy="960120"/>
          </a:xfrm>
          <a:prstGeom prst="roundRect">
            <a:avLst>
              <a:gd name="adj" fmla="val 5714"/>
            </a:avLst>
          </a:prstGeom>
          <a:solidFill>
            <a:srgbClr val="EFF7EF"/>
          </a:solidFill>
          <a:ln w="12700">
            <a:solidFill>
              <a:srgbClr val="EFF7EF"/>
            </a:solidFill>
            <a:prstDash val="solid"/>
          </a:ln>
        </p:spPr>
      </p:sp>
      <p:sp>
        <p:nvSpPr>
          <p:cNvPr id="9" name="Text 7"/>
          <p:cNvSpPr/>
          <p:nvPr/>
        </p:nvSpPr>
        <p:spPr>
          <a:xfrm>
            <a:off x="6647688" y="2286000"/>
            <a:ext cx="4480560" cy="960120"/>
          </a:xfrm>
          <a:prstGeom prst="rect">
            <a:avLst/>
          </a:prstGeom>
          <a:noFill/>
          <a:ln/>
        </p:spPr>
        <p:txBody>
          <a:bodyPr wrap="square" lIns="0" tIns="0" rIns="0" bIns="0" rtlCol="0" anchor="ctr"/>
          <a:lstStyle/>
          <a:p>
            <a:pPr marL="0" indent="0">
              <a:buNone/>
            </a:pPr>
            <a:r>
              <a:rPr lang="en-US" sz="2000" dirty="0">
                <a:solidFill>
                  <a:srgbClr val="196B24"/>
                </a:solidFill>
                <a:latin typeface="Times New Roman" pitchFamily="34" charset="0"/>
                <a:ea typeface="Times New Roman" pitchFamily="34" charset="-122"/>
                <a:cs typeface="Times New Roman" pitchFamily="34" charset="-120"/>
              </a:rPr>
              <a:t>BCNF can still fail</a:t>
            </a:r>
            <a:endParaRPr lang="en-US" sz="2000" dirty="0"/>
          </a:p>
        </p:txBody>
      </p:sp>
      <p:sp>
        <p:nvSpPr>
          <p:cNvPr id="10" name="Shape 8"/>
          <p:cNvSpPr/>
          <p:nvPr/>
        </p:nvSpPr>
        <p:spPr>
          <a:xfrm>
            <a:off x="841248" y="3401568"/>
            <a:ext cx="4937760" cy="960120"/>
          </a:xfrm>
          <a:prstGeom prst="roundRect">
            <a:avLst>
              <a:gd name="adj" fmla="val 5714"/>
            </a:avLst>
          </a:prstGeom>
          <a:solidFill>
            <a:srgbClr val="FDF0F0"/>
          </a:solidFill>
          <a:ln w="12700">
            <a:solidFill>
              <a:srgbClr val="FDF0F0"/>
            </a:solidFill>
            <a:prstDash val="solid"/>
          </a:ln>
        </p:spPr>
      </p:sp>
      <p:sp>
        <p:nvSpPr>
          <p:cNvPr id="11" name="Text 9"/>
          <p:cNvSpPr/>
          <p:nvPr/>
        </p:nvSpPr>
        <p:spPr>
          <a:xfrm>
            <a:off x="1069848" y="3401568"/>
            <a:ext cx="4480560" cy="960120"/>
          </a:xfrm>
          <a:prstGeom prst="rect">
            <a:avLst/>
          </a:prstGeom>
          <a:noFill/>
          <a:ln/>
        </p:spPr>
        <p:txBody>
          <a:bodyPr wrap="square" lIns="0" tIns="0" rIns="0" bIns="0" rtlCol="0" anchor="ctr"/>
          <a:lstStyle/>
          <a:p>
            <a:pPr marL="0" indent="0">
              <a:buNone/>
            </a:pPr>
            <a:r>
              <a:rPr lang="en-US" sz="2000" dirty="0">
                <a:solidFill>
                  <a:srgbClr val="2B2B2B"/>
                </a:solidFill>
                <a:latin typeface="Times New Roman" pitchFamily="34" charset="0"/>
                <a:ea typeface="Times New Roman" pitchFamily="34" charset="-122"/>
                <a:cs typeface="Times New Roman" pitchFamily="34" charset="-120"/>
              </a:rPr>
              <a:t>More tables always means better</a:t>
            </a:r>
            <a:endParaRPr lang="en-US" sz="2000" dirty="0"/>
          </a:p>
        </p:txBody>
      </p:sp>
      <p:sp>
        <p:nvSpPr>
          <p:cNvPr id="12" name="Shape 10"/>
          <p:cNvSpPr/>
          <p:nvPr/>
        </p:nvSpPr>
        <p:spPr>
          <a:xfrm>
            <a:off x="5925312" y="3739896"/>
            <a:ext cx="347472" cy="274320"/>
          </a:xfrm>
          <a:prstGeom prst="rightArrow">
            <a:avLst/>
          </a:prstGeom>
          <a:solidFill>
            <a:srgbClr val="5A6472"/>
          </a:solidFill>
          <a:ln w="12700">
            <a:solidFill>
              <a:srgbClr val="333333"/>
            </a:solidFill>
            <a:prstDash val="solid"/>
          </a:ln>
        </p:spPr>
      </p:sp>
      <p:sp>
        <p:nvSpPr>
          <p:cNvPr id="13" name="Shape 11"/>
          <p:cNvSpPr/>
          <p:nvPr/>
        </p:nvSpPr>
        <p:spPr>
          <a:xfrm>
            <a:off x="6419088" y="3401568"/>
            <a:ext cx="4937760" cy="960120"/>
          </a:xfrm>
          <a:prstGeom prst="roundRect">
            <a:avLst>
              <a:gd name="adj" fmla="val 5714"/>
            </a:avLst>
          </a:prstGeom>
          <a:solidFill>
            <a:srgbClr val="EFF7EF"/>
          </a:solidFill>
          <a:ln w="12700">
            <a:solidFill>
              <a:srgbClr val="EFF7EF"/>
            </a:solidFill>
            <a:prstDash val="solid"/>
          </a:ln>
        </p:spPr>
      </p:sp>
      <p:sp>
        <p:nvSpPr>
          <p:cNvPr id="14" name="Text 12"/>
          <p:cNvSpPr/>
          <p:nvPr/>
        </p:nvSpPr>
        <p:spPr>
          <a:xfrm>
            <a:off x="6647688" y="3401568"/>
            <a:ext cx="4480560" cy="960120"/>
          </a:xfrm>
          <a:prstGeom prst="rect">
            <a:avLst/>
          </a:prstGeom>
          <a:noFill/>
          <a:ln/>
        </p:spPr>
        <p:txBody>
          <a:bodyPr wrap="square" lIns="0" tIns="0" rIns="0" bIns="0" rtlCol="0" anchor="ctr"/>
          <a:lstStyle/>
          <a:p>
            <a:pPr marL="0" indent="0">
              <a:buNone/>
            </a:pPr>
            <a:r>
              <a:rPr lang="en-US" sz="2000" dirty="0">
                <a:solidFill>
                  <a:srgbClr val="196B24"/>
                </a:solidFill>
                <a:latin typeface="Times New Roman" pitchFamily="34" charset="0"/>
                <a:ea typeface="Times New Roman" pitchFamily="34" charset="-122"/>
                <a:cs typeface="Times New Roman" pitchFamily="34" charset="-120"/>
              </a:rPr>
              <a:t>Only split when a rule breaks</a:t>
            </a:r>
            <a:endParaRPr lang="en-US" sz="2000" dirty="0"/>
          </a:p>
        </p:txBody>
      </p:sp>
      <p:sp>
        <p:nvSpPr>
          <p:cNvPr id="15" name="Shape 13"/>
          <p:cNvSpPr/>
          <p:nvPr/>
        </p:nvSpPr>
        <p:spPr>
          <a:xfrm>
            <a:off x="841248" y="4517136"/>
            <a:ext cx="4937760" cy="960120"/>
          </a:xfrm>
          <a:prstGeom prst="roundRect">
            <a:avLst>
              <a:gd name="adj" fmla="val 5714"/>
            </a:avLst>
          </a:prstGeom>
          <a:solidFill>
            <a:srgbClr val="FDF0F0"/>
          </a:solidFill>
          <a:ln w="12700">
            <a:solidFill>
              <a:srgbClr val="FDF0F0"/>
            </a:solidFill>
            <a:prstDash val="solid"/>
          </a:ln>
        </p:spPr>
      </p:sp>
      <p:sp>
        <p:nvSpPr>
          <p:cNvPr id="16" name="Text 14"/>
          <p:cNvSpPr/>
          <p:nvPr/>
        </p:nvSpPr>
        <p:spPr>
          <a:xfrm>
            <a:off x="1069848" y="4517136"/>
            <a:ext cx="4480560" cy="960120"/>
          </a:xfrm>
          <a:prstGeom prst="rect">
            <a:avLst/>
          </a:prstGeom>
          <a:noFill/>
          <a:ln/>
        </p:spPr>
        <p:txBody>
          <a:bodyPr wrap="square" lIns="0" tIns="0" rIns="0" bIns="0" rtlCol="0" anchor="ctr"/>
          <a:lstStyle/>
          <a:p>
            <a:pPr marL="0" indent="0">
              <a:buNone/>
            </a:pPr>
            <a:r>
              <a:rPr lang="en-US" sz="2000" dirty="0">
                <a:solidFill>
                  <a:srgbClr val="2B2B2B"/>
                </a:solidFill>
                <a:latin typeface="Times New Roman" pitchFamily="34" charset="0"/>
                <a:ea typeface="Times New Roman" pitchFamily="34" charset="-122"/>
                <a:cs typeface="Times New Roman" pitchFamily="34" charset="-120"/>
              </a:rPr>
              <a:t>4NF and 5NF are pure theory</a:t>
            </a:r>
            <a:endParaRPr lang="en-US" sz="2000" dirty="0"/>
          </a:p>
        </p:txBody>
      </p:sp>
      <p:sp>
        <p:nvSpPr>
          <p:cNvPr id="17" name="Shape 15"/>
          <p:cNvSpPr/>
          <p:nvPr/>
        </p:nvSpPr>
        <p:spPr>
          <a:xfrm>
            <a:off x="5925312" y="4855464"/>
            <a:ext cx="347472" cy="274320"/>
          </a:xfrm>
          <a:prstGeom prst="rightArrow">
            <a:avLst/>
          </a:prstGeom>
          <a:solidFill>
            <a:srgbClr val="5A6472"/>
          </a:solidFill>
          <a:ln w="12700">
            <a:solidFill>
              <a:srgbClr val="333333"/>
            </a:solidFill>
            <a:prstDash val="solid"/>
          </a:ln>
        </p:spPr>
      </p:sp>
      <p:sp>
        <p:nvSpPr>
          <p:cNvPr id="18" name="Shape 16"/>
          <p:cNvSpPr/>
          <p:nvPr/>
        </p:nvSpPr>
        <p:spPr>
          <a:xfrm>
            <a:off x="6419088" y="4517136"/>
            <a:ext cx="4937760" cy="960120"/>
          </a:xfrm>
          <a:prstGeom prst="roundRect">
            <a:avLst>
              <a:gd name="adj" fmla="val 5714"/>
            </a:avLst>
          </a:prstGeom>
          <a:solidFill>
            <a:srgbClr val="EFF7EF"/>
          </a:solidFill>
          <a:ln w="12700">
            <a:solidFill>
              <a:srgbClr val="EFF7EF"/>
            </a:solidFill>
            <a:prstDash val="solid"/>
          </a:ln>
        </p:spPr>
      </p:sp>
      <p:sp>
        <p:nvSpPr>
          <p:cNvPr id="19" name="Text 17"/>
          <p:cNvSpPr/>
          <p:nvPr/>
        </p:nvSpPr>
        <p:spPr>
          <a:xfrm>
            <a:off x="6647688" y="4517136"/>
            <a:ext cx="4480560" cy="960120"/>
          </a:xfrm>
          <a:prstGeom prst="rect">
            <a:avLst/>
          </a:prstGeom>
          <a:noFill/>
          <a:ln/>
        </p:spPr>
        <p:txBody>
          <a:bodyPr wrap="square" lIns="0" tIns="0" rIns="0" bIns="0" rtlCol="0" anchor="ctr"/>
          <a:lstStyle/>
          <a:p>
            <a:pPr marL="0" indent="0">
              <a:buNone/>
            </a:pPr>
            <a:r>
              <a:rPr lang="en-US" sz="2000" dirty="0">
                <a:solidFill>
                  <a:srgbClr val="196B24"/>
                </a:solidFill>
                <a:latin typeface="Times New Roman" pitchFamily="34" charset="0"/>
                <a:ea typeface="Times New Roman" pitchFamily="34" charset="-122"/>
                <a:cs typeface="Times New Roman" pitchFamily="34" charset="-120"/>
              </a:rPr>
              <a:t>They appear in real catalogs</a:t>
            </a:r>
            <a:endParaRPr lang="en-US" sz="2000" dirty="0"/>
          </a:p>
        </p:txBody>
      </p:sp>
      <p:pic>
        <p:nvPicPr>
          <p:cNvPr id="21" name="Image 0" descr="s1_unpacked/ppt/media/image5.png">
            <a:extLst>
              <a:ext uri="{FF2B5EF4-FFF2-40B4-BE49-F238E27FC236}">
                <a16:creationId xmlns:a16="http://schemas.microsoft.com/office/drawing/2014/main" id="{9DEC39AA-1A2A-566C-A9F1-2BB854C4A2F3}"/>
              </a:ext>
            </a:extLst>
          </p:cNvPr>
          <p:cNvPicPr>
            <a:picLocks noChangeAspect="1"/>
          </p:cNvPicPr>
          <p:nvPr/>
        </p:nvPicPr>
        <p:blipFill>
          <a:blip r:embed="rId3"/>
          <a:stretch>
            <a:fillRect/>
          </a:stretch>
        </p:blipFill>
        <p:spPr>
          <a:xfrm>
            <a:off x="9646920" y="256032"/>
            <a:ext cx="2240280" cy="3200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The Normal Form Ladder</a:t>
            </a:r>
            <a:endParaRPr lang="en-US" sz="3600" dirty="0"/>
          </a:p>
        </p:txBody>
      </p:sp>
      <p:sp>
        <p:nvSpPr>
          <p:cNvPr id="3" name="Shape 1"/>
          <p:cNvSpPr/>
          <p:nvPr/>
        </p:nvSpPr>
        <p:spPr>
          <a:xfrm>
            <a:off x="841248" y="1783080"/>
            <a:ext cx="10515600" cy="640080"/>
          </a:xfrm>
          <a:prstGeom prst="roundRect">
            <a:avLst>
              <a:gd name="adj" fmla="val 8571"/>
            </a:avLst>
          </a:prstGeom>
          <a:solidFill>
            <a:srgbClr val="FFFFFF"/>
          </a:solidFill>
          <a:ln w="12700">
            <a:solidFill>
              <a:srgbClr val="D2DCE6"/>
            </a:solidFill>
            <a:prstDash val="solid"/>
          </a:ln>
        </p:spPr>
      </p:sp>
      <p:sp>
        <p:nvSpPr>
          <p:cNvPr id="4" name="Shape 2"/>
          <p:cNvSpPr/>
          <p:nvPr/>
        </p:nvSpPr>
        <p:spPr>
          <a:xfrm>
            <a:off x="841248" y="1783080"/>
            <a:ext cx="91440" cy="640080"/>
          </a:xfrm>
          <a:prstGeom prst="rect">
            <a:avLst/>
          </a:prstGeom>
          <a:solidFill>
            <a:srgbClr val="156082"/>
          </a:solidFill>
          <a:ln w="12700">
            <a:solidFill>
              <a:srgbClr val="333333"/>
            </a:solidFill>
            <a:prstDash val="solid"/>
          </a:ln>
        </p:spPr>
      </p:sp>
      <p:sp>
        <p:nvSpPr>
          <p:cNvPr id="5" name="Text 3"/>
          <p:cNvSpPr/>
          <p:nvPr/>
        </p:nvSpPr>
        <p:spPr>
          <a:xfrm>
            <a:off x="1161288" y="1783080"/>
            <a:ext cx="1554480" cy="640080"/>
          </a:xfrm>
          <a:prstGeom prst="rect">
            <a:avLst/>
          </a:prstGeom>
          <a:noFill/>
          <a:ln/>
        </p:spPr>
        <p:txBody>
          <a:bodyPr wrap="square" lIns="0" tIns="0" rIns="0" bIns="0" rtlCol="0" anchor="ctr"/>
          <a:lstStyle/>
          <a:p>
            <a:pPr marL="0" indent="0">
              <a:buNone/>
            </a:pPr>
            <a:r>
              <a:rPr lang="en-US" sz="2200" b="1" dirty="0">
                <a:solidFill>
                  <a:srgbClr val="156082"/>
                </a:solidFill>
                <a:latin typeface="Times New Roman" pitchFamily="34" charset="0"/>
                <a:ea typeface="Times New Roman" pitchFamily="34" charset="-122"/>
                <a:cs typeface="Times New Roman" pitchFamily="34" charset="-120"/>
              </a:rPr>
              <a:t>1NF</a:t>
            </a:r>
            <a:endParaRPr lang="en-US" sz="2200" dirty="0"/>
          </a:p>
        </p:txBody>
      </p:sp>
      <p:sp>
        <p:nvSpPr>
          <p:cNvPr id="6" name="Text 4"/>
          <p:cNvSpPr/>
          <p:nvPr/>
        </p:nvSpPr>
        <p:spPr>
          <a:xfrm>
            <a:off x="2834640" y="1783080"/>
            <a:ext cx="8321040" cy="640080"/>
          </a:xfrm>
          <a:prstGeom prst="rect">
            <a:avLst/>
          </a:prstGeom>
          <a:noFill/>
          <a:ln/>
        </p:spPr>
        <p:txBody>
          <a:bodyPr wrap="square" lIns="0" tIns="0" rIns="0" bIns="0" rtlCol="0" anchor="ctr"/>
          <a:lstStyle/>
          <a:p>
            <a:pPr marL="0" indent="0">
              <a:buNone/>
            </a:pPr>
            <a:r>
              <a:rPr lang="en-US" sz="2000" dirty="0">
                <a:solidFill>
                  <a:srgbClr val="2B2B2B"/>
                </a:solidFill>
                <a:latin typeface="Times New Roman" pitchFamily="34" charset="0"/>
                <a:ea typeface="Times New Roman" pitchFamily="34" charset="-122"/>
                <a:cs typeface="Times New Roman" pitchFamily="34" charset="-120"/>
              </a:rPr>
              <a:t>Every cell holds exactly one value</a:t>
            </a:r>
            <a:endParaRPr lang="en-US" sz="2000" dirty="0"/>
          </a:p>
        </p:txBody>
      </p:sp>
      <p:sp>
        <p:nvSpPr>
          <p:cNvPr id="7" name="Shape 5"/>
          <p:cNvSpPr/>
          <p:nvPr/>
        </p:nvSpPr>
        <p:spPr>
          <a:xfrm>
            <a:off x="841248" y="2505456"/>
            <a:ext cx="10515600" cy="640080"/>
          </a:xfrm>
          <a:prstGeom prst="roundRect">
            <a:avLst>
              <a:gd name="adj" fmla="val 8571"/>
            </a:avLst>
          </a:prstGeom>
          <a:solidFill>
            <a:srgbClr val="FFFFFF"/>
          </a:solidFill>
          <a:ln w="12700">
            <a:solidFill>
              <a:srgbClr val="D2DCE6"/>
            </a:solidFill>
            <a:prstDash val="solid"/>
          </a:ln>
        </p:spPr>
      </p:sp>
      <p:sp>
        <p:nvSpPr>
          <p:cNvPr id="8" name="Shape 6"/>
          <p:cNvSpPr/>
          <p:nvPr/>
        </p:nvSpPr>
        <p:spPr>
          <a:xfrm>
            <a:off x="841248" y="2505456"/>
            <a:ext cx="91440" cy="640080"/>
          </a:xfrm>
          <a:prstGeom prst="rect">
            <a:avLst/>
          </a:prstGeom>
          <a:solidFill>
            <a:srgbClr val="E97132"/>
          </a:solidFill>
          <a:ln w="12700">
            <a:solidFill>
              <a:srgbClr val="333333"/>
            </a:solidFill>
            <a:prstDash val="solid"/>
          </a:ln>
        </p:spPr>
      </p:sp>
      <p:sp>
        <p:nvSpPr>
          <p:cNvPr id="9" name="Text 7"/>
          <p:cNvSpPr/>
          <p:nvPr/>
        </p:nvSpPr>
        <p:spPr>
          <a:xfrm>
            <a:off x="1161288" y="2505456"/>
            <a:ext cx="1554480" cy="640080"/>
          </a:xfrm>
          <a:prstGeom prst="rect">
            <a:avLst/>
          </a:prstGeom>
          <a:noFill/>
          <a:ln/>
        </p:spPr>
        <p:txBody>
          <a:bodyPr wrap="square" lIns="0" tIns="0" rIns="0" bIns="0" rtlCol="0" anchor="ctr"/>
          <a:lstStyle/>
          <a:p>
            <a:pPr marL="0" indent="0">
              <a:buNone/>
            </a:pPr>
            <a:r>
              <a:rPr lang="en-US" sz="2200" b="1" dirty="0">
                <a:solidFill>
                  <a:srgbClr val="E97132"/>
                </a:solidFill>
                <a:latin typeface="Times New Roman" pitchFamily="34" charset="0"/>
                <a:ea typeface="Times New Roman" pitchFamily="34" charset="-122"/>
                <a:cs typeface="Times New Roman" pitchFamily="34" charset="-120"/>
              </a:rPr>
              <a:t>2NF</a:t>
            </a:r>
            <a:endParaRPr lang="en-US" sz="2200" dirty="0"/>
          </a:p>
        </p:txBody>
      </p:sp>
      <p:sp>
        <p:nvSpPr>
          <p:cNvPr id="10" name="Text 8"/>
          <p:cNvSpPr/>
          <p:nvPr/>
        </p:nvSpPr>
        <p:spPr>
          <a:xfrm>
            <a:off x="2834640" y="2505456"/>
            <a:ext cx="8321040" cy="640080"/>
          </a:xfrm>
          <a:prstGeom prst="rect">
            <a:avLst/>
          </a:prstGeom>
          <a:noFill/>
          <a:ln/>
        </p:spPr>
        <p:txBody>
          <a:bodyPr wrap="square" lIns="0" tIns="0" rIns="0" bIns="0" rtlCol="0" anchor="ctr"/>
          <a:lstStyle/>
          <a:p>
            <a:pPr marL="0" indent="0">
              <a:buNone/>
            </a:pPr>
            <a:r>
              <a:rPr lang="en-US" sz="2000" dirty="0">
                <a:solidFill>
                  <a:srgbClr val="2B2B2B"/>
                </a:solidFill>
                <a:latin typeface="Times New Roman" pitchFamily="34" charset="0"/>
                <a:ea typeface="Times New Roman" pitchFamily="34" charset="-122"/>
                <a:cs typeface="Times New Roman" pitchFamily="34" charset="-120"/>
              </a:rPr>
              <a:t>No non-key depends on part of the key</a:t>
            </a:r>
            <a:endParaRPr lang="en-US" sz="2000" dirty="0"/>
          </a:p>
        </p:txBody>
      </p:sp>
      <p:sp>
        <p:nvSpPr>
          <p:cNvPr id="11" name="Shape 9"/>
          <p:cNvSpPr/>
          <p:nvPr/>
        </p:nvSpPr>
        <p:spPr>
          <a:xfrm>
            <a:off x="841248" y="3227832"/>
            <a:ext cx="10515600" cy="640080"/>
          </a:xfrm>
          <a:prstGeom prst="roundRect">
            <a:avLst>
              <a:gd name="adj" fmla="val 8571"/>
            </a:avLst>
          </a:prstGeom>
          <a:solidFill>
            <a:srgbClr val="FFFFFF"/>
          </a:solidFill>
          <a:ln w="12700">
            <a:solidFill>
              <a:srgbClr val="D2DCE6"/>
            </a:solidFill>
            <a:prstDash val="solid"/>
          </a:ln>
        </p:spPr>
      </p:sp>
      <p:sp>
        <p:nvSpPr>
          <p:cNvPr id="12" name="Shape 10"/>
          <p:cNvSpPr/>
          <p:nvPr/>
        </p:nvSpPr>
        <p:spPr>
          <a:xfrm>
            <a:off x="841248" y="3227832"/>
            <a:ext cx="91440" cy="640080"/>
          </a:xfrm>
          <a:prstGeom prst="rect">
            <a:avLst/>
          </a:prstGeom>
          <a:solidFill>
            <a:srgbClr val="196B24"/>
          </a:solidFill>
          <a:ln w="12700">
            <a:solidFill>
              <a:srgbClr val="333333"/>
            </a:solidFill>
            <a:prstDash val="solid"/>
          </a:ln>
        </p:spPr>
      </p:sp>
      <p:sp>
        <p:nvSpPr>
          <p:cNvPr id="13" name="Text 11"/>
          <p:cNvSpPr/>
          <p:nvPr/>
        </p:nvSpPr>
        <p:spPr>
          <a:xfrm>
            <a:off x="1161288" y="3227832"/>
            <a:ext cx="1554480" cy="640080"/>
          </a:xfrm>
          <a:prstGeom prst="rect">
            <a:avLst/>
          </a:prstGeom>
          <a:noFill/>
          <a:ln/>
        </p:spPr>
        <p:txBody>
          <a:bodyPr wrap="square" lIns="0" tIns="0" rIns="0" bIns="0" rtlCol="0" anchor="ctr"/>
          <a:lstStyle/>
          <a:p>
            <a:pPr marL="0" indent="0">
              <a:buNone/>
            </a:pPr>
            <a:r>
              <a:rPr lang="en-US" sz="2200" b="1" dirty="0">
                <a:solidFill>
                  <a:srgbClr val="196B24"/>
                </a:solidFill>
                <a:latin typeface="Times New Roman" pitchFamily="34" charset="0"/>
                <a:ea typeface="Times New Roman" pitchFamily="34" charset="-122"/>
                <a:cs typeface="Times New Roman" pitchFamily="34" charset="-120"/>
              </a:rPr>
              <a:t>3NF</a:t>
            </a:r>
            <a:endParaRPr lang="en-US" sz="2200" dirty="0"/>
          </a:p>
        </p:txBody>
      </p:sp>
      <p:sp>
        <p:nvSpPr>
          <p:cNvPr id="14" name="Text 12"/>
          <p:cNvSpPr/>
          <p:nvPr/>
        </p:nvSpPr>
        <p:spPr>
          <a:xfrm>
            <a:off x="2834640" y="3227832"/>
            <a:ext cx="8321040" cy="640080"/>
          </a:xfrm>
          <a:prstGeom prst="rect">
            <a:avLst/>
          </a:prstGeom>
          <a:noFill/>
          <a:ln/>
        </p:spPr>
        <p:txBody>
          <a:bodyPr wrap="square" lIns="0" tIns="0" rIns="0" bIns="0" rtlCol="0" anchor="ctr"/>
          <a:lstStyle/>
          <a:p>
            <a:pPr marL="0" indent="0">
              <a:buNone/>
            </a:pPr>
            <a:r>
              <a:rPr lang="en-US" sz="2000" dirty="0">
                <a:solidFill>
                  <a:srgbClr val="2B2B2B"/>
                </a:solidFill>
                <a:latin typeface="Times New Roman" pitchFamily="34" charset="0"/>
                <a:ea typeface="Times New Roman" pitchFamily="34" charset="-122"/>
                <a:cs typeface="Times New Roman" pitchFamily="34" charset="-120"/>
              </a:rPr>
              <a:t>No non-key depends on another non-key</a:t>
            </a:r>
            <a:endParaRPr lang="en-US" sz="2000" dirty="0"/>
          </a:p>
        </p:txBody>
      </p:sp>
      <p:sp>
        <p:nvSpPr>
          <p:cNvPr id="15" name="Shape 13"/>
          <p:cNvSpPr/>
          <p:nvPr/>
        </p:nvSpPr>
        <p:spPr>
          <a:xfrm>
            <a:off x="841248" y="3950208"/>
            <a:ext cx="10515600" cy="640080"/>
          </a:xfrm>
          <a:prstGeom prst="roundRect">
            <a:avLst>
              <a:gd name="adj" fmla="val 8571"/>
            </a:avLst>
          </a:prstGeom>
          <a:solidFill>
            <a:srgbClr val="FFFFFF"/>
          </a:solidFill>
          <a:ln w="12700">
            <a:solidFill>
              <a:srgbClr val="D2DCE6"/>
            </a:solidFill>
            <a:prstDash val="solid"/>
          </a:ln>
        </p:spPr>
      </p:sp>
      <p:sp>
        <p:nvSpPr>
          <p:cNvPr id="16" name="Shape 14"/>
          <p:cNvSpPr/>
          <p:nvPr/>
        </p:nvSpPr>
        <p:spPr>
          <a:xfrm>
            <a:off x="841248" y="3950208"/>
            <a:ext cx="91440" cy="640080"/>
          </a:xfrm>
          <a:prstGeom prst="rect">
            <a:avLst/>
          </a:prstGeom>
          <a:solidFill>
            <a:srgbClr val="A02B93"/>
          </a:solidFill>
          <a:ln w="12700">
            <a:solidFill>
              <a:srgbClr val="333333"/>
            </a:solidFill>
            <a:prstDash val="solid"/>
          </a:ln>
        </p:spPr>
      </p:sp>
      <p:sp>
        <p:nvSpPr>
          <p:cNvPr id="17" name="Text 15"/>
          <p:cNvSpPr/>
          <p:nvPr/>
        </p:nvSpPr>
        <p:spPr>
          <a:xfrm>
            <a:off x="1161288" y="3950208"/>
            <a:ext cx="1554480" cy="640080"/>
          </a:xfrm>
          <a:prstGeom prst="rect">
            <a:avLst/>
          </a:prstGeom>
          <a:noFill/>
          <a:ln/>
        </p:spPr>
        <p:txBody>
          <a:bodyPr wrap="square" lIns="0" tIns="0" rIns="0" bIns="0" rtlCol="0" anchor="ctr"/>
          <a:lstStyle/>
          <a:p>
            <a:pPr marL="0" indent="0">
              <a:buNone/>
            </a:pPr>
            <a:r>
              <a:rPr lang="en-US" sz="2200" b="1" dirty="0">
                <a:solidFill>
                  <a:srgbClr val="A02B93"/>
                </a:solidFill>
                <a:latin typeface="Times New Roman" pitchFamily="34" charset="0"/>
                <a:ea typeface="Times New Roman" pitchFamily="34" charset="-122"/>
                <a:cs typeface="Times New Roman" pitchFamily="34" charset="-120"/>
              </a:rPr>
              <a:t>BCNF</a:t>
            </a:r>
            <a:endParaRPr lang="en-US" sz="2200" dirty="0"/>
          </a:p>
        </p:txBody>
      </p:sp>
      <p:sp>
        <p:nvSpPr>
          <p:cNvPr id="18" name="Text 16"/>
          <p:cNvSpPr/>
          <p:nvPr/>
        </p:nvSpPr>
        <p:spPr>
          <a:xfrm>
            <a:off x="2834640" y="3950208"/>
            <a:ext cx="8321040" cy="640080"/>
          </a:xfrm>
          <a:prstGeom prst="rect">
            <a:avLst/>
          </a:prstGeom>
          <a:noFill/>
          <a:ln/>
        </p:spPr>
        <p:txBody>
          <a:bodyPr wrap="square" lIns="0" tIns="0" rIns="0" bIns="0" rtlCol="0" anchor="ctr"/>
          <a:lstStyle/>
          <a:p>
            <a:pPr marL="0" indent="0">
              <a:buNone/>
            </a:pPr>
            <a:r>
              <a:rPr lang="en-US" sz="2000" dirty="0">
                <a:solidFill>
                  <a:srgbClr val="2B2B2B"/>
                </a:solidFill>
                <a:latin typeface="Times New Roman" pitchFamily="34" charset="0"/>
                <a:ea typeface="Times New Roman" pitchFamily="34" charset="-122"/>
                <a:cs typeface="Times New Roman" pitchFamily="34" charset="-120"/>
              </a:rPr>
              <a:t>Every determinant is a superkey</a:t>
            </a:r>
            <a:endParaRPr lang="en-US" sz="2000" dirty="0"/>
          </a:p>
        </p:txBody>
      </p:sp>
      <p:sp>
        <p:nvSpPr>
          <p:cNvPr id="19" name="Shape 17"/>
          <p:cNvSpPr/>
          <p:nvPr/>
        </p:nvSpPr>
        <p:spPr>
          <a:xfrm>
            <a:off x="841248" y="4672584"/>
            <a:ext cx="10515600" cy="640080"/>
          </a:xfrm>
          <a:prstGeom prst="roundRect">
            <a:avLst>
              <a:gd name="adj" fmla="val 8571"/>
            </a:avLst>
          </a:prstGeom>
          <a:solidFill>
            <a:srgbClr val="FFFFFF"/>
          </a:solidFill>
          <a:ln w="12700">
            <a:solidFill>
              <a:srgbClr val="D2DCE6"/>
            </a:solidFill>
            <a:prstDash val="solid"/>
          </a:ln>
        </p:spPr>
      </p:sp>
      <p:sp>
        <p:nvSpPr>
          <p:cNvPr id="20" name="Shape 18"/>
          <p:cNvSpPr/>
          <p:nvPr/>
        </p:nvSpPr>
        <p:spPr>
          <a:xfrm>
            <a:off x="841248" y="4672584"/>
            <a:ext cx="91440" cy="640080"/>
          </a:xfrm>
          <a:prstGeom prst="rect">
            <a:avLst/>
          </a:prstGeom>
          <a:solidFill>
            <a:srgbClr val="156082"/>
          </a:solidFill>
          <a:ln w="12700">
            <a:solidFill>
              <a:srgbClr val="333333"/>
            </a:solidFill>
            <a:prstDash val="solid"/>
          </a:ln>
        </p:spPr>
      </p:sp>
      <p:sp>
        <p:nvSpPr>
          <p:cNvPr id="21" name="Text 19"/>
          <p:cNvSpPr/>
          <p:nvPr/>
        </p:nvSpPr>
        <p:spPr>
          <a:xfrm>
            <a:off x="1161288" y="4672584"/>
            <a:ext cx="1554480" cy="640080"/>
          </a:xfrm>
          <a:prstGeom prst="rect">
            <a:avLst/>
          </a:prstGeom>
          <a:noFill/>
          <a:ln/>
        </p:spPr>
        <p:txBody>
          <a:bodyPr wrap="square" lIns="0" tIns="0" rIns="0" bIns="0" rtlCol="0" anchor="ctr"/>
          <a:lstStyle/>
          <a:p>
            <a:pPr marL="0" indent="0">
              <a:buNone/>
            </a:pPr>
            <a:r>
              <a:rPr lang="en-US" sz="2200" b="1" dirty="0">
                <a:solidFill>
                  <a:srgbClr val="156082"/>
                </a:solidFill>
                <a:latin typeface="Times New Roman" pitchFamily="34" charset="0"/>
                <a:ea typeface="Times New Roman" pitchFamily="34" charset="-122"/>
                <a:cs typeface="Times New Roman" pitchFamily="34" charset="-120"/>
              </a:rPr>
              <a:t>4NF</a:t>
            </a:r>
            <a:endParaRPr lang="en-US" sz="2200" dirty="0"/>
          </a:p>
        </p:txBody>
      </p:sp>
      <p:sp>
        <p:nvSpPr>
          <p:cNvPr id="22" name="Text 20"/>
          <p:cNvSpPr/>
          <p:nvPr/>
        </p:nvSpPr>
        <p:spPr>
          <a:xfrm>
            <a:off x="2834640" y="4672584"/>
            <a:ext cx="8321040" cy="640080"/>
          </a:xfrm>
          <a:prstGeom prst="rect">
            <a:avLst/>
          </a:prstGeom>
          <a:noFill/>
          <a:ln/>
        </p:spPr>
        <p:txBody>
          <a:bodyPr wrap="square" lIns="0" tIns="0" rIns="0" bIns="0" rtlCol="0" anchor="ctr"/>
          <a:lstStyle/>
          <a:p>
            <a:pPr marL="0" indent="0">
              <a:buNone/>
            </a:pPr>
            <a:r>
              <a:rPr lang="en-US" sz="2000" dirty="0">
                <a:solidFill>
                  <a:srgbClr val="2B2B2B"/>
                </a:solidFill>
                <a:latin typeface="Times New Roman" pitchFamily="34" charset="0"/>
                <a:ea typeface="Times New Roman" pitchFamily="34" charset="-122"/>
                <a:cs typeface="Times New Roman" pitchFamily="34" charset="-120"/>
              </a:rPr>
              <a:t>No two independent multivalued facts together</a:t>
            </a:r>
            <a:endParaRPr lang="en-US" sz="2000" dirty="0"/>
          </a:p>
        </p:txBody>
      </p:sp>
      <p:sp>
        <p:nvSpPr>
          <p:cNvPr id="23" name="Shape 21"/>
          <p:cNvSpPr/>
          <p:nvPr/>
        </p:nvSpPr>
        <p:spPr>
          <a:xfrm>
            <a:off x="841248" y="5394960"/>
            <a:ext cx="10515600" cy="640080"/>
          </a:xfrm>
          <a:prstGeom prst="roundRect">
            <a:avLst>
              <a:gd name="adj" fmla="val 8571"/>
            </a:avLst>
          </a:prstGeom>
          <a:solidFill>
            <a:srgbClr val="FFFFFF"/>
          </a:solidFill>
          <a:ln w="12700">
            <a:solidFill>
              <a:srgbClr val="D2DCE6"/>
            </a:solidFill>
            <a:prstDash val="solid"/>
          </a:ln>
        </p:spPr>
      </p:sp>
      <p:sp>
        <p:nvSpPr>
          <p:cNvPr id="24" name="Shape 22"/>
          <p:cNvSpPr/>
          <p:nvPr/>
        </p:nvSpPr>
        <p:spPr>
          <a:xfrm>
            <a:off x="841248" y="5394960"/>
            <a:ext cx="91440" cy="640080"/>
          </a:xfrm>
          <a:prstGeom prst="rect">
            <a:avLst/>
          </a:prstGeom>
          <a:solidFill>
            <a:srgbClr val="E97132"/>
          </a:solidFill>
          <a:ln w="12700">
            <a:solidFill>
              <a:srgbClr val="333333"/>
            </a:solidFill>
            <a:prstDash val="solid"/>
          </a:ln>
        </p:spPr>
      </p:sp>
      <p:sp>
        <p:nvSpPr>
          <p:cNvPr id="25" name="Text 23"/>
          <p:cNvSpPr/>
          <p:nvPr/>
        </p:nvSpPr>
        <p:spPr>
          <a:xfrm>
            <a:off x="1161288" y="5394960"/>
            <a:ext cx="1554480" cy="640080"/>
          </a:xfrm>
          <a:prstGeom prst="rect">
            <a:avLst/>
          </a:prstGeom>
          <a:noFill/>
          <a:ln/>
        </p:spPr>
        <p:txBody>
          <a:bodyPr wrap="square" lIns="0" tIns="0" rIns="0" bIns="0" rtlCol="0" anchor="ctr"/>
          <a:lstStyle/>
          <a:p>
            <a:pPr marL="0" indent="0">
              <a:buNone/>
            </a:pPr>
            <a:r>
              <a:rPr lang="en-US" sz="2200" b="1" dirty="0">
                <a:solidFill>
                  <a:srgbClr val="E97132"/>
                </a:solidFill>
                <a:latin typeface="Times New Roman" pitchFamily="34" charset="0"/>
                <a:ea typeface="Times New Roman" pitchFamily="34" charset="-122"/>
                <a:cs typeface="Times New Roman" pitchFamily="34" charset="-120"/>
              </a:rPr>
              <a:t>5NF</a:t>
            </a:r>
            <a:endParaRPr lang="en-US" sz="2200" dirty="0"/>
          </a:p>
        </p:txBody>
      </p:sp>
      <p:sp>
        <p:nvSpPr>
          <p:cNvPr id="26" name="Text 24"/>
          <p:cNvSpPr/>
          <p:nvPr/>
        </p:nvSpPr>
        <p:spPr>
          <a:xfrm>
            <a:off x="2834640" y="5394960"/>
            <a:ext cx="8321040" cy="640080"/>
          </a:xfrm>
          <a:prstGeom prst="rect">
            <a:avLst/>
          </a:prstGeom>
          <a:noFill/>
          <a:ln/>
        </p:spPr>
        <p:txBody>
          <a:bodyPr wrap="square" lIns="0" tIns="0" rIns="0" bIns="0" rtlCol="0" anchor="ctr"/>
          <a:lstStyle/>
          <a:p>
            <a:pPr marL="0" indent="0">
              <a:buNone/>
            </a:pPr>
            <a:r>
              <a:rPr lang="en-US" sz="2000" dirty="0">
                <a:solidFill>
                  <a:srgbClr val="2B2B2B"/>
                </a:solidFill>
                <a:latin typeface="Times New Roman" pitchFamily="34" charset="0"/>
                <a:ea typeface="Times New Roman" pitchFamily="34" charset="-122"/>
                <a:cs typeface="Times New Roman" pitchFamily="34" charset="-120"/>
              </a:rPr>
              <a:t>No redundancy that only joins reveal</a:t>
            </a:r>
            <a:endParaRPr lang="en-US" sz="2000" dirty="0"/>
          </a:p>
        </p:txBody>
      </p:sp>
      <p:pic>
        <p:nvPicPr>
          <p:cNvPr id="28" name="Image 0" descr="s1_unpacked/ppt/media/image5.png">
            <a:extLst>
              <a:ext uri="{FF2B5EF4-FFF2-40B4-BE49-F238E27FC236}">
                <a16:creationId xmlns:a16="http://schemas.microsoft.com/office/drawing/2014/main" id="{AA151184-19F9-2795-C677-15CD56288A8D}"/>
              </a:ext>
            </a:extLst>
          </p:cNvPr>
          <p:cNvPicPr>
            <a:picLocks noChangeAspect="1"/>
          </p:cNvPicPr>
          <p:nvPr/>
        </p:nvPicPr>
        <p:blipFill>
          <a:blip r:embed="rId3"/>
          <a:stretch>
            <a:fillRect/>
          </a:stretch>
        </p:blipFill>
        <p:spPr>
          <a:xfrm>
            <a:off x="9646920" y="256032"/>
            <a:ext cx="2240280" cy="320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The Five-Step Routine</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56082"/>
                </a:solidFill>
                <a:latin typeface="Times New Roman" pitchFamily="34" charset="0"/>
                <a:ea typeface="Times New Roman" pitchFamily="34" charset="-122"/>
                <a:cs typeface="Times New Roman" pitchFamily="34" charset="-120"/>
              </a:rPr>
              <a:t>Use the same order on every problem:</a:t>
            </a:r>
            <a:endParaRPr lang="en-US" sz="2400" dirty="0"/>
          </a:p>
        </p:txBody>
      </p:sp>
      <p:sp>
        <p:nvSpPr>
          <p:cNvPr id="4" name="Shape 2"/>
          <p:cNvSpPr/>
          <p:nvPr/>
        </p:nvSpPr>
        <p:spPr>
          <a:xfrm>
            <a:off x="841248" y="2240280"/>
            <a:ext cx="10515600" cy="685800"/>
          </a:xfrm>
          <a:prstGeom prst="roundRect">
            <a:avLst>
              <a:gd name="adj" fmla="val 8000"/>
            </a:avLst>
          </a:prstGeom>
          <a:solidFill>
            <a:srgbClr val="F2F6FA"/>
          </a:solidFill>
          <a:ln w="12700">
            <a:solidFill>
              <a:srgbClr val="F2F6FA"/>
            </a:solidFill>
            <a:prstDash val="solid"/>
          </a:ln>
        </p:spPr>
      </p:sp>
      <p:sp>
        <p:nvSpPr>
          <p:cNvPr id="5" name="Shape 3"/>
          <p:cNvSpPr/>
          <p:nvPr/>
        </p:nvSpPr>
        <p:spPr>
          <a:xfrm>
            <a:off x="1097280" y="2313432"/>
            <a:ext cx="530352" cy="530352"/>
          </a:xfrm>
          <a:prstGeom prst="roundRect">
            <a:avLst>
              <a:gd name="adj" fmla="val 17241"/>
            </a:avLst>
          </a:prstGeom>
          <a:solidFill>
            <a:srgbClr val="156082"/>
          </a:solidFill>
          <a:ln w="12700">
            <a:solidFill>
              <a:srgbClr val="333333"/>
            </a:solidFill>
            <a:prstDash val="solid"/>
          </a:ln>
        </p:spPr>
      </p:sp>
      <p:sp>
        <p:nvSpPr>
          <p:cNvPr id="6" name="Text 4"/>
          <p:cNvSpPr/>
          <p:nvPr/>
        </p:nvSpPr>
        <p:spPr>
          <a:xfrm>
            <a:off x="1097280" y="2313432"/>
            <a:ext cx="530352" cy="530352"/>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1</a:t>
            </a:r>
            <a:endParaRPr lang="en-US" sz="2100" dirty="0"/>
          </a:p>
        </p:txBody>
      </p:sp>
      <p:sp>
        <p:nvSpPr>
          <p:cNvPr id="7" name="Text 5"/>
          <p:cNvSpPr/>
          <p:nvPr/>
        </p:nvSpPr>
        <p:spPr>
          <a:xfrm>
            <a:off x="1828800" y="2240280"/>
            <a:ext cx="3291840" cy="685800"/>
          </a:xfrm>
          <a:prstGeom prst="rect">
            <a:avLst/>
          </a:prstGeom>
          <a:noFill/>
          <a:ln/>
        </p:spPr>
        <p:txBody>
          <a:bodyPr wrap="square" lIns="0" tIns="0" rIns="0" bIns="0" rtlCol="0" anchor="ctr"/>
          <a:lstStyle/>
          <a:p>
            <a:pPr marL="0" indent="0">
              <a:buNone/>
            </a:pPr>
            <a:r>
              <a:rPr lang="en-US" sz="2100" b="1" dirty="0">
                <a:solidFill>
                  <a:srgbClr val="0E2841"/>
                </a:solidFill>
                <a:latin typeface="Times New Roman" pitchFamily="34" charset="0"/>
                <a:ea typeface="Times New Roman" pitchFamily="34" charset="-122"/>
                <a:cs typeface="Times New Roman" pitchFamily="34" charset="-120"/>
              </a:rPr>
              <a:t>Find the key</a:t>
            </a:r>
            <a:endParaRPr lang="en-US" sz="2100" dirty="0"/>
          </a:p>
        </p:txBody>
      </p:sp>
      <p:sp>
        <p:nvSpPr>
          <p:cNvPr id="8" name="Text 6"/>
          <p:cNvSpPr/>
          <p:nvPr/>
        </p:nvSpPr>
        <p:spPr>
          <a:xfrm>
            <a:off x="5394960" y="2240280"/>
            <a:ext cx="5760720" cy="685800"/>
          </a:xfrm>
          <a:prstGeom prst="rect">
            <a:avLst/>
          </a:prstGeom>
          <a:noFill/>
          <a:ln/>
        </p:spPr>
        <p:txBody>
          <a:bodyPr wrap="square" lIns="0" tIns="0" rIns="0" bIns="0" rtlCol="0" anchor="ctr"/>
          <a:lstStyle/>
          <a:p>
            <a:pPr marL="0" indent="0">
              <a:buNone/>
            </a:pPr>
            <a:r>
              <a:rPr lang="en-US" sz="1900" dirty="0">
                <a:solidFill>
                  <a:srgbClr val="5A6472"/>
                </a:solidFill>
                <a:latin typeface="Times New Roman" pitchFamily="34" charset="0"/>
                <a:ea typeface="Times New Roman" pitchFamily="34" charset="-122"/>
                <a:cs typeface="Times New Roman" pitchFamily="34" charset="-120"/>
              </a:rPr>
              <a:t>Which attributes identify a row?</a:t>
            </a:r>
            <a:endParaRPr lang="en-US" sz="1900" dirty="0"/>
          </a:p>
        </p:txBody>
      </p:sp>
      <p:sp>
        <p:nvSpPr>
          <p:cNvPr id="9" name="Shape 7"/>
          <p:cNvSpPr/>
          <p:nvPr/>
        </p:nvSpPr>
        <p:spPr>
          <a:xfrm>
            <a:off x="841248" y="3017520"/>
            <a:ext cx="10515600" cy="685800"/>
          </a:xfrm>
          <a:prstGeom prst="roundRect">
            <a:avLst>
              <a:gd name="adj" fmla="val 8000"/>
            </a:avLst>
          </a:prstGeom>
          <a:solidFill>
            <a:srgbClr val="F2F6FA"/>
          </a:solidFill>
          <a:ln w="12700">
            <a:solidFill>
              <a:srgbClr val="F2F6FA"/>
            </a:solidFill>
            <a:prstDash val="solid"/>
          </a:ln>
        </p:spPr>
      </p:sp>
      <p:sp>
        <p:nvSpPr>
          <p:cNvPr id="10" name="Shape 8"/>
          <p:cNvSpPr/>
          <p:nvPr/>
        </p:nvSpPr>
        <p:spPr>
          <a:xfrm>
            <a:off x="1097280" y="3090672"/>
            <a:ext cx="530352" cy="530352"/>
          </a:xfrm>
          <a:prstGeom prst="roundRect">
            <a:avLst>
              <a:gd name="adj" fmla="val 17241"/>
            </a:avLst>
          </a:prstGeom>
          <a:solidFill>
            <a:srgbClr val="E97132"/>
          </a:solidFill>
          <a:ln w="12700">
            <a:solidFill>
              <a:srgbClr val="333333"/>
            </a:solidFill>
            <a:prstDash val="solid"/>
          </a:ln>
        </p:spPr>
      </p:sp>
      <p:sp>
        <p:nvSpPr>
          <p:cNvPr id="11" name="Text 9"/>
          <p:cNvSpPr/>
          <p:nvPr/>
        </p:nvSpPr>
        <p:spPr>
          <a:xfrm>
            <a:off x="1097280" y="3090672"/>
            <a:ext cx="530352" cy="530352"/>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2</a:t>
            </a:r>
            <a:endParaRPr lang="en-US" sz="2100" dirty="0"/>
          </a:p>
        </p:txBody>
      </p:sp>
      <p:sp>
        <p:nvSpPr>
          <p:cNvPr id="12" name="Text 10"/>
          <p:cNvSpPr/>
          <p:nvPr/>
        </p:nvSpPr>
        <p:spPr>
          <a:xfrm>
            <a:off x="1828800" y="3017520"/>
            <a:ext cx="3291840" cy="685800"/>
          </a:xfrm>
          <a:prstGeom prst="rect">
            <a:avLst/>
          </a:prstGeom>
          <a:noFill/>
          <a:ln/>
        </p:spPr>
        <p:txBody>
          <a:bodyPr wrap="square" lIns="0" tIns="0" rIns="0" bIns="0" rtlCol="0" anchor="ctr"/>
          <a:lstStyle/>
          <a:p>
            <a:pPr marL="0" indent="0">
              <a:buNone/>
            </a:pPr>
            <a:r>
              <a:rPr lang="en-US" sz="2100" b="1" dirty="0">
                <a:solidFill>
                  <a:srgbClr val="0E2841"/>
                </a:solidFill>
                <a:latin typeface="Times New Roman" pitchFamily="34" charset="0"/>
                <a:ea typeface="Times New Roman" pitchFamily="34" charset="-122"/>
                <a:cs typeface="Times New Roman" pitchFamily="34" charset="-120"/>
              </a:rPr>
              <a:t>List dependencies</a:t>
            </a:r>
            <a:endParaRPr lang="en-US" sz="2100" dirty="0"/>
          </a:p>
        </p:txBody>
      </p:sp>
      <p:sp>
        <p:nvSpPr>
          <p:cNvPr id="13" name="Text 11"/>
          <p:cNvSpPr/>
          <p:nvPr/>
        </p:nvSpPr>
        <p:spPr>
          <a:xfrm>
            <a:off x="5394960" y="3017520"/>
            <a:ext cx="5760720" cy="685800"/>
          </a:xfrm>
          <a:prstGeom prst="rect">
            <a:avLst/>
          </a:prstGeom>
          <a:noFill/>
          <a:ln/>
        </p:spPr>
        <p:txBody>
          <a:bodyPr wrap="square" lIns="0" tIns="0" rIns="0" bIns="0" rtlCol="0" anchor="ctr"/>
          <a:lstStyle/>
          <a:p>
            <a:pPr marL="0" indent="0">
              <a:buNone/>
            </a:pPr>
            <a:r>
              <a:rPr lang="en-US" sz="1900" dirty="0">
                <a:solidFill>
                  <a:srgbClr val="5A6472"/>
                </a:solidFill>
                <a:latin typeface="Times New Roman" pitchFamily="34" charset="0"/>
                <a:ea typeface="Times New Roman" pitchFamily="34" charset="-122"/>
                <a:cs typeface="Times New Roman" pitchFamily="34" charset="-120"/>
              </a:rPr>
              <a:t>Write down every FD, MVD and JD</a:t>
            </a:r>
            <a:endParaRPr lang="en-US" sz="1900" dirty="0"/>
          </a:p>
        </p:txBody>
      </p:sp>
      <p:sp>
        <p:nvSpPr>
          <p:cNvPr id="14" name="Shape 12"/>
          <p:cNvSpPr/>
          <p:nvPr/>
        </p:nvSpPr>
        <p:spPr>
          <a:xfrm>
            <a:off x="841248" y="3794760"/>
            <a:ext cx="10515600" cy="685800"/>
          </a:xfrm>
          <a:prstGeom prst="roundRect">
            <a:avLst>
              <a:gd name="adj" fmla="val 8000"/>
            </a:avLst>
          </a:prstGeom>
          <a:solidFill>
            <a:srgbClr val="F2F6FA"/>
          </a:solidFill>
          <a:ln w="12700">
            <a:solidFill>
              <a:srgbClr val="F2F6FA"/>
            </a:solidFill>
            <a:prstDash val="solid"/>
          </a:ln>
        </p:spPr>
      </p:sp>
      <p:sp>
        <p:nvSpPr>
          <p:cNvPr id="15" name="Shape 13"/>
          <p:cNvSpPr/>
          <p:nvPr/>
        </p:nvSpPr>
        <p:spPr>
          <a:xfrm>
            <a:off x="1097280" y="3867912"/>
            <a:ext cx="530352" cy="530352"/>
          </a:xfrm>
          <a:prstGeom prst="roundRect">
            <a:avLst>
              <a:gd name="adj" fmla="val 17241"/>
            </a:avLst>
          </a:prstGeom>
          <a:solidFill>
            <a:srgbClr val="196B24"/>
          </a:solidFill>
          <a:ln w="12700">
            <a:solidFill>
              <a:srgbClr val="333333"/>
            </a:solidFill>
            <a:prstDash val="solid"/>
          </a:ln>
        </p:spPr>
      </p:sp>
      <p:sp>
        <p:nvSpPr>
          <p:cNvPr id="16" name="Text 14"/>
          <p:cNvSpPr/>
          <p:nvPr/>
        </p:nvSpPr>
        <p:spPr>
          <a:xfrm>
            <a:off x="1097280" y="3867912"/>
            <a:ext cx="530352" cy="530352"/>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3</a:t>
            </a:r>
            <a:endParaRPr lang="en-US" sz="2100" dirty="0"/>
          </a:p>
        </p:txBody>
      </p:sp>
      <p:sp>
        <p:nvSpPr>
          <p:cNvPr id="17" name="Text 15"/>
          <p:cNvSpPr/>
          <p:nvPr/>
        </p:nvSpPr>
        <p:spPr>
          <a:xfrm>
            <a:off x="1828800" y="3794760"/>
            <a:ext cx="3291840" cy="685800"/>
          </a:xfrm>
          <a:prstGeom prst="rect">
            <a:avLst/>
          </a:prstGeom>
          <a:noFill/>
          <a:ln/>
        </p:spPr>
        <p:txBody>
          <a:bodyPr wrap="square" lIns="0" tIns="0" rIns="0" bIns="0" rtlCol="0" anchor="ctr"/>
          <a:lstStyle/>
          <a:p>
            <a:pPr marL="0" indent="0">
              <a:buNone/>
            </a:pPr>
            <a:r>
              <a:rPr lang="en-US" sz="2100" b="1" dirty="0">
                <a:solidFill>
                  <a:srgbClr val="0E2841"/>
                </a:solidFill>
                <a:latin typeface="Times New Roman" pitchFamily="34" charset="0"/>
                <a:ea typeface="Times New Roman" pitchFamily="34" charset="-122"/>
                <a:cs typeface="Times New Roman" pitchFamily="34" charset="-120"/>
              </a:rPr>
              <a:t>Name the violation</a:t>
            </a:r>
            <a:endParaRPr lang="en-US" sz="2100" dirty="0"/>
          </a:p>
        </p:txBody>
      </p:sp>
      <p:sp>
        <p:nvSpPr>
          <p:cNvPr id="18" name="Text 16"/>
          <p:cNvSpPr/>
          <p:nvPr/>
        </p:nvSpPr>
        <p:spPr>
          <a:xfrm>
            <a:off x="5394960" y="3794760"/>
            <a:ext cx="5760720" cy="685800"/>
          </a:xfrm>
          <a:prstGeom prst="rect">
            <a:avLst/>
          </a:prstGeom>
          <a:noFill/>
          <a:ln/>
        </p:spPr>
        <p:txBody>
          <a:bodyPr wrap="square" lIns="0" tIns="0" rIns="0" bIns="0" rtlCol="0" anchor="ctr"/>
          <a:lstStyle/>
          <a:p>
            <a:pPr marL="0" indent="0">
              <a:buNone/>
            </a:pPr>
            <a:r>
              <a:rPr lang="en-US" sz="1900" dirty="0">
                <a:solidFill>
                  <a:srgbClr val="5A6472"/>
                </a:solidFill>
                <a:latin typeface="Times New Roman" pitchFamily="34" charset="0"/>
                <a:ea typeface="Times New Roman" pitchFamily="34" charset="-122"/>
                <a:cs typeface="Times New Roman" pitchFamily="34" charset="-120"/>
              </a:rPr>
              <a:t>Which rule breaks, exactly?</a:t>
            </a:r>
            <a:endParaRPr lang="en-US" sz="1900" dirty="0"/>
          </a:p>
        </p:txBody>
      </p:sp>
      <p:sp>
        <p:nvSpPr>
          <p:cNvPr id="19" name="Shape 17"/>
          <p:cNvSpPr/>
          <p:nvPr/>
        </p:nvSpPr>
        <p:spPr>
          <a:xfrm>
            <a:off x="841248" y="4572000"/>
            <a:ext cx="10515600" cy="685800"/>
          </a:xfrm>
          <a:prstGeom prst="roundRect">
            <a:avLst>
              <a:gd name="adj" fmla="val 8000"/>
            </a:avLst>
          </a:prstGeom>
          <a:solidFill>
            <a:srgbClr val="F2F6FA"/>
          </a:solidFill>
          <a:ln w="12700">
            <a:solidFill>
              <a:srgbClr val="F2F6FA"/>
            </a:solidFill>
            <a:prstDash val="solid"/>
          </a:ln>
        </p:spPr>
      </p:sp>
      <p:sp>
        <p:nvSpPr>
          <p:cNvPr id="20" name="Shape 18"/>
          <p:cNvSpPr/>
          <p:nvPr/>
        </p:nvSpPr>
        <p:spPr>
          <a:xfrm>
            <a:off x="1097280" y="4645152"/>
            <a:ext cx="530352" cy="530352"/>
          </a:xfrm>
          <a:prstGeom prst="roundRect">
            <a:avLst>
              <a:gd name="adj" fmla="val 17241"/>
            </a:avLst>
          </a:prstGeom>
          <a:solidFill>
            <a:srgbClr val="A02B93"/>
          </a:solidFill>
          <a:ln w="12700">
            <a:solidFill>
              <a:srgbClr val="333333"/>
            </a:solidFill>
            <a:prstDash val="solid"/>
          </a:ln>
        </p:spPr>
      </p:sp>
      <p:sp>
        <p:nvSpPr>
          <p:cNvPr id="21" name="Text 19"/>
          <p:cNvSpPr/>
          <p:nvPr/>
        </p:nvSpPr>
        <p:spPr>
          <a:xfrm>
            <a:off x="1097280" y="4645152"/>
            <a:ext cx="530352" cy="530352"/>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4</a:t>
            </a:r>
            <a:endParaRPr lang="en-US" sz="2100" dirty="0"/>
          </a:p>
        </p:txBody>
      </p:sp>
      <p:sp>
        <p:nvSpPr>
          <p:cNvPr id="22" name="Text 20"/>
          <p:cNvSpPr/>
          <p:nvPr/>
        </p:nvSpPr>
        <p:spPr>
          <a:xfrm>
            <a:off x="1828800" y="4572000"/>
            <a:ext cx="3291840" cy="685800"/>
          </a:xfrm>
          <a:prstGeom prst="rect">
            <a:avLst/>
          </a:prstGeom>
          <a:noFill/>
          <a:ln/>
        </p:spPr>
        <p:txBody>
          <a:bodyPr wrap="square" lIns="0" tIns="0" rIns="0" bIns="0" rtlCol="0" anchor="ctr"/>
          <a:lstStyle/>
          <a:p>
            <a:pPr marL="0" indent="0">
              <a:buNone/>
            </a:pPr>
            <a:r>
              <a:rPr lang="en-US" sz="2100" b="1" dirty="0">
                <a:solidFill>
                  <a:srgbClr val="0E2841"/>
                </a:solidFill>
                <a:latin typeface="Times New Roman" pitchFamily="34" charset="0"/>
                <a:ea typeface="Times New Roman" pitchFamily="34" charset="-122"/>
                <a:cs typeface="Times New Roman" pitchFamily="34" charset="-120"/>
              </a:rPr>
              <a:t>Decompose</a:t>
            </a:r>
            <a:endParaRPr lang="en-US" sz="2100" dirty="0"/>
          </a:p>
        </p:txBody>
      </p:sp>
      <p:sp>
        <p:nvSpPr>
          <p:cNvPr id="23" name="Text 21"/>
          <p:cNvSpPr/>
          <p:nvPr/>
        </p:nvSpPr>
        <p:spPr>
          <a:xfrm>
            <a:off x="5394960" y="4572000"/>
            <a:ext cx="5760720" cy="685800"/>
          </a:xfrm>
          <a:prstGeom prst="rect">
            <a:avLst/>
          </a:prstGeom>
          <a:noFill/>
          <a:ln/>
        </p:spPr>
        <p:txBody>
          <a:bodyPr wrap="square" lIns="0" tIns="0" rIns="0" bIns="0" rtlCol="0" anchor="ctr"/>
          <a:lstStyle/>
          <a:p>
            <a:pPr marL="0" indent="0">
              <a:buNone/>
            </a:pPr>
            <a:r>
              <a:rPr lang="en-US" sz="1900" dirty="0">
                <a:solidFill>
                  <a:srgbClr val="5A6472"/>
                </a:solidFill>
                <a:latin typeface="Times New Roman" pitchFamily="34" charset="0"/>
                <a:ea typeface="Times New Roman" pitchFamily="34" charset="-122"/>
                <a:cs typeface="Times New Roman" pitchFamily="34" charset="-120"/>
              </a:rPr>
              <a:t>Split along the offending dependency</a:t>
            </a:r>
            <a:endParaRPr lang="en-US" sz="1900" dirty="0"/>
          </a:p>
        </p:txBody>
      </p:sp>
      <p:sp>
        <p:nvSpPr>
          <p:cNvPr id="24" name="Shape 22"/>
          <p:cNvSpPr/>
          <p:nvPr/>
        </p:nvSpPr>
        <p:spPr>
          <a:xfrm>
            <a:off x="841248" y="5349240"/>
            <a:ext cx="10515600" cy="685800"/>
          </a:xfrm>
          <a:prstGeom prst="roundRect">
            <a:avLst>
              <a:gd name="adj" fmla="val 8000"/>
            </a:avLst>
          </a:prstGeom>
          <a:solidFill>
            <a:srgbClr val="F2F6FA"/>
          </a:solidFill>
          <a:ln w="12700">
            <a:solidFill>
              <a:srgbClr val="F2F6FA"/>
            </a:solidFill>
            <a:prstDash val="solid"/>
          </a:ln>
        </p:spPr>
      </p:sp>
      <p:sp>
        <p:nvSpPr>
          <p:cNvPr id="25" name="Shape 23"/>
          <p:cNvSpPr/>
          <p:nvPr/>
        </p:nvSpPr>
        <p:spPr>
          <a:xfrm>
            <a:off x="1097280" y="5422392"/>
            <a:ext cx="530352" cy="530352"/>
          </a:xfrm>
          <a:prstGeom prst="roundRect">
            <a:avLst>
              <a:gd name="adj" fmla="val 17241"/>
            </a:avLst>
          </a:prstGeom>
          <a:solidFill>
            <a:srgbClr val="156082"/>
          </a:solidFill>
          <a:ln w="12700">
            <a:solidFill>
              <a:srgbClr val="333333"/>
            </a:solidFill>
            <a:prstDash val="solid"/>
          </a:ln>
        </p:spPr>
      </p:sp>
      <p:sp>
        <p:nvSpPr>
          <p:cNvPr id="26" name="Text 24"/>
          <p:cNvSpPr/>
          <p:nvPr/>
        </p:nvSpPr>
        <p:spPr>
          <a:xfrm>
            <a:off x="1097280" y="5422392"/>
            <a:ext cx="530352" cy="530352"/>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5</a:t>
            </a:r>
            <a:endParaRPr lang="en-US" sz="2100" dirty="0"/>
          </a:p>
        </p:txBody>
      </p:sp>
      <p:sp>
        <p:nvSpPr>
          <p:cNvPr id="27" name="Text 25"/>
          <p:cNvSpPr/>
          <p:nvPr/>
        </p:nvSpPr>
        <p:spPr>
          <a:xfrm>
            <a:off x="1828800" y="5349240"/>
            <a:ext cx="3291840" cy="685800"/>
          </a:xfrm>
          <a:prstGeom prst="rect">
            <a:avLst/>
          </a:prstGeom>
          <a:noFill/>
          <a:ln/>
        </p:spPr>
        <p:txBody>
          <a:bodyPr wrap="square" lIns="0" tIns="0" rIns="0" bIns="0" rtlCol="0" anchor="ctr"/>
          <a:lstStyle/>
          <a:p>
            <a:pPr marL="0" indent="0">
              <a:buNone/>
            </a:pPr>
            <a:r>
              <a:rPr lang="en-US" sz="2100" b="1" dirty="0">
                <a:solidFill>
                  <a:srgbClr val="0E2841"/>
                </a:solidFill>
                <a:latin typeface="Times New Roman" pitchFamily="34" charset="0"/>
                <a:ea typeface="Times New Roman" pitchFamily="34" charset="-122"/>
                <a:cs typeface="Times New Roman" pitchFamily="34" charset="-120"/>
              </a:rPr>
              <a:t>Verify</a:t>
            </a:r>
            <a:endParaRPr lang="en-US" sz="2100" dirty="0"/>
          </a:p>
        </p:txBody>
      </p:sp>
      <p:sp>
        <p:nvSpPr>
          <p:cNvPr id="28" name="Text 26"/>
          <p:cNvSpPr/>
          <p:nvPr/>
        </p:nvSpPr>
        <p:spPr>
          <a:xfrm>
            <a:off x="5394960" y="5349240"/>
            <a:ext cx="5760720" cy="685800"/>
          </a:xfrm>
          <a:prstGeom prst="rect">
            <a:avLst/>
          </a:prstGeom>
          <a:noFill/>
          <a:ln/>
        </p:spPr>
        <p:txBody>
          <a:bodyPr wrap="square" lIns="0" tIns="0" rIns="0" bIns="0" rtlCol="0" anchor="ctr"/>
          <a:lstStyle/>
          <a:p>
            <a:pPr marL="0" indent="0">
              <a:buNone/>
            </a:pPr>
            <a:r>
              <a:rPr lang="en-US" sz="1900" dirty="0">
                <a:solidFill>
                  <a:srgbClr val="5A6472"/>
                </a:solidFill>
                <a:latin typeface="Times New Roman" pitchFamily="34" charset="0"/>
                <a:ea typeface="Times New Roman" pitchFamily="34" charset="-122"/>
                <a:cs typeface="Times New Roman" pitchFamily="34" charset="-120"/>
              </a:rPr>
              <a:t>Lossless join, redundancy gone</a:t>
            </a:r>
            <a:endParaRPr lang="en-US" sz="1900" dirty="0"/>
          </a:p>
        </p:txBody>
      </p:sp>
      <p:pic>
        <p:nvPicPr>
          <p:cNvPr id="30" name="Image 0" descr="s1_unpacked/ppt/media/image5.png">
            <a:extLst>
              <a:ext uri="{FF2B5EF4-FFF2-40B4-BE49-F238E27FC236}">
                <a16:creationId xmlns:a16="http://schemas.microsoft.com/office/drawing/2014/main" id="{9A66F3DB-7790-85C1-D51E-EFBA5228B11C}"/>
              </a:ext>
            </a:extLst>
          </p:cNvPr>
          <p:cNvPicPr>
            <a:picLocks noChangeAspect="1"/>
          </p:cNvPicPr>
          <p:nvPr/>
        </p:nvPicPr>
        <p:blipFill>
          <a:blip r:embed="rId3"/>
          <a:stretch>
            <a:fillRect/>
          </a:stretch>
        </p:blipFill>
        <p:spPr>
          <a:xfrm>
            <a:off x="9646920" y="256032"/>
            <a:ext cx="2240280" cy="3200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Read the Clue, Call the Form</a:t>
            </a:r>
            <a:endParaRPr lang="en-US" sz="3600" dirty="0"/>
          </a:p>
        </p:txBody>
      </p:sp>
      <p:sp>
        <p:nvSpPr>
          <p:cNvPr id="3" name="Shape 1"/>
          <p:cNvSpPr/>
          <p:nvPr/>
        </p:nvSpPr>
        <p:spPr>
          <a:xfrm>
            <a:off x="841248" y="1828800"/>
            <a:ext cx="4937760" cy="1097280"/>
          </a:xfrm>
          <a:prstGeom prst="roundRect">
            <a:avLst>
              <a:gd name="adj" fmla="val 5000"/>
            </a:avLst>
          </a:prstGeom>
          <a:solidFill>
            <a:srgbClr val="F2F6FA"/>
          </a:solidFill>
          <a:ln w="12700">
            <a:solidFill>
              <a:srgbClr val="F2F6FA"/>
            </a:solidFill>
            <a:prstDash val="solid"/>
          </a:ln>
        </p:spPr>
      </p:sp>
      <p:sp>
        <p:nvSpPr>
          <p:cNvPr id="4" name="Shape 2"/>
          <p:cNvSpPr/>
          <p:nvPr/>
        </p:nvSpPr>
        <p:spPr>
          <a:xfrm>
            <a:off x="841248" y="1828800"/>
            <a:ext cx="91440" cy="1097280"/>
          </a:xfrm>
          <a:prstGeom prst="rect">
            <a:avLst/>
          </a:prstGeom>
          <a:solidFill>
            <a:srgbClr val="156082"/>
          </a:solidFill>
          <a:ln w="12700">
            <a:solidFill>
              <a:srgbClr val="333333"/>
            </a:solidFill>
            <a:prstDash val="solid"/>
          </a:ln>
        </p:spPr>
      </p:sp>
      <p:sp>
        <p:nvSpPr>
          <p:cNvPr id="5" name="Text 3"/>
          <p:cNvSpPr/>
          <p:nvPr/>
        </p:nvSpPr>
        <p:spPr>
          <a:xfrm>
            <a:off x="1133856" y="1828800"/>
            <a:ext cx="1280160" cy="1097280"/>
          </a:xfrm>
          <a:prstGeom prst="rect">
            <a:avLst/>
          </a:prstGeom>
          <a:noFill/>
          <a:ln/>
        </p:spPr>
        <p:txBody>
          <a:bodyPr wrap="square" lIns="0" tIns="0" rIns="0" bIns="0" rtlCol="0" anchor="ctr"/>
          <a:lstStyle/>
          <a:p>
            <a:pPr marL="0" indent="0">
              <a:buNone/>
            </a:pPr>
            <a:r>
              <a:rPr lang="en-US" sz="2200" b="1" dirty="0">
                <a:solidFill>
                  <a:srgbClr val="156082"/>
                </a:solidFill>
                <a:latin typeface="Times New Roman" pitchFamily="34" charset="0"/>
                <a:ea typeface="Times New Roman" pitchFamily="34" charset="-122"/>
                <a:cs typeface="Times New Roman" pitchFamily="34" charset="-120"/>
              </a:rPr>
              <a:t>1NF</a:t>
            </a:r>
            <a:endParaRPr lang="en-US" sz="2200" dirty="0"/>
          </a:p>
        </p:txBody>
      </p:sp>
      <p:sp>
        <p:nvSpPr>
          <p:cNvPr id="6" name="Text 4"/>
          <p:cNvSpPr/>
          <p:nvPr/>
        </p:nvSpPr>
        <p:spPr>
          <a:xfrm>
            <a:off x="2487168" y="1828800"/>
            <a:ext cx="3108960" cy="1097280"/>
          </a:xfrm>
          <a:prstGeom prst="rect">
            <a:avLst/>
          </a:prstGeom>
          <a:noFill/>
          <a:ln/>
        </p:spPr>
        <p:txBody>
          <a:bodyPr wrap="square" lIns="0" tIns="0" rIns="0" bIns="0" rtlCol="0" anchor="ctr"/>
          <a:lstStyle/>
          <a:p>
            <a:pPr marL="0" indent="0">
              <a:buNone/>
            </a:pPr>
            <a:r>
              <a:rPr lang="en-US" sz="1800" dirty="0">
                <a:solidFill>
                  <a:srgbClr val="2B2B2B"/>
                </a:solidFill>
                <a:latin typeface="Times New Roman" pitchFamily="34" charset="0"/>
                <a:ea typeface="Times New Roman" pitchFamily="34" charset="-122"/>
                <a:cs typeface="Times New Roman" pitchFamily="34" charset="-120"/>
              </a:rPr>
              <a:t>A cell holds many values</a:t>
            </a:r>
            <a:endParaRPr lang="en-US" sz="1800" dirty="0"/>
          </a:p>
        </p:txBody>
      </p:sp>
      <p:sp>
        <p:nvSpPr>
          <p:cNvPr id="7" name="Shape 5"/>
          <p:cNvSpPr/>
          <p:nvPr/>
        </p:nvSpPr>
        <p:spPr>
          <a:xfrm>
            <a:off x="6419088" y="1828800"/>
            <a:ext cx="4937760" cy="1097280"/>
          </a:xfrm>
          <a:prstGeom prst="roundRect">
            <a:avLst>
              <a:gd name="adj" fmla="val 5000"/>
            </a:avLst>
          </a:prstGeom>
          <a:solidFill>
            <a:srgbClr val="F2F6FA"/>
          </a:solidFill>
          <a:ln w="12700">
            <a:solidFill>
              <a:srgbClr val="F2F6FA"/>
            </a:solidFill>
            <a:prstDash val="solid"/>
          </a:ln>
        </p:spPr>
      </p:sp>
      <p:sp>
        <p:nvSpPr>
          <p:cNvPr id="8" name="Shape 6"/>
          <p:cNvSpPr/>
          <p:nvPr/>
        </p:nvSpPr>
        <p:spPr>
          <a:xfrm>
            <a:off x="6419088" y="1828800"/>
            <a:ext cx="91440" cy="1097280"/>
          </a:xfrm>
          <a:prstGeom prst="rect">
            <a:avLst/>
          </a:prstGeom>
          <a:solidFill>
            <a:srgbClr val="A02B93"/>
          </a:solidFill>
          <a:ln w="12700">
            <a:solidFill>
              <a:srgbClr val="333333"/>
            </a:solidFill>
            <a:prstDash val="solid"/>
          </a:ln>
        </p:spPr>
      </p:sp>
      <p:sp>
        <p:nvSpPr>
          <p:cNvPr id="9" name="Text 7"/>
          <p:cNvSpPr/>
          <p:nvPr/>
        </p:nvSpPr>
        <p:spPr>
          <a:xfrm>
            <a:off x="6711696" y="1828800"/>
            <a:ext cx="1280160" cy="1097280"/>
          </a:xfrm>
          <a:prstGeom prst="rect">
            <a:avLst/>
          </a:prstGeom>
          <a:noFill/>
          <a:ln/>
        </p:spPr>
        <p:txBody>
          <a:bodyPr wrap="square" lIns="0" tIns="0" rIns="0" bIns="0" rtlCol="0" anchor="ctr"/>
          <a:lstStyle/>
          <a:p>
            <a:pPr marL="0" indent="0">
              <a:buNone/>
            </a:pPr>
            <a:r>
              <a:rPr lang="en-US" sz="2200" b="1" dirty="0">
                <a:solidFill>
                  <a:srgbClr val="A02B93"/>
                </a:solidFill>
                <a:latin typeface="Times New Roman" pitchFamily="34" charset="0"/>
                <a:ea typeface="Times New Roman" pitchFamily="34" charset="-122"/>
                <a:cs typeface="Times New Roman" pitchFamily="34" charset="-120"/>
              </a:rPr>
              <a:t>BCNF</a:t>
            </a:r>
            <a:endParaRPr lang="en-US" sz="2200" dirty="0"/>
          </a:p>
        </p:txBody>
      </p:sp>
      <p:sp>
        <p:nvSpPr>
          <p:cNvPr id="10" name="Text 8"/>
          <p:cNvSpPr/>
          <p:nvPr/>
        </p:nvSpPr>
        <p:spPr>
          <a:xfrm>
            <a:off x="8065008" y="1828800"/>
            <a:ext cx="3108960" cy="1097280"/>
          </a:xfrm>
          <a:prstGeom prst="rect">
            <a:avLst/>
          </a:prstGeom>
          <a:noFill/>
          <a:ln/>
        </p:spPr>
        <p:txBody>
          <a:bodyPr wrap="square" lIns="0" tIns="0" rIns="0" bIns="0" rtlCol="0" anchor="ctr"/>
          <a:lstStyle/>
          <a:p>
            <a:pPr marL="0" indent="0">
              <a:buNone/>
            </a:pPr>
            <a:r>
              <a:rPr lang="en-US" sz="1800" dirty="0">
                <a:solidFill>
                  <a:srgbClr val="2B2B2B"/>
                </a:solidFill>
                <a:latin typeface="Times New Roman" pitchFamily="34" charset="0"/>
                <a:ea typeface="Times New Roman" pitchFamily="34" charset="-122"/>
                <a:cs typeface="Times New Roman" pitchFamily="34" charset="-120"/>
              </a:rPr>
              <a:t>A determinant is not a superkey</a:t>
            </a:r>
            <a:endParaRPr lang="en-US" sz="1800" dirty="0"/>
          </a:p>
        </p:txBody>
      </p:sp>
      <p:sp>
        <p:nvSpPr>
          <p:cNvPr id="11" name="Shape 9"/>
          <p:cNvSpPr/>
          <p:nvPr/>
        </p:nvSpPr>
        <p:spPr>
          <a:xfrm>
            <a:off x="841248" y="3063240"/>
            <a:ext cx="4937760" cy="1097280"/>
          </a:xfrm>
          <a:prstGeom prst="roundRect">
            <a:avLst>
              <a:gd name="adj" fmla="val 5000"/>
            </a:avLst>
          </a:prstGeom>
          <a:solidFill>
            <a:srgbClr val="F2F6FA"/>
          </a:solidFill>
          <a:ln w="12700">
            <a:solidFill>
              <a:srgbClr val="F2F6FA"/>
            </a:solidFill>
            <a:prstDash val="solid"/>
          </a:ln>
        </p:spPr>
      </p:sp>
      <p:sp>
        <p:nvSpPr>
          <p:cNvPr id="12" name="Shape 10"/>
          <p:cNvSpPr/>
          <p:nvPr/>
        </p:nvSpPr>
        <p:spPr>
          <a:xfrm>
            <a:off x="841248" y="3063240"/>
            <a:ext cx="91440" cy="1097280"/>
          </a:xfrm>
          <a:prstGeom prst="rect">
            <a:avLst/>
          </a:prstGeom>
          <a:solidFill>
            <a:srgbClr val="E97132"/>
          </a:solidFill>
          <a:ln w="12700">
            <a:solidFill>
              <a:srgbClr val="333333"/>
            </a:solidFill>
            <a:prstDash val="solid"/>
          </a:ln>
        </p:spPr>
      </p:sp>
      <p:sp>
        <p:nvSpPr>
          <p:cNvPr id="13" name="Text 11"/>
          <p:cNvSpPr/>
          <p:nvPr/>
        </p:nvSpPr>
        <p:spPr>
          <a:xfrm>
            <a:off x="1133856" y="3063240"/>
            <a:ext cx="1280160" cy="1097280"/>
          </a:xfrm>
          <a:prstGeom prst="rect">
            <a:avLst/>
          </a:prstGeom>
          <a:noFill/>
          <a:ln/>
        </p:spPr>
        <p:txBody>
          <a:bodyPr wrap="square" lIns="0" tIns="0" rIns="0" bIns="0" rtlCol="0" anchor="ctr"/>
          <a:lstStyle/>
          <a:p>
            <a:pPr marL="0" indent="0">
              <a:buNone/>
            </a:pPr>
            <a:r>
              <a:rPr lang="en-US" sz="2200" b="1" dirty="0">
                <a:solidFill>
                  <a:srgbClr val="E97132"/>
                </a:solidFill>
                <a:latin typeface="Times New Roman" pitchFamily="34" charset="0"/>
                <a:ea typeface="Times New Roman" pitchFamily="34" charset="-122"/>
                <a:cs typeface="Times New Roman" pitchFamily="34" charset="-120"/>
              </a:rPr>
              <a:t>2NF</a:t>
            </a:r>
            <a:endParaRPr lang="en-US" sz="2200" dirty="0"/>
          </a:p>
        </p:txBody>
      </p:sp>
      <p:sp>
        <p:nvSpPr>
          <p:cNvPr id="14" name="Text 12"/>
          <p:cNvSpPr/>
          <p:nvPr/>
        </p:nvSpPr>
        <p:spPr>
          <a:xfrm>
            <a:off x="2487168" y="3063240"/>
            <a:ext cx="3108960" cy="1097280"/>
          </a:xfrm>
          <a:prstGeom prst="rect">
            <a:avLst/>
          </a:prstGeom>
          <a:noFill/>
          <a:ln/>
        </p:spPr>
        <p:txBody>
          <a:bodyPr wrap="square" lIns="0" tIns="0" rIns="0" bIns="0" rtlCol="0" anchor="ctr"/>
          <a:lstStyle/>
          <a:p>
            <a:pPr marL="0" indent="0">
              <a:buNone/>
            </a:pPr>
            <a:r>
              <a:rPr lang="en-US" sz="1800" dirty="0">
                <a:solidFill>
                  <a:srgbClr val="2B2B2B"/>
                </a:solidFill>
                <a:latin typeface="Times New Roman" pitchFamily="34" charset="0"/>
                <a:ea typeface="Times New Roman" pitchFamily="34" charset="-122"/>
                <a:cs typeface="Times New Roman" pitchFamily="34" charset="-120"/>
              </a:rPr>
              <a:t>Part of the key decides a non-key</a:t>
            </a:r>
            <a:endParaRPr lang="en-US" sz="1800" dirty="0"/>
          </a:p>
        </p:txBody>
      </p:sp>
      <p:sp>
        <p:nvSpPr>
          <p:cNvPr id="15" name="Shape 13"/>
          <p:cNvSpPr/>
          <p:nvPr/>
        </p:nvSpPr>
        <p:spPr>
          <a:xfrm>
            <a:off x="6419088" y="3063240"/>
            <a:ext cx="4937760" cy="1097280"/>
          </a:xfrm>
          <a:prstGeom prst="roundRect">
            <a:avLst>
              <a:gd name="adj" fmla="val 5000"/>
            </a:avLst>
          </a:prstGeom>
          <a:solidFill>
            <a:srgbClr val="F2F6FA"/>
          </a:solidFill>
          <a:ln w="12700">
            <a:solidFill>
              <a:srgbClr val="F2F6FA"/>
            </a:solidFill>
            <a:prstDash val="solid"/>
          </a:ln>
        </p:spPr>
      </p:sp>
      <p:sp>
        <p:nvSpPr>
          <p:cNvPr id="16" name="Shape 14"/>
          <p:cNvSpPr/>
          <p:nvPr/>
        </p:nvSpPr>
        <p:spPr>
          <a:xfrm>
            <a:off x="6419088" y="3063240"/>
            <a:ext cx="91440" cy="1097280"/>
          </a:xfrm>
          <a:prstGeom prst="rect">
            <a:avLst/>
          </a:prstGeom>
          <a:solidFill>
            <a:srgbClr val="156082"/>
          </a:solidFill>
          <a:ln w="12700">
            <a:solidFill>
              <a:srgbClr val="333333"/>
            </a:solidFill>
            <a:prstDash val="solid"/>
          </a:ln>
        </p:spPr>
      </p:sp>
      <p:sp>
        <p:nvSpPr>
          <p:cNvPr id="17" name="Text 15"/>
          <p:cNvSpPr/>
          <p:nvPr/>
        </p:nvSpPr>
        <p:spPr>
          <a:xfrm>
            <a:off x="6711696" y="3063240"/>
            <a:ext cx="1280160" cy="1097280"/>
          </a:xfrm>
          <a:prstGeom prst="rect">
            <a:avLst/>
          </a:prstGeom>
          <a:noFill/>
          <a:ln/>
        </p:spPr>
        <p:txBody>
          <a:bodyPr wrap="square" lIns="0" tIns="0" rIns="0" bIns="0" rtlCol="0" anchor="ctr"/>
          <a:lstStyle/>
          <a:p>
            <a:pPr marL="0" indent="0">
              <a:buNone/>
            </a:pPr>
            <a:r>
              <a:rPr lang="en-US" sz="2200" b="1" dirty="0">
                <a:solidFill>
                  <a:srgbClr val="156082"/>
                </a:solidFill>
                <a:latin typeface="Times New Roman" pitchFamily="34" charset="0"/>
                <a:ea typeface="Times New Roman" pitchFamily="34" charset="-122"/>
                <a:cs typeface="Times New Roman" pitchFamily="34" charset="-120"/>
              </a:rPr>
              <a:t>4NF</a:t>
            </a:r>
            <a:endParaRPr lang="en-US" sz="2200" dirty="0"/>
          </a:p>
        </p:txBody>
      </p:sp>
      <p:sp>
        <p:nvSpPr>
          <p:cNvPr id="18" name="Text 16"/>
          <p:cNvSpPr/>
          <p:nvPr/>
        </p:nvSpPr>
        <p:spPr>
          <a:xfrm>
            <a:off x="8065008" y="3063240"/>
            <a:ext cx="3108960" cy="1097280"/>
          </a:xfrm>
          <a:prstGeom prst="rect">
            <a:avLst/>
          </a:prstGeom>
          <a:noFill/>
          <a:ln/>
        </p:spPr>
        <p:txBody>
          <a:bodyPr wrap="square" lIns="0" tIns="0" rIns="0" bIns="0" rtlCol="0" anchor="ctr"/>
          <a:lstStyle/>
          <a:p>
            <a:pPr marL="0" indent="0">
              <a:buNone/>
            </a:pPr>
            <a:r>
              <a:rPr lang="en-US" sz="1800" dirty="0">
                <a:solidFill>
                  <a:srgbClr val="2B2B2B"/>
                </a:solidFill>
                <a:latin typeface="Times New Roman" pitchFamily="34" charset="0"/>
                <a:ea typeface="Times New Roman" pitchFamily="34" charset="-122"/>
                <a:cs typeface="Times New Roman" pitchFamily="34" charset="-120"/>
              </a:rPr>
              <a:t>Two independent multivalued lists</a:t>
            </a:r>
            <a:endParaRPr lang="en-US" sz="1800" dirty="0"/>
          </a:p>
        </p:txBody>
      </p:sp>
      <p:sp>
        <p:nvSpPr>
          <p:cNvPr id="19" name="Shape 17"/>
          <p:cNvSpPr/>
          <p:nvPr/>
        </p:nvSpPr>
        <p:spPr>
          <a:xfrm>
            <a:off x="841248" y="4297680"/>
            <a:ext cx="4937760" cy="1097280"/>
          </a:xfrm>
          <a:prstGeom prst="roundRect">
            <a:avLst>
              <a:gd name="adj" fmla="val 5000"/>
            </a:avLst>
          </a:prstGeom>
          <a:solidFill>
            <a:srgbClr val="F2F6FA"/>
          </a:solidFill>
          <a:ln w="12700">
            <a:solidFill>
              <a:srgbClr val="F2F6FA"/>
            </a:solidFill>
            <a:prstDash val="solid"/>
          </a:ln>
        </p:spPr>
      </p:sp>
      <p:sp>
        <p:nvSpPr>
          <p:cNvPr id="20" name="Shape 18"/>
          <p:cNvSpPr/>
          <p:nvPr/>
        </p:nvSpPr>
        <p:spPr>
          <a:xfrm>
            <a:off x="841248" y="4297680"/>
            <a:ext cx="91440" cy="1097280"/>
          </a:xfrm>
          <a:prstGeom prst="rect">
            <a:avLst/>
          </a:prstGeom>
          <a:solidFill>
            <a:srgbClr val="196B24"/>
          </a:solidFill>
          <a:ln w="12700">
            <a:solidFill>
              <a:srgbClr val="333333"/>
            </a:solidFill>
            <a:prstDash val="solid"/>
          </a:ln>
        </p:spPr>
      </p:sp>
      <p:sp>
        <p:nvSpPr>
          <p:cNvPr id="21" name="Text 19"/>
          <p:cNvSpPr/>
          <p:nvPr/>
        </p:nvSpPr>
        <p:spPr>
          <a:xfrm>
            <a:off x="1133856" y="4297680"/>
            <a:ext cx="1280160" cy="1097280"/>
          </a:xfrm>
          <a:prstGeom prst="rect">
            <a:avLst/>
          </a:prstGeom>
          <a:noFill/>
          <a:ln/>
        </p:spPr>
        <p:txBody>
          <a:bodyPr wrap="square" lIns="0" tIns="0" rIns="0" bIns="0" rtlCol="0" anchor="ctr"/>
          <a:lstStyle/>
          <a:p>
            <a:pPr marL="0" indent="0">
              <a:buNone/>
            </a:pPr>
            <a:r>
              <a:rPr lang="en-US" sz="2200" b="1" dirty="0">
                <a:solidFill>
                  <a:srgbClr val="196B24"/>
                </a:solidFill>
                <a:latin typeface="Times New Roman" pitchFamily="34" charset="0"/>
                <a:ea typeface="Times New Roman" pitchFamily="34" charset="-122"/>
                <a:cs typeface="Times New Roman" pitchFamily="34" charset="-120"/>
              </a:rPr>
              <a:t>3NF</a:t>
            </a:r>
            <a:endParaRPr lang="en-US" sz="2200" dirty="0"/>
          </a:p>
        </p:txBody>
      </p:sp>
      <p:sp>
        <p:nvSpPr>
          <p:cNvPr id="22" name="Text 20"/>
          <p:cNvSpPr/>
          <p:nvPr/>
        </p:nvSpPr>
        <p:spPr>
          <a:xfrm>
            <a:off x="2487168" y="4297680"/>
            <a:ext cx="3108960" cy="1097280"/>
          </a:xfrm>
          <a:prstGeom prst="rect">
            <a:avLst/>
          </a:prstGeom>
          <a:noFill/>
          <a:ln/>
        </p:spPr>
        <p:txBody>
          <a:bodyPr wrap="square" lIns="0" tIns="0" rIns="0" bIns="0" rtlCol="0" anchor="ctr"/>
          <a:lstStyle/>
          <a:p>
            <a:pPr marL="0" indent="0">
              <a:buNone/>
            </a:pPr>
            <a:r>
              <a:rPr lang="en-US" sz="1800" dirty="0">
                <a:solidFill>
                  <a:srgbClr val="2B2B2B"/>
                </a:solidFill>
                <a:latin typeface="Times New Roman" pitchFamily="34" charset="0"/>
                <a:ea typeface="Times New Roman" pitchFamily="34" charset="-122"/>
                <a:cs typeface="Times New Roman" pitchFamily="34" charset="-120"/>
              </a:rPr>
              <a:t>A non-key decides another non-key</a:t>
            </a:r>
            <a:endParaRPr lang="en-US" sz="1800" dirty="0"/>
          </a:p>
        </p:txBody>
      </p:sp>
      <p:sp>
        <p:nvSpPr>
          <p:cNvPr id="23" name="Shape 21"/>
          <p:cNvSpPr/>
          <p:nvPr/>
        </p:nvSpPr>
        <p:spPr>
          <a:xfrm>
            <a:off x="6419088" y="4297680"/>
            <a:ext cx="4937760" cy="1097280"/>
          </a:xfrm>
          <a:prstGeom prst="roundRect">
            <a:avLst>
              <a:gd name="adj" fmla="val 5000"/>
            </a:avLst>
          </a:prstGeom>
          <a:solidFill>
            <a:srgbClr val="F2F6FA"/>
          </a:solidFill>
          <a:ln w="12700">
            <a:solidFill>
              <a:srgbClr val="F2F6FA"/>
            </a:solidFill>
            <a:prstDash val="solid"/>
          </a:ln>
        </p:spPr>
      </p:sp>
      <p:sp>
        <p:nvSpPr>
          <p:cNvPr id="24" name="Shape 22"/>
          <p:cNvSpPr/>
          <p:nvPr/>
        </p:nvSpPr>
        <p:spPr>
          <a:xfrm>
            <a:off x="6419088" y="4297680"/>
            <a:ext cx="91440" cy="1097280"/>
          </a:xfrm>
          <a:prstGeom prst="rect">
            <a:avLst/>
          </a:prstGeom>
          <a:solidFill>
            <a:srgbClr val="E97132"/>
          </a:solidFill>
          <a:ln w="12700">
            <a:solidFill>
              <a:srgbClr val="333333"/>
            </a:solidFill>
            <a:prstDash val="solid"/>
          </a:ln>
        </p:spPr>
      </p:sp>
      <p:sp>
        <p:nvSpPr>
          <p:cNvPr id="25" name="Text 23"/>
          <p:cNvSpPr/>
          <p:nvPr/>
        </p:nvSpPr>
        <p:spPr>
          <a:xfrm>
            <a:off x="6711696" y="4297680"/>
            <a:ext cx="1280160" cy="1097280"/>
          </a:xfrm>
          <a:prstGeom prst="rect">
            <a:avLst/>
          </a:prstGeom>
          <a:noFill/>
          <a:ln/>
        </p:spPr>
        <p:txBody>
          <a:bodyPr wrap="square" lIns="0" tIns="0" rIns="0" bIns="0" rtlCol="0" anchor="ctr"/>
          <a:lstStyle/>
          <a:p>
            <a:pPr marL="0" indent="0">
              <a:buNone/>
            </a:pPr>
            <a:r>
              <a:rPr lang="en-US" sz="2200" b="1" dirty="0">
                <a:solidFill>
                  <a:srgbClr val="E97132"/>
                </a:solidFill>
                <a:latin typeface="Times New Roman" pitchFamily="34" charset="0"/>
                <a:ea typeface="Times New Roman" pitchFamily="34" charset="-122"/>
                <a:cs typeface="Times New Roman" pitchFamily="34" charset="-120"/>
              </a:rPr>
              <a:t>5NF</a:t>
            </a:r>
            <a:endParaRPr lang="en-US" sz="2200" dirty="0"/>
          </a:p>
        </p:txBody>
      </p:sp>
      <p:sp>
        <p:nvSpPr>
          <p:cNvPr id="26" name="Text 24"/>
          <p:cNvSpPr/>
          <p:nvPr/>
        </p:nvSpPr>
        <p:spPr>
          <a:xfrm>
            <a:off x="8065008" y="4297680"/>
            <a:ext cx="3108960" cy="1097280"/>
          </a:xfrm>
          <a:prstGeom prst="rect">
            <a:avLst/>
          </a:prstGeom>
          <a:noFill/>
          <a:ln/>
        </p:spPr>
        <p:txBody>
          <a:bodyPr wrap="square" lIns="0" tIns="0" rIns="0" bIns="0" rtlCol="0" anchor="ctr"/>
          <a:lstStyle/>
          <a:p>
            <a:pPr marL="0" indent="0">
              <a:buNone/>
            </a:pPr>
            <a:r>
              <a:rPr lang="en-US" sz="1800" dirty="0">
                <a:solidFill>
                  <a:srgbClr val="2B2B2B"/>
                </a:solidFill>
                <a:latin typeface="Times New Roman" pitchFamily="34" charset="0"/>
                <a:ea typeface="Times New Roman" pitchFamily="34" charset="-122"/>
                <a:cs typeface="Times New Roman" pitchFamily="34" charset="-120"/>
              </a:rPr>
              <a:t>Triples implied by three pairs</a:t>
            </a:r>
            <a:endParaRPr lang="en-US" sz="1800" dirty="0"/>
          </a:p>
        </p:txBody>
      </p:sp>
      <p:sp>
        <p:nvSpPr>
          <p:cNvPr id="27" name="Shape 25"/>
          <p:cNvSpPr/>
          <p:nvPr/>
        </p:nvSpPr>
        <p:spPr>
          <a:xfrm>
            <a:off x="841248" y="5577840"/>
            <a:ext cx="10515600" cy="548640"/>
          </a:xfrm>
          <a:prstGeom prst="roundRect">
            <a:avLst>
              <a:gd name="adj" fmla="val 13333"/>
            </a:avLst>
          </a:prstGeom>
          <a:solidFill>
            <a:srgbClr val="E8EFF4"/>
          </a:solidFill>
          <a:ln w="12700">
            <a:solidFill>
              <a:srgbClr val="333333"/>
            </a:solidFill>
            <a:prstDash val="solid"/>
          </a:ln>
        </p:spPr>
      </p:sp>
      <p:sp>
        <p:nvSpPr>
          <p:cNvPr id="28" name="Text 26"/>
          <p:cNvSpPr/>
          <p:nvPr/>
        </p:nvSpPr>
        <p:spPr>
          <a:xfrm>
            <a:off x="841248" y="5577840"/>
            <a:ext cx="10515600" cy="548640"/>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Say the clue out loud before you split — the diagnosis is what gets graded</a:t>
            </a:r>
            <a:endParaRPr lang="en-US" sz="1800" dirty="0"/>
          </a:p>
        </p:txBody>
      </p:sp>
      <p:pic>
        <p:nvPicPr>
          <p:cNvPr id="30" name="Image 0" descr="s1_unpacked/ppt/media/image5.png">
            <a:extLst>
              <a:ext uri="{FF2B5EF4-FFF2-40B4-BE49-F238E27FC236}">
                <a16:creationId xmlns:a16="http://schemas.microsoft.com/office/drawing/2014/main" id="{D7811B6F-4855-2371-6DB7-4468C4F2F9B0}"/>
              </a:ext>
            </a:extLst>
          </p:cNvPr>
          <p:cNvPicPr>
            <a:picLocks noChangeAspect="1"/>
          </p:cNvPicPr>
          <p:nvPr/>
        </p:nvPicPr>
        <p:blipFill>
          <a:blip r:embed="rId3"/>
          <a:stretch>
            <a:fillRect/>
          </a:stretch>
        </p:blipFill>
        <p:spPr>
          <a:xfrm>
            <a:off x="9646920" y="256032"/>
            <a:ext cx="2240280" cy="320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1NF — Make Every Cell Atomic</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56082"/>
                </a:solidFill>
                <a:latin typeface="Times New Roman" pitchFamily="34" charset="0"/>
                <a:ea typeface="Times New Roman" pitchFamily="34" charset="-122"/>
                <a:cs typeface="Times New Roman" pitchFamily="34" charset="-120"/>
              </a:rPr>
              <a:t>Violation: one cell holds many values</a:t>
            </a:r>
            <a:endParaRPr lang="en-US" sz="2400" dirty="0"/>
          </a:p>
        </p:txBody>
      </p:sp>
      <p:sp>
        <p:nvSpPr>
          <p:cNvPr id="4" name="Text 2"/>
          <p:cNvSpPr/>
          <p:nvPr/>
        </p:nvSpPr>
        <p:spPr>
          <a:xfrm>
            <a:off x="841248" y="2240280"/>
            <a:ext cx="4937760" cy="411480"/>
          </a:xfrm>
          <a:prstGeom prst="rect">
            <a:avLst/>
          </a:prstGeom>
          <a:noFill/>
          <a:ln/>
        </p:spPr>
        <p:txBody>
          <a:bodyPr wrap="square" lIns="0" tIns="0" rIns="0" bIns="0" rtlCol="0" anchor="ctr"/>
          <a:lstStyle/>
          <a:p>
            <a:pPr marL="0" indent="0">
              <a:buNone/>
            </a:pPr>
            <a:r>
              <a:rPr lang="en-US" sz="2200" b="1" dirty="0">
                <a:solidFill>
                  <a:srgbClr val="C03030"/>
                </a:solidFill>
                <a:latin typeface="Times New Roman" pitchFamily="34" charset="0"/>
                <a:ea typeface="Times New Roman" pitchFamily="34" charset="-122"/>
                <a:cs typeface="Times New Roman" pitchFamily="34" charset="-120"/>
              </a:rPr>
              <a:t>Problem</a:t>
            </a:r>
            <a:endParaRPr lang="en-US" sz="2200" dirty="0"/>
          </a:p>
        </p:txBody>
      </p:sp>
      <p:sp>
        <p:nvSpPr>
          <p:cNvPr id="5" name="Text 3"/>
          <p:cNvSpPr/>
          <p:nvPr/>
        </p:nvSpPr>
        <p:spPr>
          <a:xfrm>
            <a:off x="6419088" y="2240280"/>
            <a:ext cx="4937760" cy="411480"/>
          </a:xfrm>
          <a:prstGeom prst="rect">
            <a:avLst/>
          </a:prstGeom>
          <a:noFill/>
          <a:ln/>
        </p:spPr>
        <p:txBody>
          <a:bodyPr wrap="square" lIns="0" tIns="0" rIns="0" bIns="0" rtlCol="0" anchor="ctr"/>
          <a:lstStyle/>
          <a:p>
            <a:pPr marL="0" indent="0">
              <a:buNone/>
            </a:pPr>
            <a:r>
              <a:rPr lang="en-US" sz="2200" b="1" dirty="0">
                <a:solidFill>
                  <a:srgbClr val="196B24"/>
                </a:solidFill>
                <a:latin typeface="Times New Roman" pitchFamily="34" charset="0"/>
                <a:ea typeface="Times New Roman" pitchFamily="34" charset="-122"/>
                <a:cs typeface="Times New Roman" pitchFamily="34" charset="-120"/>
              </a:rPr>
              <a:t>Decomposition</a:t>
            </a:r>
            <a:endParaRPr lang="en-US" sz="2200" dirty="0"/>
          </a:p>
        </p:txBody>
      </p:sp>
      <p:sp>
        <p:nvSpPr>
          <p:cNvPr id="6" name="Shape 4"/>
          <p:cNvSpPr/>
          <p:nvPr/>
        </p:nvSpPr>
        <p:spPr>
          <a:xfrm>
            <a:off x="841248" y="2697480"/>
            <a:ext cx="4937760" cy="2286000"/>
          </a:xfrm>
          <a:prstGeom prst="roundRect">
            <a:avLst>
              <a:gd name="adj" fmla="val 2400"/>
            </a:avLst>
          </a:prstGeom>
          <a:solidFill>
            <a:srgbClr val="1E3040"/>
          </a:solidFill>
          <a:ln w="12700">
            <a:solidFill>
              <a:srgbClr val="333333"/>
            </a:solidFill>
            <a:prstDash val="solid"/>
          </a:ln>
        </p:spPr>
      </p:sp>
      <p:sp>
        <p:nvSpPr>
          <p:cNvPr id="7" name="Text 5"/>
          <p:cNvSpPr/>
          <p:nvPr/>
        </p:nvSpPr>
        <p:spPr>
          <a:xfrm>
            <a:off x="1097280" y="2880360"/>
            <a:ext cx="4425696" cy="1920240"/>
          </a:xfrm>
          <a:prstGeom prst="rect">
            <a:avLst/>
          </a:prstGeom>
          <a:noFill/>
          <a:ln/>
        </p:spPr>
        <p:txBody>
          <a:bodyPr wrap="square" lIns="0" tIns="0" rIns="0" bIns="0" rtlCol="0" anchor="ctr"/>
          <a:lstStyle/>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ORDER (OrderID, Customer, Phones)</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101  Asha   9811, 9822</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102  Ravi   9899</a:t>
            </a:r>
            <a:endParaRPr lang="en-US" sz="1600" dirty="0"/>
          </a:p>
        </p:txBody>
      </p:sp>
      <p:sp>
        <p:nvSpPr>
          <p:cNvPr id="8" name="Shape 6"/>
          <p:cNvSpPr/>
          <p:nvPr/>
        </p:nvSpPr>
        <p:spPr>
          <a:xfrm>
            <a:off x="5925312" y="3703320"/>
            <a:ext cx="347472" cy="274320"/>
          </a:xfrm>
          <a:prstGeom prst="rightArrow">
            <a:avLst/>
          </a:prstGeom>
          <a:solidFill>
            <a:srgbClr val="5A6472"/>
          </a:solidFill>
          <a:ln w="12700">
            <a:solidFill>
              <a:srgbClr val="333333"/>
            </a:solidFill>
            <a:prstDash val="solid"/>
          </a:ln>
        </p:spPr>
      </p:sp>
      <p:sp>
        <p:nvSpPr>
          <p:cNvPr id="9" name="Shape 7"/>
          <p:cNvSpPr/>
          <p:nvPr/>
        </p:nvSpPr>
        <p:spPr>
          <a:xfrm>
            <a:off x="6419088" y="2697480"/>
            <a:ext cx="4937760" cy="2286000"/>
          </a:xfrm>
          <a:prstGeom prst="roundRect">
            <a:avLst>
              <a:gd name="adj" fmla="val 2400"/>
            </a:avLst>
          </a:prstGeom>
          <a:solidFill>
            <a:srgbClr val="1E3040"/>
          </a:solidFill>
          <a:ln w="12700">
            <a:solidFill>
              <a:srgbClr val="333333"/>
            </a:solidFill>
            <a:prstDash val="solid"/>
          </a:ln>
        </p:spPr>
      </p:sp>
      <p:sp>
        <p:nvSpPr>
          <p:cNvPr id="10" name="Text 8"/>
          <p:cNvSpPr/>
          <p:nvPr/>
        </p:nvSpPr>
        <p:spPr>
          <a:xfrm>
            <a:off x="6675120" y="2880360"/>
            <a:ext cx="4425696" cy="1920240"/>
          </a:xfrm>
          <a:prstGeom prst="rect">
            <a:avLst/>
          </a:prstGeom>
          <a:noFill/>
          <a:ln/>
        </p:spPr>
        <p:txBody>
          <a:bodyPr wrap="square" lIns="0" tIns="0" rIns="0" bIns="0" rtlCol="0" anchor="ctr"/>
          <a:lstStyle/>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ORDER (OrderID, Customer)</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ORDER_PHONE (OrderID, Phone)</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101  9811</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101  9822</a:t>
            </a:r>
            <a:endParaRPr lang="en-US" sz="1600" dirty="0"/>
          </a:p>
        </p:txBody>
      </p:sp>
      <p:sp>
        <p:nvSpPr>
          <p:cNvPr id="11" name="Shape 9"/>
          <p:cNvSpPr/>
          <p:nvPr/>
        </p:nvSpPr>
        <p:spPr>
          <a:xfrm>
            <a:off x="841248" y="5257800"/>
            <a:ext cx="10515600" cy="777240"/>
          </a:xfrm>
          <a:prstGeom prst="roundRect">
            <a:avLst>
              <a:gd name="adj" fmla="val 7059"/>
            </a:avLst>
          </a:prstGeom>
          <a:solidFill>
            <a:srgbClr val="F2F6FA"/>
          </a:solidFill>
          <a:ln w="12700">
            <a:solidFill>
              <a:srgbClr val="F2F6FA"/>
            </a:solidFill>
            <a:prstDash val="solid"/>
          </a:ln>
        </p:spPr>
      </p:sp>
      <p:sp>
        <p:nvSpPr>
          <p:cNvPr id="12" name="Shape 10"/>
          <p:cNvSpPr/>
          <p:nvPr/>
        </p:nvSpPr>
        <p:spPr>
          <a:xfrm>
            <a:off x="841248" y="5257800"/>
            <a:ext cx="91440" cy="777240"/>
          </a:xfrm>
          <a:prstGeom prst="rect">
            <a:avLst/>
          </a:prstGeom>
          <a:solidFill>
            <a:srgbClr val="156082"/>
          </a:solidFill>
          <a:ln w="12700">
            <a:solidFill>
              <a:srgbClr val="333333"/>
            </a:solidFill>
            <a:prstDash val="solid"/>
          </a:ln>
        </p:spPr>
      </p:sp>
      <p:sp>
        <p:nvSpPr>
          <p:cNvPr id="13" name="Text 11"/>
          <p:cNvSpPr/>
          <p:nvPr/>
        </p:nvSpPr>
        <p:spPr>
          <a:xfrm>
            <a:off x="1133856" y="5257800"/>
            <a:ext cx="9966960" cy="777240"/>
          </a:xfrm>
          <a:prstGeom prst="rect">
            <a:avLst/>
          </a:prstGeom>
          <a:noFill/>
          <a:ln/>
        </p:spPr>
        <p:txBody>
          <a:bodyPr wrap="square" lIns="0" tIns="0" rIns="0" bIns="0" rtlCol="0" anchor="ctr"/>
          <a:lstStyle/>
          <a:p>
            <a:pPr marL="0" indent="0">
              <a:buNone/>
            </a:pPr>
            <a:r>
              <a:rPr lang="en-US" sz="1900" dirty="0">
                <a:solidFill>
                  <a:srgbClr val="0E2841"/>
                </a:solidFill>
                <a:latin typeface="Times New Roman" pitchFamily="34" charset="0"/>
                <a:ea typeface="Times New Roman" pitchFamily="34" charset="-122"/>
                <a:cs typeface="Times New Roman" pitchFamily="34" charset="-120"/>
              </a:rPr>
              <a:t>One row, one fact. Order services flatten JSON payloads to atomic columns before the data reaches the database.</a:t>
            </a:r>
            <a:endParaRPr lang="en-US" sz="1900" dirty="0"/>
          </a:p>
        </p:txBody>
      </p:sp>
      <p:pic>
        <p:nvPicPr>
          <p:cNvPr id="15" name="Image 0" descr="s1_unpacked/ppt/media/image5.png">
            <a:extLst>
              <a:ext uri="{FF2B5EF4-FFF2-40B4-BE49-F238E27FC236}">
                <a16:creationId xmlns:a16="http://schemas.microsoft.com/office/drawing/2014/main" id="{2C397F7A-5632-3FBA-F895-5E29E71B9519}"/>
              </a:ext>
            </a:extLst>
          </p:cNvPr>
          <p:cNvPicPr>
            <a:picLocks noChangeAspect="1"/>
          </p:cNvPicPr>
          <p:nvPr/>
        </p:nvPicPr>
        <p:blipFill>
          <a:blip r:embed="rId3"/>
          <a:stretch>
            <a:fillRect/>
          </a:stretch>
        </p:blipFill>
        <p:spPr>
          <a:xfrm>
            <a:off x="9646920" y="256032"/>
            <a:ext cx="2240280" cy="3200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2NF — Remove Partial Dependencies</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E97132"/>
                </a:solidFill>
                <a:latin typeface="Times New Roman" pitchFamily="34" charset="0"/>
                <a:ea typeface="Times New Roman" pitchFamily="34" charset="-122"/>
                <a:cs typeface="Times New Roman" pitchFamily="34" charset="-120"/>
              </a:rPr>
              <a:t>Violation: part of the key decides a non-key</a:t>
            </a:r>
            <a:endParaRPr lang="en-US" sz="2400" dirty="0"/>
          </a:p>
        </p:txBody>
      </p:sp>
      <p:sp>
        <p:nvSpPr>
          <p:cNvPr id="4" name="Text 2"/>
          <p:cNvSpPr/>
          <p:nvPr/>
        </p:nvSpPr>
        <p:spPr>
          <a:xfrm>
            <a:off x="841248" y="2240280"/>
            <a:ext cx="4937760" cy="411480"/>
          </a:xfrm>
          <a:prstGeom prst="rect">
            <a:avLst/>
          </a:prstGeom>
          <a:noFill/>
          <a:ln/>
        </p:spPr>
        <p:txBody>
          <a:bodyPr wrap="square" lIns="0" tIns="0" rIns="0" bIns="0" rtlCol="0" anchor="ctr"/>
          <a:lstStyle/>
          <a:p>
            <a:pPr marL="0" indent="0">
              <a:buNone/>
            </a:pPr>
            <a:r>
              <a:rPr lang="en-US" sz="2200" b="1" dirty="0">
                <a:solidFill>
                  <a:srgbClr val="C03030"/>
                </a:solidFill>
                <a:latin typeface="Times New Roman" pitchFamily="34" charset="0"/>
                <a:ea typeface="Times New Roman" pitchFamily="34" charset="-122"/>
                <a:cs typeface="Times New Roman" pitchFamily="34" charset="-120"/>
              </a:rPr>
              <a:t>Problem</a:t>
            </a:r>
            <a:endParaRPr lang="en-US" sz="2200" dirty="0"/>
          </a:p>
        </p:txBody>
      </p:sp>
      <p:sp>
        <p:nvSpPr>
          <p:cNvPr id="5" name="Text 3"/>
          <p:cNvSpPr/>
          <p:nvPr/>
        </p:nvSpPr>
        <p:spPr>
          <a:xfrm>
            <a:off x="6419088" y="2240280"/>
            <a:ext cx="4937760" cy="411480"/>
          </a:xfrm>
          <a:prstGeom prst="rect">
            <a:avLst/>
          </a:prstGeom>
          <a:noFill/>
          <a:ln/>
        </p:spPr>
        <p:txBody>
          <a:bodyPr wrap="square" lIns="0" tIns="0" rIns="0" bIns="0" rtlCol="0" anchor="ctr"/>
          <a:lstStyle/>
          <a:p>
            <a:pPr marL="0" indent="0">
              <a:buNone/>
            </a:pPr>
            <a:r>
              <a:rPr lang="en-US" sz="2200" b="1" dirty="0">
                <a:solidFill>
                  <a:srgbClr val="196B24"/>
                </a:solidFill>
                <a:latin typeface="Times New Roman" pitchFamily="34" charset="0"/>
                <a:ea typeface="Times New Roman" pitchFamily="34" charset="-122"/>
                <a:cs typeface="Times New Roman" pitchFamily="34" charset="-120"/>
              </a:rPr>
              <a:t>Decomposition</a:t>
            </a:r>
            <a:endParaRPr lang="en-US" sz="2200" dirty="0"/>
          </a:p>
        </p:txBody>
      </p:sp>
      <p:sp>
        <p:nvSpPr>
          <p:cNvPr id="6" name="Shape 4"/>
          <p:cNvSpPr/>
          <p:nvPr/>
        </p:nvSpPr>
        <p:spPr>
          <a:xfrm>
            <a:off x="841248" y="2697480"/>
            <a:ext cx="4937760" cy="2286000"/>
          </a:xfrm>
          <a:prstGeom prst="roundRect">
            <a:avLst>
              <a:gd name="adj" fmla="val 2400"/>
            </a:avLst>
          </a:prstGeom>
          <a:solidFill>
            <a:srgbClr val="1E3040"/>
          </a:solidFill>
          <a:ln w="12700">
            <a:solidFill>
              <a:srgbClr val="333333"/>
            </a:solidFill>
            <a:prstDash val="solid"/>
          </a:ln>
        </p:spPr>
      </p:sp>
      <p:sp>
        <p:nvSpPr>
          <p:cNvPr id="7" name="Text 5"/>
          <p:cNvSpPr/>
          <p:nvPr/>
        </p:nvSpPr>
        <p:spPr>
          <a:xfrm>
            <a:off x="1097280" y="2880360"/>
            <a:ext cx="4425696" cy="1920240"/>
          </a:xfrm>
          <a:prstGeom prst="rect">
            <a:avLst/>
          </a:prstGeom>
          <a:noFill/>
          <a:ln/>
        </p:spPr>
        <p:txBody>
          <a:bodyPr wrap="square" lIns="0" tIns="0" rIns="0" bIns="0" rtlCol="0" anchor="ctr"/>
          <a:lstStyle/>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ENROLLMENT (StudentID, CourseID,</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StudentName, CourseName, Grade)</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StudentID -&gt; StudentName</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CourseID  -&gt; CourseName</a:t>
            </a:r>
            <a:endParaRPr lang="en-US" sz="1600" dirty="0"/>
          </a:p>
        </p:txBody>
      </p:sp>
      <p:sp>
        <p:nvSpPr>
          <p:cNvPr id="8" name="Shape 6"/>
          <p:cNvSpPr/>
          <p:nvPr/>
        </p:nvSpPr>
        <p:spPr>
          <a:xfrm>
            <a:off x="5925312" y="3703320"/>
            <a:ext cx="347472" cy="274320"/>
          </a:xfrm>
          <a:prstGeom prst="rightArrow">
            <a:avLst/>
          </a:prstGeom>
          <a:solidFill>
            <a:srgbClr val="5A6472"/>
          </a:solidFill>
          <a:ln w="12700">
            <a:solidFill>
              <a:srgbClr val="333333"/>
            </a:solidFill>
            <a:prstDash val="solid"/>
          </a:ln>
        </p:spPr>
      </p:sp>
      <p:sp>
        <p:nvSpPr>
          <p:cNvPr id="9" name="Shape 7"/>
          <p:cNvSpPr/>
          <p:nvPr/>
        </p:nvSpPr>
        <p:spPr>
          <a:xfrm>
            <a:off x="6419088" y="2697480"/>
            <a:ext cx="4937760" cy="2286000"/>
          </a:xfrm>
          <a:prstGeom prst="roundRect">
            <a:avLst>
              <a:gd name="adj" fmla="val 2400"/>
            </a:avLst>
          </a:prstGeom>
          <a:solidFill>
            <a:srgbClr val="1E3040"/>
          </a:solidFill>
          <a:ln w="12700">
            <a:solidFill>
              <a:srgbClr val="333333"/>
            </a:solidFill>
            <a:prstDash val="solid"/>
          </a:ln>
        </p:spPr>
      </p:sp>
      <p:sp>
        <p:nvSpPr>
          <p:cNvPr id="10" name="Text 8"/>
          <p:cNvSpPr/>
          <p:nvPr/>
        </p:nvSpPr>
        <p:spPr>
          <a:xfrm>
            <a:off x="6675120" y="2880360"/>
            <a:ext cx="4425696" cy="1920240"/>
          </a:xfrm>
          <a:prstGeom prst="rect">
            <a:avLst/>
          </a:prstGeom>
          <a:noFill/>
          <a:ln/>
        </p:spPr>
        <p:txBody>
          <a:bodyPr wrap="square" lIns="0" tIns="0" rIns="0" bIns="0" rtlCol="0" anchor="ctr"/>
          <a:lstStyle/>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STUDENT (StudentID, StudentName)</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COURSE (CourseID, CourseName)</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ENROLLMENT (StudentID, CourseID,</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Grade)</a:t>
            </a:r>
            <a:endParaRPr lang="en-US" sz="1600" dirty="0"/>
          </a:p>
        </p:txBody>
      </p:sp>
      <p:sp>
        <p:nvSpPr>
          <p:cNvPr id="11" name="Shape 9"/>
          <p:cNvSpPr/>
          <p:nvPr/>
        </p:nvSpPr>
        <p:spPr>
          <a:xfrm>
            <a:off x="841248" y="5257800"/>
            <a:ext cx="10515600" cy="777240"/>
          </a:xfrm>
          <a:prstGeom prst="roundRect">
            <a:avLst>
              <a:gd name="adj" fmla="val 7059"/>
            </a:avLst>
          </a:prstGeom>
          <a:solidFill>
            <a:srgbClr val="F2F6FA"/>
          </a:solidFill>
          <a:ln w="12700">
            <a:solidFill>
              <a:srgbClr val="F2F6FA"/>
            </a:solidFill>
            <a:prstDash val="solid"/>
          </a:ln>
        </p:spPr>
      </p:sp>
      <p:sp>
        <p:nvSpPr>
          <p:cNvPr id="12" name="Shape 10"/>
          <p:cNvSpPr/>
          <p:nvPr/>
        </p:nvSpPr>
        <p:spPr>
          <a:xfrm>
            <a:off x="841248" y="5257800"/>
            <a:ext cx="91440" cy="777240"/>
          </a:xfrm>
          <a:prstGeom prst="rect">
            <a:avLst/>
          </a:prstGeom>
          <a:solidFill>
            <a:srgbClr val="E97132"/>
          </a:solidFill>
          <a:ln w="12700">
            <a:solidFill>
              <a:srgbClr val="333333"/>
            </a:solidFill>
            <a:prstDash val="solid"/>
          </a:ln>
        </p:spPr>
      </p:sp>
      <p:sp>
        <p:nvSpPr>
          <p:cNvPr id="13" name="Text 11"/>
          <p:cNvSpPr/>
          <p:nvPr/>
        </p:nvSpPr>
        <p:spPr>
          <a:xfrm>
            <a:off x="1133856" y="5257800"/>
            <a:ext cx="9966960" cy="777240"/>
          </a:xfrm>
          <a:prstGeom prst="rect">
            <a:avLst/>
          </a:prstGeom>
          <a:noFill/>
          <a:ln/>
        </p:spPr>
        <p:txBody>
          <a:bodyPr wrap="square" lIns="0" tIns="0" rIns="0" bIns="0" rtlCol="0" anchor="ctr"/>
          <a:lstStyle/>
          <a:p>
            <a:pPr marL="0" indent="0">
              <a:buNone/>
            </a:pPr>
            <a:r>
              <a:rPr lang="en-US" sz="1900" dirty="0">
                <a:solidFill>
                  <a:srgbClr val="0E2841"/>
                </a:solidFill>
                <a:latin typeface="Times New Roman" pitchFamily="34" charset="0"/>
                <a:ea typeface="Times New Roman" pitchFamily="34" charset="-122"/>
                <a:cs typeface="Times New Roman" pitchFamily="34" charset="-120"/>
              </a:rPr>
              <a:t>Grade needs the whole key, so it stays. University ERPs store students, courses and enrolments in exactly these three tables.</a:t>
            </a:r>
            <a:endParaRPr lang="en-US" sz="1900" dirty="0"/>
          </a:p>
        </p:txBody>
      </p:sp>
      <p:pic>
        <p:nvPicPr>
          <p:cNvPr id="15" name="Image 0" descr="s1_unpacked/ppt/media/image5.png">
            <a:extLst>
              <a:ext uri="{FF2B5EF4-FFF2-40B4-BE49-F238E27FC236}">
                <a16:creationId xmlns:a16="http://schemas.microsoft.com/office/drawing/2014/main" id="{8E9E9C49-DF95-0977-79EE-B8305916420F}"/>
              </a:ext>
            </a:extLst>
          </p:cNvPr>
          <p:cNvPicPr>
            <a:picLocks noChangeAspect="1"/>
          </p:cNvPicPr>
          <p:nvPr/>
        </p:nvPicPr>
        <p:blipFill>
          <a:blip r:embed="rId3"/>
          <a:stretch>
            <a:fillRect/>
          </a:stretch>
        </p:blipFill>
        <p:spPr>
          <a:xfrm>
            <a:off x="9646920" y="256032"/>
            <a:ext cx="2240280" cy="3200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3NF — Break the Transitive Chain</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96B24"/>
                </a:solidFill>
                <a:latin typeface="Times New Roman" pitchFamily="34" charset="0"/>
                <a:ea typeface="Times New Roman" pitchFamily="34" charset="-122"/>
                <a:cs typeface="Times New Roman" pitchFamily="34" charset="-120"/>
              </a:rPr>
              <a:t>Violation: a non-key decides another non-key</a:t>
            </a:r>
            <a:endParaRPr lang="en-US" sz="2400" dirty="0"/>
          </a:p>
        </p:txBody>
      </p:sp>
      <p:sp>
        <p:nvSpPr>
          <p:cNvPr id="4" name="Text 2"/>
          <p:cNvSpPr/>
          <p:nvPr/>
        </p:nvSpPr>
        <p:spPr>
          <a:xfrm>
            <a:off x="841248" y="2240280"/>
            <a:ext cx="4937760" cy="411480"/>
          </a:xfrm>
          <a:prstGeom prst="rect">
            <a:avLst/>
          </a:prstGeom>
          <a:noFill/>
          <a:ln/>
        </p:spPr>
        <p:txBody>
          <a:bodyPr wrap="square" lIns="0" tIns="0" rIns="0" bIns="0" rtlCol="0" anchor="ctr"/>
          <a:lstStyle/>
          <a:p>
            <a:pPr marL="0" indent="0">
              <a:buNone/>
            </a:pPr>
            <a:r>
              <a:rPr lang="en-US" sz="2200" b="1" dirty="0">
                <a:solidFill>
                  <a:srgbClr val="C03030"/>
                </a:solidFill>
                <a:latin typeface="Times New Roman" pitchFamily="34" charset="0"/>
                <a:ea typeface="Times New Roman" pitchFamily="34" charset="-122"/>
                <a:cs typeface="Times New Roman" pitchFamily="34" charset="-120"/>
              </a:rPr>
              <a:t>Problem</a:t>
            </a:r>
            <a:endParaRPr lang="en-US" sz="2200" dirty="0"/>
          </a:p>
        </p:txBody>
      </p:sp>
      <p:sp>
        <p:nvSpPr>
          <p:cNvPr id="5" name="Text 3"/>
          <p:cNvSpPr/>
          <p:nvPr/>
        </p:nvSpPr>
        <p:spPr>
          <a:xfrm>
            <a:off x="6419088" y="2240280"/>
            <a:ext cx="4937760" cy="411480"/>
          </a:xfrm>
          <a:prstGeom prst="rect">
            <a:avLst/>
          </a:prstGeom>
          <a:noFill/>
          <a:ln/>
        </p:spPr>
        <p:txBody>
          <a:bodyPr wrap="square" lIns="0" tIns="0" rIns="0" bIns="0" rtlCol="0" anchor="ctr"/>
          <a:lstStyle/>
          <a:p>
            <a:pPr marL="0" indent="0">
              <a:buNone/>
            </a:pPr>
            <a:r>
              <a:rPr lang="en-US" sz="2200" b="1" dirty="0">
                <a:solidFill>
                  <a:srgbClr val="196B24"/>
                </a:solidFill>
                <a:latin typeface="Times New Roman" pitchFamily="34" charset="0"/>
                <a:ea typeface="Times New Roman" pitchFamily="34" charset="-122"/>
                <a:cs typeface="Times New Roman" pitchFamily="34" charset="-120"/>
              </a:rPr>
              <a:t>Decomposition</a:t>
            </a:r>
            <a:endParaRPr lang="en-US" sz="2200" dirty="0"/>
          </a:p>
        </p:txBody>
      </p:sp>
      <p:sp>
        <p:nvSpPr>
          <p:cNvPr id="6" name="Shape 4"/>
          <p:cNvSpPr/>
          <p:nvPr/>
        </p:nvSpPr>
        <p:spPr>
          <a:xfrm>
            <a:off x="841248" y="2697480"/>
            <a:ext cx="4937760" cy="2286000"/>
          </a:xfrm>
          <a:prstGeom prst="roundRect">
            <a:avLst>
              <a:gd name="adj" fmla="val 2400"/>
            </a:avLst>
          </a:prstGeom>
          <a:solidFill>
            <a:srgbClr val="1E3040"/>
          </a:solidFill>
          <a:ln w="12700">
            <a:solidFill>
              <a:srgbClr val="333333"/>
            </a:solidFill>
            <a:prstDash val="solid"/>
          </a:ln>
        </p:spPr>
      </p:sp>
      <p:sp>
        <p:nvSpPr>
          <p:cNvPr id="7" name="Text 5"/>
          <p:cNvSpPr/>
          <p:nvPr/>
        </p:nvSpPr>
        <p:spPr>
          <a:xfrm>
            <a:off x="1097280" y="2880360"/>
            <a:ext cx="4425696" cy="1920240"/>
          </a:xfrm>
          <a:prstGeom prst="rect">
            <a:avLst/>
          </a:prstGeom>
          <a:noFill/>
          <a:ln/>
        </p:spPr>
        <p:txBody>
          <a:bodyPr wrap="square" lIns="0" tIns="0" rIns="0" bIns="0" rtlCol="0" anchor="ctr"/>
          <a:lstStyle/>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EMPLOYEE (EmpID, EmpName,</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DeptID, DeptName, DeptPhone)</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EmpID  -&gt; DeptID</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DeptID -&gt; DeptName, DeptPhone</a:t>
            </a:r>
            <a:endParaRPr lang="en-US" sz="1600" dirty="0"/>
          </a:p>
        </p:txBody>
      </p:sp>
      <p:sp>
        <p:nvSpPr>
          <p:cNvPr id="8" name="Shape 6"/>
          <p:cNvSpPr/>
          <p:nvPr/>
        </p:nvSpPr>
        <p:spPr>
          <a:xfrm>
            <a:off x="5925312" y="3703320"/>
            <a:ext cx="347472" cy="274320"/>
          </a:xfrm>
          <a:prstGeom prst="rightArrow">
            <a:avLst/>
          </a:prstGeom>
          <a:solidFill>
            <a:srgbClr val="5A6472"/>
          </a:solidFill>
          <a:ln w="12700">
            <a:solidFill>
              <a:srgbClr val="333333"/>
            </a:solidFill>
            <a:prstDash val="solid"/>
          </a:ln>
        </p:spPr>
      </p:sp>
      <p:sp>
        <p:nvSpPr>
          <p:cNvPr id="9" name="Shape 7"/>
          <p:cNvSpPr/>
          <p:nvPr/>
        </p:nvSpPr>
        <p:spPr>
          <a:xfrm>
            <a:off x="6419088" y="2697480"/>
            <a:ext cx="4937760" cy="2286000"/>
          </a:xfrm>
          <a:prstGeom prst="roundRect">
            <a:avLst>
              <a:gd name="adj" fmla="val 2400"/>
            </a:avLst>
          </a:prstGeom>
          <a:solidFill>
            <a:srgbClr val="1E3040"/>
          </a:solidFill>
          <a:ln w="12700">
            <a:solidFill>
              <a:srgbClr val="333333"/>
            </a:solidFill>
            <a:prstDash val="solid"/>
          </a:ln>
        </p:spPr>
      </p:sp>
      <p:sp>
        <p:nvSpPr>
          <p:cNvPr id="10" name="Text 8"/>
          <p:cNvSpPr/>
          <p:nvPr/>
        </p:nvSpPr>
        <p:spPr>
          <a:xfrm>
            <a:off x="6675120" y="2880360"/>
            <a:ext cx="4425696" cy="1920240"/>
          </a:xfrm>
          <a:prstGeom prst="rect">
            <a:avLst/>
          </a:prstGeom>
          <a:noFill/>
          <a:ln/>
        </p:spPr>
        <p:txBody>
          <a:bodyPr wrap="square" lIns="0" tIns="0" rIns="0" bIns="0" rtlCol="0" anchor="ctr"/>
          <a:lstStyle/>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EMPLOYEE (EmpID, EmpName, DeptID)</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DEPARTMENT (DeptID, DeptName,</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DeptPhone)</a:t>
            </a:r>
            <a:endParaRPr lang="en-US" sz="1600" dirty="0"/>
          </a:p>
        </p:txBody>
      </p:sp>
      <p:sp>
        <p:nvSpPr>
          <p:cNvPr id="11" name="Shape 9"/>
          <p:cNvSpPr/>
          <p:nvPr/>
        </p:nvSpPr>
        <p:spPr>
          <a:xfrm>
            <a:off x="841248" y="5257800"/>
            <a:ext cx="10515600" cy="777240"/>
          </a:xfrm>
          <a:prstGeom prst="roundRect">
            <a:avLst>
              <a:gd name="adj" fmla="val 7059"/>
            </a:avLst>
          </a:prstGeom>
          <a:solidFill>
            <a:srgbClr val="F2F6FA"/>
          </a:solidFill>
          <a:ln w="12700">
            <a:solidFill>
              <a:srgbClr val="F2F6FA"/>
            </a:solidFill>
            <a:prstDash val="solid"/>
          </a:ln>
        </p:spPr>
      </p:sp>
      <p:sp>
        <p:nvSpPr>
          <p:cNvPr id="12" name="Shape 10"/>
          <p:cNvSpPr/>
          <p:nvPr/>
        </p:nvSpPr>
        <p:spPr>
          <a:xfrm>
            <a:off x="841248" y="5257800"/>
            <a:ext cx="91440" cy="777240"/>
          </a:xfrm>
          <a:prstGeom prst="rect">
            <a:avLst/>
          </a:prstGeom>
          <a:solidFill>
            <a:srgbClr val="196B24"/>
          </a:solidFill>
          <a:ln w="12700">
            <a:solidFill>
              <a:srgbClr val="333333"/>
            </a:solidFill>
            <a:prstDash val="solid"/>
          </a:ln>
        </p:spPr>
      </p:sp>
      <p:sp>
        <p:nvSpPr>
          <p:cNvPr id="13" name="Text 11"/>
          <p:cNvSpPr/>
          <p:nvPr/>
        </p:nvSpPr>
        <p:spPr>
          <a:xfrm>
            <a:off x="1133856" y="5257800"/>
            <a:ext cx="9966960" cy="777240"/>
          </a:xfrm>
          <a:prstGeom prst="rect">
            <a:avLst/>
          </a:prstGeom>
          <a:noFill/>
          <a:ln/>
        </p:spPr>
        <p:txBody>
          <a:bodyPr wrap="square" lIns="0" tIns="0" rIns="0" bIns="0" rtlCol="0" anchor="ctr"/>
          <a:lstStyle/>
          <a:p>
            <a:pPr marL="0" indent="0">
              <a:buNone/>
            </a:pPr>
            <a:r>
              <a:rPr lang="en-US" sz="1900" dirty="0">
                <a:solidFill>
                  <a:srgbClr val="0E2841"/>
                </a:solidFill>
                <a:latin typeface="Times New Roman" pitchFamily="34" charset="0"/>
                <a:ea typeface="Times New Roman" pitchFamily="34" charset="-122"/>
                <a:cs typeface="Times New Roman" pitchFamily="34" charset="-120"/>
              </a:rPr>
              <a:t>EmpID reaches DeptName only through DeptID. Change a department phone once and every employee record stays correct.</a:t>
            </a:r>
            <a:endParaRPr lang="en-US" sz="1900" dirty="0"/>
          </a:p>
        </p:txBody>
      </p:sp>
      <p:pic>
        <p:nvPicPr>
          <p:cNvPr id="15" name="Image 0" descr="s1_unpacked/ppt/media/image5.png">
            <a:extLst>
              <a:ext uri="{FF2B5EF4-FFF2-40B4-BE49-F238E27FC236}">
                <a16:creationId xmlns:a16="http://schemas.microsoft.com/office/drawing/2014/main" id="{F483D5B0-D79F-28E1-4D8B-4437F4FFF846}"/>
              </a:ext>
            </a:extLst>
          </p:cNvPr>
          <p:cNvPicPr>
            <a:picLocks noChangeAspect="1"/>
          </p:cNvPicPr>
          <p:nvPr/>
        </p:nvPicPr>
        <p:blipFill>
          <a:blip r:embed="rId3"/>
          <a:stretch>
            <a:fillRect/>
          </a:stretch>
        </p:blipFill>
        <p:spPr>
          <a:xfrm>
            <a:off x="9646920" y="256032"/>
            <a:ext cx="2240280" cy="3200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BCNF — Every Determinant a Key</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A02B93"/>
                </a:solidFill>
                <a:latin typeface="Times New Roman" pitchFamily="34" charset="0"/>
                <a:ea typeface="Times New Roman" pitchFamily="34" charset="-122"/>
                <a:cs typeface="Times New Roman" pitchFamily="34" charset="-120"/>
              </a:rPr>
              <a:t>Violation: a determinant that is not a superkey</a:t>
            </a:r>
            <a:endParaRPr lang="en-US" sz="2400" dirty="0"/>
          </a:p>
        </p:txBody>
      </p:sp>
      <p:sp>
        <p:nvSpPr>
          <p:cNvPr id="4" name="Text 2"/>
          <p:cNvSpPr/>
          <p:nvPr/>
        </p:nvSpPr>
        <p:spPr>
          <a:xfrm>
            <a:off x="841248" y="2240280"/>
            <a:ext cx="4937760" cy="411480"/>
          </a:xfrm>
          <a:prstGeom prst="rect">
            <a:avLst/>
          </a:prstGeom>
          <a:noFill/>
          <a:ln/>
        </p:spPr>
        <p:txBody>
          <a:bodyPr wrap="square" lIns="0" tIns="0" rIns="0" bIns="0" rtlCol="0" anchor="ctr"/>
          <a:lstStyle/>
          <a:p>
            <a:pPr marL="0" indent="0">
              <a:buNone/>
            </a:pPr>
            <a:r>
              <a:rPr lang="en-US" sz="2200" b="1" dirty="0">
                <a:solidFill>
                  <a:srgbClr val="C03030"/>
                </a:solidFill>
                <a:latin typeface="Times New Roman" pitchFamily="34" charset="0"/>
                <a:ea typeface="Times New Roman" pitchFamily="34" charset="-122"/>
                <a:cs typeface="Times New Roman" pitchFamily="34" charset="-120"/>
              </a:rPr>
              <a:t>Problem</a:t>
            </a:r>
            <a:endParaRPr lang="en-US" sz="2200" dirty="0"/>
          </a:p>
        </p:txBody>
      </p:sp>
      <p:sp>
        <p:nvSpPr>
          <p:cNvPr id="5" name="Text 3"/>
          <p:cNvSpPr/>
          <p:nvPr/>
        </p:nvSpPr>
        <p:spPr>
          <a:xfrm>
            <a:off x="6419088" y="2240280"/>
            <a:ext cx="4937760" cy="411480"/>
          </a:xfrm>
          <a:prstGeom prst="rect">
            <a:avLst/>
          </a:prstGeom>
          <a:noFill/>
          <a:ln/>
        </p:spPr>
        <p:txBody>
          <a:bodyPr wrap="square" lIns="0" tIns="0" rIns="0" bIns="0" rtlCol="0" anchor="ctr"/>
          <a:lstStyle/>
          <a:p>
            <a:pPr marL="0" indent="0">
              <a:buNone/>
            </a:pPr>
            <a:r>
              <a:rPr lang="en-US" sz="2200" b="1" dirty="0">
                <a:solidFill>
                  <a:srgbClr val="196B24"/>
                </a:solidFill>
                <a:latin typeface="Times New Roman" pitchFamily="34" charset="0"/>
                <a:ea typeface="Times New Roman" pitchFamily="34" charset="-122"/>
                <a:cs typeface="Times New Roman" pitchFamily="34" charset="-120"/>
              </a:rPr>
              <a:t>Decomposition</a:t>
            </a:r>
            <a:endParaRPr lang="en-US" sz="2200" dirty="0"/>
          </a:p>
        </p:txBody>
      </p:sp>
      <p:sp>
        <p:nvSpPr>
          <p:cNvPr id="6" name="Shape 4"/>
          <p:cNvSpPr/>
          <p:nvPr/>
        </p:nvSpPr>
        <p:spPr>
          <a:xfrm>
            <a:off x="841248" y="2697480"/>
            <a:ext cx="4937760" cy="2286000"/>
          </a:xfrm>
          <a:prstGeom prst="roundRect">
            <a:avLst>
              <a:gd name="adj" fmla="val 2400"/>
            </a:avLst>
          </a:prstGeom>
          <a:solidFill>
            <a:srgbClr val="1E3040"/>
          </a:solidFill>
          <a:ln w="12700">
            <a:solidFill>
              <a:srgbClr val="333333"/>
            </a:solidFill>
            <a:prstDash val="solid"/>
          </a:ln>
        </p:spPr>
      </p:sp>
      <p:sp>
        <p:nvSpPr>
          <p:cNvPr id="7" name="Text 5"/>
          <p:cNvSpPr/>
          <p:nvPr/>
        </p:nvSpPr>
        <p:spPr>
          <a:xfrm>
            <a:off x="1097280" y="2880360"/>
            <a:ext cx="4425696" cy="1920240"/>
          </a:xfrm>
          <a:prstGeom prst="rect">
            <a:avLst/>
          </a:prstGeom>
          <a:noFill/>
          <a:ln/>
        </p:spPr>
        <p:txBody>
          <a:bodyPr wrap="square" lIns="0" tIns="0" rIns="0" bIns="0" rtlCol="0" anchor="ctr"/>
          <a:lstStyle/>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ADVISING (Student, Major, Advisor)</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(Student, Major) -&gt; Advisor</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Advisor -&gt; Major</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Advisor is NOT a superkey</a:t>
            </a:r>
            <a:endParaRPr lang="en-US" sz="1600" dirty="0"/>
          </a:p>
        </p:txBody>
      </p:sp>
      <p:sp>
        <p:nvSpPr>
          <p:cNvPr id="8" name="Shape 6"/>
          <p:cNvSpPr/>
          <p:nvPr/>
        </p:nvSpPr>
        <p:spPr>
          <a:xfrm>
            <a:off x="5925312" y="3703320"/>
            <a:ext cx="347472" cy="274320"/>
          </a:xfrm>
          <a:prstGeom prst="rightArrow">
            <a:avLst/>
          </a:prstGeom>
          <a:solidFill>
            <a:srgbClr val="5A6472"/>
          </a:solidFill>
          <a:ln w="12700">
            <a:solidFill>
              <a:srgbClr val="333333"/>
            </a:solidFill>
            <a:prstDash val="solid"/>
          </a:ln>
        </p:spPr>
      </p:sp>
      <p:sp>
        <p:nvSpPr>
          <p:cNvPr id="9" name="Shape 7"/>
          <p:cNvSpPr/>
          <p:nvPr/>
        </p:nvSpPr>
        <p:spPr>
          <a:xfrm>
            <a:off x="6419088" y="2697480"/>
            <a:ext cx="4937760" cy="2286000"/>
          </a:xfrm>
          <a:prstGeom prst="roundRect">
            <a:avLst>
              <a:gd name="adj" fmla="val 2400"/>
            </a:avLst>
          </a:prstGeom>
          <a:solidFill>
            <a:srgbClr val="1E3040"/>
          </a:solidFill>
          <a:ln w="12700">
            <a:solidFill>
              <a:srgbClr val="333333"/>
            </a:solidFill>
            <a:prstDash val="solid"/>
          </a:ln>
        </p:spPr>
      </p:sp>
      <p:sp>
        <p:nvSpPr>
          <p:cNvPr id="10" name="Text 8"/>
          <p:cNvSpPr/>
          <p:nvPr/>
        </p:nvSpPr>
        <p:spPr>
          <a:xfrm>
            <a:off x="6675120" y="2880360"/>
            <a:ext cx="4425696" cy="1920240"/>
          </a:xfrm>
          <a:prstGeom prst="rect">
            <a:avLst/>
          </a:prstGeom>
          <a:noFill/>
          <a:ln/>
        </p:spPr>
        <p:txBody>
          <a:bodyPr wrap="square" lIns="0" tIns="0" rIns="0" bIns="0" rtlCol="0" anchor="ctr"/>
          <a:lstStyle/>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ADVISOR_MAJOR (Advisor, Major)</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STUDENT_ADVISOR (Student,</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Advisor)</a:t>
            </a:r>
            <a:endParaRPr lang="en-US" sz="1600" dirty="0"/>
          </a:p>
        </p:txBody>
      </p:sp>
      <p:sp>
        <p:nvSpPr>
          <p:cNvPr id="11" name="Shape 9"/>
          <p:cNvSpPr/>
          <p:nvPr/>
        </p:nvSpPr>
        <p:spPr>
          <a:xfrm>
            <a:off x="841248" y="5257800"/>
            <a:ext cx="10515600" cy="777240"/>
          </a:xfrm>
          <a:prstGeom prst="roundRect">
            <a:avLst>
              <a:gd name="adj" fmla="val 7059"/>
            </a:avLst>
          </a:prstGeom>
          <a:solidFill>
            <a:srgbClr val="F2F6FA"/>
          </a:solidFill>
          <a:ln w="12700">
            <a:solidFill>
              <a:srgbClr val="F2F6FA"/>
            </a:solidFill>
            <a:prstDash val="solid"/>
          </a:ln>
        </p:spPr>
      </p:sp>
      <p:sp>
        <p:nvSpPr>
          <p:cNvPr id="12" name="Shape 10"/>
          <p:cNvSpPr/>
          <p:nvPr/>
        </p:nvSpPr>
        <p:spPr>
          <a:xfrm>
            <a:off x="841248" y="5257800"/>
            <a:ext cx="91440" cy="777240"/>
          </a:xfrm>
          <a:prstGeom prst="rect">
            <a:avLst/>
          </a:prstGeom>
          <a:solidFill>
            <a:srgbClr val="A02B93"/>
          </a:solidFill>
          <a:ln w="12700">
            <a:solidFill>
              <a:srgbClr val="333333"/>
            </a:solidFill>
            <a:prstDash val="solid"/>
          </a:ln>
        </p:spPr>
      </p:sp>
      <p:sp>
        <p:nvSpPr>
          <p:cNvPr id="13" name="Text 11"/>
          <p:cNvSpPr/>
          <p:nvPr/>
        </p:nvSpPr>
        <p:spPr>
          <a:xfrm>
            <a:off x="1133856" y="5257800"/>
            <a:ext cx="9966960" cy="777240"/>
          </a:xfrm>
          <a:prstGeom prst="rect">
            <a:avLst/>
          </a:prstGeom>
          <a:noFill/>
          <a:ln/>
        </p:spPr>
        <p:txBody>
          <a:bodyPr wrap="square" lIns="0" tIns="0" rIns="0" bIns="0" rtlCol="0" anchor="ctr"/>
          <a:lstStyle/>
          <a:p>
            <a:pPr marL="0" indent="0">
              <a:buNone/>
            </a:pPr>
            <a:r>
              <a:rPr lang="en-US" sz="1900" dirty="0">
                <a:solidFill>
                  <a:srgbClr val="0E2841"/>
                </a:solidFill>
                <a:latin typeface="Times New Roman" pitchFamily="34" charset="0"/>
                <a:ea typeface="Times New Roman" pitchFamily="34" charset="-122"/>
                <a:cs typeface="Times New Roman" pitchFamily="34" charset="-120"/>
              </a:rPr>
              <a:t>This relation passes 3NF and still fails BCNF — the classic exam twist. Each specialist now owns exactly one domain.</a:t>
            </a:r>
            <a:endParaRPr lang="en-US" sz="1900" dirty="0"/>
          </a:p>
        </p:txBody>
      </p:sp>
      <p:pic>
        <p:nvPicPr>
          <p:cNvPr id="15" name="Image 0" descr="s1_unpacked/ppt/media/image5.png">
            <a:extLst>
              <a:ext uri="{FF2B5EF4-FFF2-40B4-BE49-F238E27FC236}">
                <a16:creationId xmlns:a16="http://schemas.microsoft.com/office/drawing/2014/main" id="{815A8DCE-9BB7-C8F0-7996-7CF49068A082}"/>
              </a:ext>
            </a:extLst>
          </p:cNvPr>
          <p:cNvPicPr>
            <a:picLocks noChangeAspect="1"/>
          </p:cNvPicPr>
          <p:nvPr/>
        </p:nvPicPr>
        <p:blipFill>
          <a:blip r:embed="rId3"/>
          <a:stretch>
            <a:fillRect/>
          </a:stretch>
        </p:blipFill>
        <p:spPr>
          <a:xfrm>
            <a:off x="9646920" y="256032"/>
            <a:ext cx="2240280" cy="3200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4NF — Split Independent Lists</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56082"/>
                </a:solidFill>
                <a:latin typeface="Times New Roman" pitchFamily="34" charset="0"/>
                <a:ea typeface="Times New Roman" pitchFamily="34" charset="-122"/>
                <a:cs typeface="Times New Roman" pitchFamily="34" charset="-120"/>
              </a:rPr>
              <a:t>Violation: two independent multivalued facts in one table</a:t>
            </a:r>
            <a:endParaRPr lang="en-US" sz="2400" dirty="0"/>
          </a:p>
        </p:txBody>
      </p:sp>
      <p:sp>
        <p:nvSpPr>
          <p:cNvPr id="4" name="Text 2"/>
          <p:cNvSpPr/>
          <p:nvPr/>
        </p:nvSpPr>
        <p:spPr>
          <a:xfrm>
            <a:off x="841248" y="2240280"/>
            <a:ext cx="4937760" cy="411480"/>
          </a:xfrm>
          <a:prstGeom prst="rect">
            <a:avLst/>
          </a:prstGeom>
          <a:noFill/>
          <a:ln/>
        </p:spPr>
        <p:txBody>
          <a:bodyPr wrap="square" lIns="0" tIns="0" rIns="0" bIns="0" rtlCol="0" anchor="ctr"/>
          <a:lstStyle/>
          <a:p>
            <a:pPr marL="0" indent="0">
              <a:buNone/>
            </a:pPr>
            <a:r>
              <a:rPr lang="en-US" sz="2200" b="1" dirty="0">
                <a:solidFill>
                  <a:srgbClr val="C03030"/>
                </a:solidFill>
                <a:latin typeface="Times New Roman" pitchFamily="34" charset="0"/>
                <a:ea typeface="Times New Roman" pitchFamily="34" charset="-122"/>
                <a:cs typeface="Times New Roman" pitchFamily="34" charset="-120"/>
              </a:rPr>
              <a:t>Problem</a:t>
            </a:r>
            <a:endParaRPr lang="en-US" sz="2200" dirty="0"/>
          </a:p>
        </p:txBody>
      </p:sp>
      <p:sp>
        <p:nvSpPr>
          <p:cNvPr id="5" name="Text 3"/>
          <p:cNvSpPr/>
          <p:nvPr/>
        </p:nvSpPr>
        <p:spPr>
          <a:xfrm>
            <a:off x="6419088" y="2240280"/>
            <a:ext cx="4937760" cy="411480"/>
          </a:xfrm>
          <a:prstGeom prst="rect">
            <a:avLst/>
          </a:prstGeom>
          <a:noFill/>
          <a:ln/>
        </p:spPr>
        <p:txBody>
          <a:bodyPr wrap="square" lIns="0" tIns="0" rIns="0" bIns="0" rtlCol="0" anchor="ctr"/>
          <a:lstStyle/>
          <a:p>
            <a:pPr marL="0" indent="0">
              <a:buNone/>
            </a:pPr>
            <a:r>
              <a:rPr lang="en-US" sz="2200" b="1" dirty="0">
                <a:solidFill>
                  <a:srgbClr val="196B24"/>
                </a:solidFill>
                <a:latin typeface="Times New Roman" pitchFamily="34" charset="0"/>
                <a:ea typeface="Times New Roman" pitchFamily="34" charset="-122"/>
                <a:cs typeface="Times New Roman" pitchFamily="34" charset="-120"/>
              </a:rPr>
              <a:t>Decomposition</a:t>
            </a:r>
            <a:endParaRPr lang="en-US" sz="2200" dirty="0"/>
          </a:p>
        </p:txBody>
      </p:sp>
      <p:sp>
        <p:nvSpPr>
          <p:cNvPr id="6" name="Shape 4"/>
          <p:cNvSpPr/>
          <p:nvPr/>
        </p:nvSpPr>
        <p:spPr>
          <a:xfrm>
            <a:off x="841248" y="2697480"/>
            <a:ext cx="4937760" cy="2286000"/>
          </a:xfrm>
          <a:prstGeom prst="roundRect">
            <a:avLst>
              <a:gd name="adj" fmla="val 2400"/>
            </a:avLst>
          </a:prstGeom>
          <a:solidFill>
            <a:srgbClr val="1E3040"/>
          </a:solidFill>
          <a:ln w="12700">
            <a:solidFill>
              <a:srgbClr val="333333"/>
            </a:solidFill>
            <a:prstDash val="solid"/>
          </a:ln>
        </p:spPr>
      </p:sp>
      <p:sp>
        <p:nvSpPr>
          <p:cNvPr id="7" name="Text 5"/>
          <p:cNvSpPr/>
          <p:nvPr/>
        </p:nvSpPr>
        <p:spPr>
          <a:xfrm>
            <a:off x="1097280" y="2880360"/>
            <a:ext cx="4425696" cy="1920240"/>
          </a:xfrm>
          <a:prstGeom prst="rect">
            <a:avLst/>
          </a:prstGeom>
          <a:noFill/>
          <a:ln/>
        </p:spPr>
        <p:txBody>
          <a:bodyPr wrap="square" lIns="0" tIns="0" rIns="0" bIns="0" rtlCol="0" anchor="ctr"/>
          <a:lstStyle/>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STUDENT_INFO (Student, Skill, Hobby)</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Student -&gt;&gt; Skill</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Student -&gt;&gt; Hobby</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2 skills x 2 hobbies = 4 rows</a:t>
            </a:r>
            <a:endParaRPr lang="en-US" sz="1600" dirty="0"/>
          </a:p>
        </p:txBody>
      </p:sp>
      <p:sp>
        <p:nvSpPr>
          <p:cNvPr id="8" name="Shape 6"/>
          <p:cNvSpPr/>
          <p:nvPr/>
        </p:nvSpPr>
        <p:spPr>
          <a:xfrm>
            <a:off x="5925312" y="3703320"/>
            <a:ext cx="347472" cy="274320"/>
          </a:xfrm>
          <a:prstGeom prst="rightArrow">
            <a:avLst/>
          </a:prstGeom>
          <a:solidFill>
            <a:srgbClr val="5A6472"/>
          </a:solidFill>
          <a:ln w="12700">
            <a:solidFill>
              <a:srgbClr val="333333"/>
            </a:solidFill>
            <a:prstDash val="solid"/>
          </a:ln>
        </p:spPr>
      </p:sp>
      <p:sp>
        <p:nvSpPr>
          <p:cNvPr id="9" name="Shape 7"/>
          <p:cNvSpPr/>
          <p:nvPr/>
        </p:nvSpPr>
        <p:spPr>
          <a:xfrm>
            <a:off x="6419088" y="2697480"/>
            <a:ext cx="4937760" cy="2286000"/>
          </a:xfrm>
          <a:prstGeom prst="roundRect">
            <a:avLst>
              <a:gd name="adj" fmla="val 2400"/>
            </a:avLst>
          </a:prstGeom>
          <a:solidFill>
            <a:srgbClr val="1E3040"/>
          </a:solidFill>
          <a:ln w="12700">
            <a:solidFill>
              <a:srgbClr val="333333"/>
            </a:solidFill>
            <a:prstDash val="solid"/>
          </a:ln>
        </p:spPr>
      </p:sp>
      <p:sp>
        <p:nvSpPr>
          <p:cNvPr id="10" name="Text 8"/>
          <p:cNvSpPr/>
          <p:nvPr/>
        </p:nvSpPr>
        <p:spPr>
          <a:xfrm>
            <a:off x="6675120" y="2880360"/>
            <a:ext cx="4425696" cy="1920240"/>
          </a:xfrm>
          <a:prstGeom prst="rect">
            <a:avLst/>
          </a:prstGeom>
          <a:noFill/>
          <a:ln/>
        </p:spPr>
        <p:txBody>
          <a:bodyPr wrap="square" lIns="0" tIns="0" rIns="0" bIns="0" rtlCol="0" anchor="ctr"/>
          <a:lstStyle/>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STUDENT_SKILL (Student, Skill)</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STUDENT_HOBBY (Student, Hobby)</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2 + 2 = 4 facts, no cross product</a:t>
            </a:r>
            <a:endParaRPr lang="en-US" sz="1600" dirty="0"/>
          </a:p>
        </p:txBody>
      </p:sp>
      <p:sp>
        <p:nvSpPr>
          <p:cNvPr id="11" name="Shape 9"/>
          <p:cNvSpPr/>
          <p:nvPr/>
        </p:nvSpPr>
        <p:spPr>
          <a:xfrm>
            <a:off x="841248" y="5257800"/>
            <a:ext cx="10515600" cy="777240"/>
          </a:xfrm>
          <a:prstGeom prst="roundRect">
            <a:avLst>
              <a:gd name="adj" fmla="val 7059"/>
            </a:avLst>
          </a:prstGeom>
          <a:solidFill>
            <a:srgbClr val="F2F6FA"/>
          </a:solidFill>
          <a:ln w="12700">
            <a:solidFill>
              <a:srgbClr val="F2F6FA"/>
            </a:solidFill>
            <a:prstDash val="solid"/>
          </a:ln>
        </p:spPr>
      </p:sp>
      <p:sp>
        <p:nvSpPr>
          <p:cNvPr id="12" name="Shape 10"/>
          <p:cNvSpPr/>
          <p:nvPr/>
        </p:nvSpPr>
        <p:spPr>
          <a:xfrm>
            <a:off x="841248" y="5257800"/>
            <a:ext cx="91440" cy="777240"/>
          </a:xfrm>
          <a:prstGeom prst="rect">
            <a:avLst/>
          </a:prstGeom>
          <a:solidFill>
            <a:srgbClr val="156082"/>
          </a:solidFill>
          <a:ln w="12700">
            <a:solidFill>
              <a:srgbClr val="333333"/>
            </a:solidFill>
            <a:prstDash val="solid"/>
          </a:ln>
        </p:spPr>
      </p:sp>
      <p:sp>
        <p:nvSpPr>
          <p:cNvPr id="13" name="Text 11"/>
          <p:cNvSpPr/>
          <p:nvPr/>
        </p:nvSpPr>
        <p:spPr>
          <a:xfrm>
            <a:off x="1133856" y="5257800"/>
            <a:ext cx="9966960" cy="777240"/>
          </a:xfrm>
          <a:prstGeom prst="rect">
            <a:avLst/>
          </a:prstGeom>
          <a:noFill/>
          <a:ln/>
        </p:spPr>
        <p:txBody>
          <a:bodyPr wrap="square" lIns="0" tIns="0" rIns="0" bIns="0" rtlCol="0" anchor="ctr"/>
          <a:lstStyle/>
          <a:p>
            <a:pPr marL="0" indent="0">
              <a:buNone/>
            </a:pPr>
            <a:r>
              <a:rPr lang="en-US" sz="1900" dirty="0">
                <a:solidFill>
                  <a:srgbClr val="0E2841"/>
                </a:solidFill>
                <a:latin typeface="Times New Roman" pitchFamily="34" charset="0"/>
                <a:ea typeface="Times New Roman" pitchFamily="34" charset="-122"/>
                <a:cs typeface="Times New Roman" pitchFamily="34" charset="-120"/>
              </a:rPr>
              <a:t>Skills and hobbies are unrelated lists about the same student. Storing them together multiplies rows without adding facts.</a:t>
            </a:r>
            <a:endParaRPr lang="en-US" sz="1900" dirty="0"/>
          </a:p>
        </p:txBody>
      </p:sp>
      <p:pic>
        <p:nvPicPr>
          <p:cNvPr id="15" name="Image 0" descr="s1_unpacked/ppt/media/image5.png">
            <a:extLst>
              <a:ext uri="{FF2B5EF4-FFF2-40B4-BE49-F238E27FC236}">
                <a16:creationId xmlns:a16="http://schemas.microsoft.com/office/drawing/2014/main" id="{70C7B34B-D5B9-FB74-56D5-3BB816B30B8E}"/>
              </a:ext>
            </a:extLst>
          </p:cNvPr>
          <p:cNvPicPr>
            <a:picLocks noChangeAspect="1"/>
          </p:cNvPicPr>
          <p:nvPr/>
        </p:nvPicPr>
        <p:blipFill>
          <a:blip r:embed="rId3"/>
          <a:stretch>
            <a:fillRect/>
          </a:stretch>
        </p:blipFill>
        <p:spPr>
          <a:xfrm>
            <a:off x="9646920" y="256032"/>
            <a:ext cx="2240280" cy="3200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5NF — Store Irreducible Pairs</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E97132"/>
                </a:solidFill>
                <a:latin typeface="Times New Roman" pitchFamily="34" charset="0"/>
                <a:ea typeface="Times New Roman" pitchFamily="34" charset="-122"/>
                <a:cs typeface="Times New Roman" pitchFamily="34" charset="-120"/>
              </a:rPr>
              <a:t>Violation: redundancy that only a join reveals</a:t>
            </a:r>
            <a:endParaRPr lang="en-US" sz="2400" dirty="0"/>
          </a:p>
        </p:txBody>
      </p:sp>
      <p:sp>
        <p:nvSpPr>
          <p:cNvPr id="4" name="Text 2"/>
          <p:cNvSpPr/>
          <p:nvPr/>
        </p:nvSpPr>
        <p:spPr>
          <a:xfrm>
            <a:off x="841248" y="2240280"/>
            <a:ext cx="4937760" cy="411480"/>
          </a:xfrm>
          <a:prstGeom prst="rect">
            <a:avLst/>
          </a:prstGeom>
          <a:noFill/>
          <a:ln/>
        </p:spPr>
        <p:txBody>
          <a:bodyPr wrap="square" lIns="0" tIns="0" rIns="0" bIns="0" rtlCol="0" anchor="ctr"/>
          <a:lstStyle/>
          <a:p>
            <a:pPr marL="0" indent="0">
              <a:buNone/>
            </a:pPr>
            <a:r>
              <a:rPr lang="en-US" sz="2200" b="1" dirty="0">
                <a:solidFill>
                  <a:srgbClr val="C03030"/>
                </a:solidFill>
                <a:latin typeface="Times New Roman" pitchFamily="34" charset="0"/>
                <a:ea typeface="Times New Roman" pitchFamily="34" charset="-122"/>
                <a:cs typeface="Times New Roman" pitchFamily="34" charset="-120"/>
              </a:rPr>
              <a:t>Problem</a:t>
            </a:r>
            <a:endParaRPr lang="en-US" sz="2200" dirty="0"/>
          </a:p>
        </p:txBody>
      </p:sp>
      <p:sp>
        <p:nvSpPr>
          <p:cNvPr id="5" name="Text 3"/>
          <p:cNvSpPr/>
          <p:nvPr/>
        </p:nvSpPr>
        <p:spPr>
          <a:xfrm>
            <a:off x="6419088" y="2240280"/>
            <a:ext cx="4937760" cy="411480"/>
          </a:xfrm>
          <a:prstGeom prst="rect">
            <a:avLst/>
          </a:prstGeom>
          <a:noFill/>
          <a:ln/>
        </p:spPr>
        <p:txBody>
          <a:bodyPr wrap="square" lIns="0" tIns="0" rIns="0" bIns="0" rtlCol="0" anchor="ctr"/>
          <a:lstStyle/>
          <a:p>
            <a:pPr marL="0" indent="0">
              <a:buNone/>
            </a:pPr>
            <a:r>
              <a:rPr lang="en-US" sz="2200" b="1" dirty="0">
                <a:solidFill>
                  <a:srgbClr val="196B24"/>
                </a:solidFill>
                <a:latin typeface="Times New Roman" pitchFamily="34" charset="0"/>
                <a:ea typeface="Times New Roman" pitchFamily="34" charset="-122"/>
                <a:cs typeface="Times New Roman" pitchFamily="34" charset="-120"/>
              </a:rPr>
              <a:t>Decomposition</a:t>
            </a:r>
            <a:endParaRPr lang="en-US" sz="2200" dirty="0"/>
          </a:p>
        </p:txBody>
      </p:sp>
      <p:sp>
        <p:nvSpPr>
          <p:cNvPr id="6" name="Shape 4"/>
          <p:cNvSpPr/>
          <p:nvPr/>
        </p:nvSpPr>
        <p:spPr>
          <a:xfrm>
            <a:off x="841248" y="2697480"/>
            <a:ext cx="4937760" cy="2286000"/>
          </a:xfrm>
          <a:prstGeom prst="roundRect">
            <a:avLst>
              <a:gd name="adj" fmla="val 2400"/>
            </a:avLst>
          </a:prstGeom>
          <a:solidFill>
            <a:srgbClr val="1E3040"/>
          </a:solidFill>
          <a:ln w="12700">
            <a:solidFill>
              <a:srgbClr val="333333"/>
            </a:solidFill>
            <a:prstDash val="solid"/>
          </a:ln>
        </p:spPr>
      </p:sp>
      <p:sp>
        <p:nvSpPr>
          <p:cNvPr id="7" name="Text 5"/>
          <p:cNvSpPr/>
          <p:nvPr/>
        </p:nvSpPr>
        <p:spPr>
          <a:xfrm>
            <a:off x="1097280" y="2880360"/>
            <a:ext cx="4425696" cy="1920240"/>
          </a:xfrm>
          <a:prstGeom prst="rect">
            <a:avLst/>
          </a:prstGeom>
          <a:noFill/>
          <a:ln/>
        </p:spPr>
        <p:txBody>
          <a:bodyPr wrap="square" lIns="0" tIns="0" rIns="0" bIns="0" rtlCol="0" anchor="ctr"/>
          <a:lstStyle/>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SPJ (Supplier, Part, Project)</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Every valid triple is implied by</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the three pairwise facts</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No MVD holds here</a:t>
            </a:r>
            <a:endParaRPr lang="en-US" sz="1600" dirty="0"/>
          </a:p>
        </p:txBody>
      </p:sp>
      <p:sp>
        <p:nvSpPr>
          <p:cNvPr id="8" name="Shape 6"/>
          <p:cNvSpPr/>
          <p:nvPr/>
        </p:nvSpPr>
        <p:spPr>
          <a:xfrm>
            <a:off x="5925312" y="3703320"/>
            <a:ext cx="347472" cy="274320"/>
          </a:xfrm>
          <a:prstGeom prst="rightArrow">
            <a:avLst/>
          </a:prstGeom>
          <a:solidFill>
            <a:srgbClr val="5A6472"/>
          </a:solidFill>
          <a:ln w="12700">
            <a:solidFill>
              <a:srgbClr val="333333"/>
            </a:solidFill>
            <a:prstDash val="solid"/>
          </a:ln>
        </p:spPr>
      </p:sp>
      <p:sp>
        <p:nvSpPr>
          <p:cNvPr id="9" name="Shape 7"/>
          <p:cNvSpPr/>
          <p:nvPr/>
        </p:nvSpPr>
        <p:spPr>
          <a:xfrm>
            <a:off x="6419088" y="2697480"/>
            <a:ext cx="4937760" cy="2286000"/>
          </a:xfrm>
          <a:prstGeom prst="roundRect">
            <a:avLst>
              <a:gd name="adj" fmla="val 2400"/>
            </a:avLst>
          </a:prstGeom>
          <a:solidFill>
            <a:srgbClr val="1E3040"/>
          </a:solidFill>
          <a:ln w="12700">
            <a:solidFill>
              <a:srgbClr val="333333"/>
            </a:solidFill>
            <a:prstDash val="solid"/>
          </a:ln>
        </p:spPr>
      </p:sp>
      <p:sp>
        <p:nvSpPr>
          <p:cNvPr id="10" name="Text 8"/>
          <p:cNvSpPr/>
          <p:nvPr/>
        </p:nvSpPr>
        <p:spPr>
          <a:xfrm>
            <a:off x="6675120" y="2880360"/>
            <a:ext cx="4425696" cy="1920240"/>
          </a:xfrm>
          <a:prstGeom prst="rect">
            <a:avLst/>
          </a:prstGeom>
          <a:noFill/>
          <a:ln/>
        </p:spPr>
        <p:txBody>
          <a:bodyPr wrap="square" lIns="0" tIns="0" rIns="0" bIns="0" rtlCol="0" anchor="ctr"/>
          <a:lstStyle/>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SP (Supplier, Part)</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SJ (Supplier, Project)</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PJ (Part, Project)</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 </a:t>
            </a:r>
            <a:endParaRPr lang="en-US" sz="1600" dirty="0"/>
          </a:p>
          <a:p>
            <a:pPr marL="0" indent="0">
              <a:lnSpc>
                <a:spcPct val="118000"/>
              </a:lnSpc>
              <a:buNone/>
            </a:pPr>
            <a:r>
              <a:rPr lang="en-US" sz="1600" dirty="0">
                <a:solidFill>
                  <a:srgbClr val="E8F2F8"/>
                </a:solidFill>
                <a:latin typeface="Consolas" pitchFamily="34" charset="0"/>
                <a:ea typeface="Consolas" pitchFamily="34" charset="-122"/>
                <a:cs typeface="Consolas" pitchFamily="34" charset="-120"/>
              </a:rPr>
              <a:t>SP  |X|  SJ  |X|  PJ  =  SPJ</a:t>
            </a:r>
            <a:endParaRPr lang="en-US" sz="1600" dirty="0"/>
          </a:p>
        </p:txBody>
      </p:sp>
      <p:sp>
        <p:nvSpPr>
          <p:cNvPr id="11" name="Shape 9"/>
          <p:cNvSpPr/>
          <p:nvPr/>
        </p:nvSpPr>
        <p:spPr>
          <a:xfrm>
            <a:off x="841248" y="5257800"/>
            <a:ext cx="10515600" cy="777240"/>
          </a:xfrm>
          <a:prstGeom prst="roundRect">
            <a:avLst>
              <a:gd name="adj" fmla="val 7059"/>
            </a:avLst>
          </a:prstGeom>
          <a:solidFill>
            <a:srgbClr val="F2F6FA"/>
          </a:solidFill>
          <a:ln w="12700">
            <a:solidFill>
              <a:srgbClr val="F2F6FA"/>
            </a:solidFill>
            <a:prstDash val="solid"/>
          </a:ln>
        </p:spPr>
      </p:sp>
      <p:sp>
        <p:nvSpPr>
          <p:cNvPr id="12" name="Shape 10"/>
          <p:cNvSpPr/>
          <p:nvPr/>
        </p:nvSpPr>
        <p:spPr>
          <a:xfrm>
            <a:off x="841248" y="5257800"/>
            <a:ext cx="91440" cy="777240"/>
          </a:xfrm>
          <a:prstGeom prst="rect">
            <a:avLst/>
          </a:prstGeom>
          <a:solidFill>
            <a:srgbClr val="E97132"/>
          </a:solidFill>
          <a:ln w="12700">
            <a:solidFill>
              <a:srgbClr val="333333"/>
            </a:solidFill>
            <a:prstDash val="solid"/>
          </a:ln>
        </p:spPr>
      </p:sp>
      <p:sp>
        <p:nvSpPr>
          <p:cNvPr id="13" name="Text 11"/>
          <p:cNvSpPr/>
          <p:nvPr/>
        </p:nvSpPr>
        <p:spPr>
          <a:xfrm>
            <a:off x="1133856" y="5257800"/>
            <a:ext cx="9966960" cy="777240"/>
          </a:xfrm>
          <a:prstGeom prst="rect">
            <a:avLst/>
          </a:prstGeom>
          <a:noFill/>
          <a:ln/>
        </p:spPr>
        <p:txBody>
          <a:bodyPr wrap="square" lIns="0" tIns="0" rIns="0" bIns="0" rtlCol="0" anchor="ctr"/>
          <a:lstStyle/>
          <a:p>
            <a:pPr marL="0" indent="0">
              <a:buNone/>
            </a:pPr>
            <a:r>
              <a:rPr lang="en-US" sz="1900" dirty="0">
                <a:solidFill>
                  <a:srgbClr val="0E2841"/>
                </a:solidFill>
                <a:latin typeface="Times New Roman" pitchFamily="34" charset="0"/>
                <a:ea typeface="Times New Roman" pitchFamily="34" charset="-122"/>
                <a:cs typeface="Times New Roman" pitchFamily="34" charset="-120"/>
              </a:rPr>
              <a:t>A join dependency, not an MVD: a triple is valid only when all three pairwise links agree. CRM territory tables store pairs and derive the triples.</a:t>
            </a:r>
            <a:endParaRPr lang="en-US" sz="1900" dirty="0"/>
          </a:p>
        </p:txBody>
      </p:sp>
      <p:pic>
        <p:nvPicPr>
          <p:cNvPr id="15" name="Image 0" descr="s1_unpacked/ppt/media/image5.png">
            <a:extLst>
              <a:ext uri="{FF2B5EF4-FFF2-40B4-BE49-F238E27FC236}">
                <a16:creationId xmlns:a16="http://schemas.microsoft.com/office/drawing/2014/main" id="{0FE522AA-7ED1-EDCC-EF13-A2EA80C28DA8}"/>
              </a:ext>
            </a:extLst>
          </p:cNvPr>
          <p:cNvPicPr>
            <a:picLocks noChangeAspect="1"/>
          </p:cNvPicPr>
          <p:nvPr/>
        </p:nvPicPr>
        <p:blipFill>
          <a:blip r:embed="rId3"/>
          <a:stretch>
            <a:fillRect/>
          </a:stretch>
        </p:blipFill>
        <p:spPr>
          <a:xfrm>
            <a:off x="9646920" y="256032"/>
            <a:ext cx="2240280" cy="3200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Hands-on Task</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56082"/>
                </a:solidFill>
                <a:latin typeface="Times New Roman" pitchFamily="34" charset="0"/>
                <a:ea typeface="Times New Roman" pitchFamily="34" charset="-122"/>
                <a:cs typeface="Times New Roman" pitchFamily="34" charset="-120"/>
              </a:rPr>
              <a:t>Normalise this to BCNF, showing every step:</a:t>
            </a:r>
            <a:endParaRPr lang="en-US" sz="2400" dirty="0"/>
          </a:p>
        </p:txBody>
      </p:sp>
      <p:sp>
        <p:nvSpPr>
          <p:cNvPr id="4" name="Shape 2"/>
          <p:cNvSpPr/>
          <p:nvPr/>
        </p:nvSpPr>
        <p:spPr>
          <a:xfrm>
            <a:off x="841248" y="2240280"/>
            <a:ext cx="5257800" cy="3291840"/>
          </a:xfrm>
          <a:prstGeom prst="roundRect">
            <a:avLst>
              <a:gd name="adj" fmla="val 1667"/>
            </a:avLst>
          </a:prstGeom>
          <a:solidFill>
            <a:srgbClr val="1E3040"/>
          </a:solidFill>
          <a:ln w="12700">
            <a:solidFill>
              <a:srgbClr val="333333"/>
            </a:solidFill>
            <a:prstDash val="solid"/>
          </a:ln>
        </p:spPr>
      </p:sp>
      <p:sp>
        <p:nvSpPr>
          <p:cNvPr id="5" name="Text 3"/>
          <p:cNvSpPr/>
          <p:nvPr/>
        </p:nvSpPr>
        <p:spPr>
          <a:xfrm>
            <a:off x="1097280" y="2423160"/>
            <a:ext cx="4745736" cy="2926080"/>
          </a:xfrm>
          <a:prstGeom prst="rect">
            <a:avLst/>
          </a:prstGeom>
          <a:noFill/>
          <a:ln/>
        </p:spPr>
        <p:txBody>
          <a:bodyPr wrap="square" lIns="0" tIns="0" rIns="0" bIns="0" rtlCol="0" anchor="ctr"/>
          <a:lstStyle/>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SUPPLY (SupplierID, PartID,</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        SupplierName, PartName,</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        UnitPrice, Qty)</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 </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SupplierID -&gt; SupplierName</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PartID     -&gt; PartName, UnitPrice</a:t>
            </a:r>
            <a:endParaRPr lang="en-US" sz="1700" dirty="0"/>
          </a:p>
          <a:p>
            <a:pPr marL="0" indent="0">
              <a:lnSpc>
                <a:spcPct val="118000"/>
              </a:lnSpc>
              <a:buNone/>
            </a:pPr>
            <a:r>
              <a:rPr lang="en-US" sz="1700" dirty="0">
                <a:solidFill>
                  <a:srgbClr val="E8F2F8"/>
                </a:solidFill>
                <a:latin typeface="Consolas" pitchFamily="34" charset="0"/>
                <a:ea typeface="Consolas" pitchFamily="34" charset="-122"/>
                <a:cs typeface="Consolas" pitchFamily="34" charset="-120"/>
              </a:rPr>
              <a:t>(SupplierID, PartID) -&gt; Qty</a:t>
            </a:r>
            <a:endParaRPr lang="en-US" sz="1700" dirty="0"/>
          </a:p>
        </p:txBody>
      </p:sp>
      <p:sp>
        <p:nvSpPr>
          <p:cNvPr id="6" name="Shape 4"/>
          <p:cNvSpPr/>
          <p:nvPr/>
        </p:nvSpPr>
        <p:spPr>
          <a:xfrm>
            <a:off x="6510528" y="2240280"/>
            <a:ext cx="4846320" cy="1005840"/>
          </a:xfrm>
          <a:prstGeom prst="roundRect">
            <a:avLst>
              <a:gd name="adj" fmla="val 5455"/>
            </a:avLst>
          </a:prstGeom>
          <a:solidFill>
            <a:srgbClr val="F2F6FA"/>
          </a:solidFill>
          <a:ln w="12700">
            <a:solidFill>
              <a:srgbClr val="F2F6FA"/>
            </a:solidFill>
            <a:prstDash val="solid"/>
          </a:ln>
        </p:spPr>
      </p:sp>
      <p:sp>
        <p:nvSpPr>
          <p:cNvPr id="7" name="Shape 5"/>
          <p:cNvSpPr/>
          <p:nvPr/>
        </p:nvSpPr>
        <p:spPr>
          <a:xfrm>
            <a:off x="6766560" y="2441448"/>
            <a:ext cx="566928" cy="566928"/>
          </a:xfrm>
          <a:prstGeom prst="roundRect">
            <a:avLst>
              <a:gd name="adj" fmla="val 16129"/>
            </a:avLst>
          </a:prstGeom>
          <a:solidFill>
            <a:srgbClr val="156082"/>
          </a:solidFill>
          <a:ln w="12700">
            <a:solidFill>
              <a:srgbClr val="333333"/>
            </a:solidFill>
            <a:prstDash val="solid"/>
          </a:ln>
        </p:spPr>
      </p:sp>
      <p:sp>
        <p:nvSpPr>
          <p:cNvPr id="8" name="Text 6"/>
          <p:cNvSpPr/>
          <p:nvPr/>
        </p:nvSpPr>
        <p:spPr>
          <a:xfrm>
            <a:off x="6766560" y="2441448"/>
            <a:ext cx="566928" cy="566928"/>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1</a:t>
            </a:r>
            <a:endParaRPr lang="en-US" sz="2100" dirty="0"/>
          </a:p>
        </p:txBody>
      </p:sp>
      <p:sp>
        <p:nvSpPr>
          <p:cNvPr id="9" name="Text 7"/>
          <p:cNvSpPr/>
          <p:nvPr/>
        </p:nvSpPr>
        <p:spPr>
          <a:xfrm>
            <a:off x="7543800" y="2240280"/>
            <a:ext cx="3657600" cy="1005840"/>
          </a:xfrm>
          <a:prstGeom prst="rect">
            <a:avLst/>
          </a:prstGeom>
          <a:noFill/>
          <a:ln/>
        </p:spPr>
        <p:txBody>
          <a:bodyPr wrap="square" lIns="0" tIns="0" rIns="0" bIns="0" rtlCol="0" anchor="ctr"/>
          <a:lstStyle/>
          <a:p>
            <a:pPr marL="0" indent="0">
              <a:buNone/>
            </a:pPr>
            <a:r>
              <a:rPr lang="en-US" sz="1900" dirty="0">
                <a:solidFill>
                  <a:srgbClr val="2B2B2B"/>
                </a:solidFill>
                <a:latin typeface="Times New Roman" pitchFamily="34" charset="0"/>
                <a:ea typeface="Times New Roman" pitchFamily="34" charset="-122"/>
                <a:cs typeface="Times New Roman" pitchFamily="34" charset="-120"/>
              </a:rPr>
              <a:t>State the candidate key</a:t>
            </a:r>
            <a:endParaRPr lang="en-US" sz="1900" dirty="0"/>
          </a:p>
        </p:txBody>
      </p:sp>
      <p:sp>
        <p:nvSpPr>
          <p:cNvPr id="10" name="Shape 8"/>
          <p:cNvSpPr/>
          <p:nvPr/>
        </p:nvSpPr>
        <p:spPr>
          <a:xfrm>
            <a:off x="6510528" y="3383280"/>
            <a:ext cx="4846320" cy="1005840"/>
          </a:xfrm>
          <a:prstGeom prst="roundRect">
            <a:avLst>
              <a:gd name="adj" fmla="val 5455"/>
            </a:avLst>
          </a:prstGeom>
          <a:solidFill>
            <a:srgbClr val="F2F6FA"/>
          </a:solidFill>
          <a:ln w="12700">
            <a:solidFill>
              <a:srgbClr val="F2F6FA"/>
            </a:solidFill>
            <a:prstDash val="solid"/>
          </a:ln>
        </p:spPr>
      </p:sp>
      <p:sp>
        <p:nvSpPr>
          <p:cNvPr id="11" name="Shape 9"/>
          <p:cNvSpPr/>
          <p:nvPr/>
        </p:nvSpPr>
        <p:spPr>
          <a:xfrm>
            <a:off x="6766560" y="3584448"/>
            <a:ext cx="566928" cy="566928"/>
          </a:xfrm>
          <a:prstGeom prst="roundRect">
            <a:avLst>
              <a:gd name="adj" fmla="val 16129"/>
            </a:avLst>
          </a:prstGeom>
          <a:solidFill>
            <a:srgbClr val="E97132"/>
          </a:solidFill>
          <a:ln w="12700">
            <a:solidFill>
              <a:srgbClr val="333333"/>
            </a:solidFill>
            <a:prstDash val="solid"/>
          </a:ln>
        </p:spPr>
      </p:sp>
      <p:sp>
        <p:nvSpPr>
          <p:cNvPr id="12" name="Text 10"/>
          <p:cNvSpPr/>
          <p:nvPr/>
        </p:nvSpPr>
        <p:spPr>
          <a:xfrm>
            <a:off x="6766560" y="3584448"/>
            <a:ext cx="566928" cy="566928"/>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2</a:t>
            </a:r>
            <a:endParaRPr lang="en-US" sz="2100" dirty="0"/>
          </a:p>
        </p:txBody>
      </p:sp>
      <p:sp>
        <p:nvSpPr>
          <p:cNvPr id="13" name="Text 11"/>
          <p:cNvSpPr/>
          <p:nvPr/>
        </p:nvSpPr>
        <p:spPr>
          <a:xfrm>
            <a:off x="7543800" y="3383280"/>
            <a:ext cx="3657600" cy="1005840"/>
          </a:xfrm>
          <a:prstGeom prst="rect">
            <a:avLst/>
          </a:prstGeom>
          <a:noFill/>
          <a:ln/>
        </p:spPr>
        <p:txBody>
          <a:bodyPr wrap="square" lIns="0" tIns="0" rIns="0" bIns="0" rtlCol="0" anchor="ctr"/>
          <a:lstStyle/>
          <a:p>
            <a:pPr marL="0" indent="0">
              <a:buNone/>
            </a:pPr>
            <a:r>
              <a:rPr lang="en-US" sz="1900" dirty="0">
                <a:solidFill>
                  <a:srgbClr val="2B2B2B"/>
                </a:solidFill>
                <a:latin typeface="Times New Roman" pitchFamily="34" charset="0"/>
                <a:ea typeface="Times New Roman" pitchFamily="34" charset="-122"/>
                <a:cs typeface="Times New Roman" pitchFamily="34" charset="-120"/>
              </a:rPr>
              <a:t>Mark every partial dependency</a:t>
            </a:r>
            <a:endParaRPr lang="en-US" sz="1900" dirty="0"/>
          </a:p>
        </p:txBody>
      </p:sp>
      <p:sp>
        <p:nvSpPr>
          <p:cNvPr id="14" name="Shape 12"/>
          <p:cNvSpPr/>
          <p:nvPr/>
        </p:nvSpPr>
        <p:spPr>
          <a:xfrm>
            <a:off x="6510528" y="4526280"/>
            <a:ext cx="4846320" cy="1005840"/>
          </a:xfrm>
          <a:prstGeom prst="roundRect">
            <a:avLst>
              <a:gd name="adj" fmla="val 5455"/>
            </a:avLst>
          </a:prstGeom>
          <a:solidFill>
            <a:srgbClr val="F2F6FA"/>
          </a:solidFill>
          <a:ln w="12700">
            <a:solidFill>
              <a:srgbClr val="F2F6FA"/>
            </a:solidFill>
            <a:prstDash val="solid"/>
          </a:ln>
        </p:spPr>
      </p:sp>
      <p:sp>
        <p:nvSpPr>
          <p:cNvPr id="15" name="Shape 13"/>
          <p:cNvSpPr/>
          <p:nvPr/>
        </p:nvSpPr>
        <p:spPr>
          <a:xfrm>
            <a:off x="6766560" y="4727448"/>
            <a:ext cx="566928" cy="566928"/>
          </a:xfrm>
          <a:prstGeom prst="roundRect">
            <a:avLst>
              <a:gd name="adj" fmla="val 16129"/>
            </a:avLst>
          </a:prstGeom>
          <a:solidFill>
            <a:srgbClr val="196B24"/>
          </a:solidFill>
          <a:ln w="12700">
            <a:solidFill>
              <a:srgbClr val="333333"/>
            </a:solidFill>
            <a:prstDash val="solid"/>
          </a:ln>
        </p:spPr>
      </p:sp>
      <p:sp>
        <p:nvSpPr>
          <p:cNvPr id="16" name="Text 14"/>
          <p:cNvSpPr/>
          <p:nvPr/>
        </p:nvSpPr>
        <p:spPr>
          <a:xfrm>
            <a:off x="6766560" y="4727448"/>
            <a:ext cx="566928" cy="566928"/>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3</a:t>
            </a:r>
            <a:endParaRPr lang="en-US" sz="2100" dirty="0"/>
          </a:p>
        </p:txBody>
      </p:sp>
      <p:sp>
        <p:nvSpPr>
          <p:cNvPr id="17" name="Text 15"/>
          <p:cNvSpPr/>
          <p:nvPr/>
        </p:nvSpPr>
        <p:spPr>
          <a:xfrm>
            <a:off x="7543800" y="4526280"/>
            <a:ext cx="3657600" cy="1005840"/>
          </a:xfrm>
          <a:prstGeom prst="rect">
            <a:avLst/>
          </a:prstGeom>
          <a:noFill/>
          <a:ln/>
        </p:spPr>
        <p:txBody>
          <a:bodyPr wrap="square" lIns="0" tIns="0" rIns="0" bIns="0" rtlCol="0" anchor="ctr"/>
          <a:lstStyle/>
          <a:p>
            <a:pPr marL="0" indent="0">
              <a:buNone/>
            </a:pPr>
            <a:r>
              <a:rPr lang="en-US" sz="1900" dirty="0">
                <a:solidFill>
                  <a:srgbClr val="2B2B2B"/>
                </a:solidFill>
                <a:latin typeface="Times New Roman" pitchFamily="34" charset="0"/>
                <a:ea typeface="Times New Roman" pitchFamily="34" charset="-122"/>
                <a:cs typeface="Times New Roman" pitchFamily="34" charset="-120"/>
              </a:rPr>
              <a:t>Write the 2NF and BCNF relations</a:t>
            </a:r>
            <a:endParaRPr lang="en-US" sz="1900" dirty="0"/>
          </a:p>
        </p:txBody>
      </p:sp>
      <p:pic>
        <p:nvPicPr>
          <p:cNvPr id="19" name="Image 0" descr="s1_unpacked/ppt/media/image5.png">
            <a:extLst>
              <a:ext uri="{FF2B5EF4-FFF2-40B4-BE49-F238E27FC236}">
                <a16:creationId xmlns:a16="http://schemas.microsoft.com/office/drawing/2014/main" id="{9CB5736C-60BF-A37A-4CEB-CF18E199A2EE}"/>
              </a:ext>
            </a:extLst>
          </p:cNvPr>
          <p:cNvPicPr>
            <a:picLocks noChangeAspect="1"/>
          </p:cNvPicPr>
          <p:nvPr/>
        </p:nvPicPr>
        <p:blipFill>
          <a:blip r:embed="rId3"/>
          <a:stretch>
            <a:fillRect/>
          </a:stretch>
        </p:blipFill>
        <p:spPr>
          <a:xfrm>
            <a:off x="9646920" y="256032"/>
            <a:ext cx="2240280" cy="3200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Real-Life Application</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56082"/>
                </a:solidFill>
                <a:latin typeface="Times New Roman" pitchFamily="34" charset="0"/>
                <a:ea typeface="Times New Roman" pitchFamily="34" charset="-122"/>
                <a:cs typeface="Times New Roman" pitchFamily="34" charset="-120"/>
              </a:rPr>
              <a:t>Where this routine is actually used:</a:t>
            </a:r>
            <a:endParaRPr lang="en-US" sz="2400" dirty="0"/>
          </a:p>
        </p:txBody>
      </p:sp>
      <p:sp>
        <p:nvSpPr>
          <p:cNvPr id="4" name="Shape 2"/>
          <p:cNvSpPr/>
          <p:nvPr/>
        </p:nvSpPr>
        <p:spPr>
          <a:xfrm>
            <a:off x="841248" y="2240280"/>
            <a:ext cx="4937760" cy="1417320"/>
          </a:xfrm>
          <a:prstGeom prst="roundRect">
            <a:avLst>
              <a:gd name="adj" fmla="val 3871"/>
            </a:avLst>
          </a:prstGeom>
          <a:solidFill>
            <a:srgbClr val="FFFFFF"/>
          </a:solidFill>
          <a:ln w="12700">
            <a:solidFill>
              <a:srgbClr val="D2DCE6"/>
            </a:solidFill>
            <a:prstDash val="solid"/>
          </a:ln>
        </p:spPr>
      </p:sp>
      <p:sp>
        <p:nvSpPr>
          <p:cNvPr id="5" name="Shape 3"/>
          <p:cNvSpPr/>
          <p:nvPr/>
        </p:nvSpPr>
        <p:spPr>
          <a:xfrm>
            <a:off x="841248" y="2240280"/>
            <a:ext cx="4937760" cy="118872"/>
          </a:xfrm>
          <a:prstGeom prst="rect">
            <a:avLst/>
          </a:prstGeom>
          <a:solidFill>
            <a:srgbClr val="156082"/>
          </a:solidFill>
          <a:ln w="12700">
            <a:solidFill>
              <a:srgbClr val="333333"/>
            </a:solidFill>
            <a:prstDash val="solid"/>
          </a:ln>
        </p:spPr>
      </p:sp>
      <p:sp>
        <p:nvSpPr>
          <p:cNvPr id="6" name="Text 4"/>
          <p:cNvSpPr/>
          <p:nvPr/>
        </p:nvSpPr>
        <p:spPr>
          <a:xfrm>
            <a:off x="1133856" y="2496312"/>
            <a:ext cx="4389120" cy="457200"/>
          </a:xfrm>
          <a:prstGeom prst="rect">
            <a:avLst/>
          </a:prstGeom>
          <a:noFill/>
          <a:ln/>
        </p:spPr>
        <p:txBody>
          <a:bodyPr wrap="square" lIns="0" tIns="0" rIns="0" bIns="0" rtlCol="0" anchor="ctr"/>
          <a:lstStyle/>
          <a:p>
            <a:pPr marL="0" indent="0">
              <a:buNone/>
            </a:pPr>
            <a:r>
              <a:rPr lang="en-US" sz="2200" b="1" dirty="0">
                <a:solidFill>
                  <a:srgbClr val="156082"/>
                </a:solidFill>
                <a:latin typeface="Times New Roman" pitchFamily="34" charset="0"/>
                <a:ea typeface="Times New Roman" pitchFamily="34" charset="-122"/>
                <a:cs typeface="Times New Roman" pitchFamily="34" charset="-120"/>
              </a:rPr>
              <a:t>Schema review</a:t>
            </a:r>
            <a:endParaRPr lang="en-US" sz="2200" dirty="0"/>
          </a:p>
        </p:txBody>
      </p:sp>
      <p:sp>
        <p:nvSpPr>
          <p:cNvPr id="7" name="Text 5"/>
          <p:cNvSpPr/>
          <p:nvPr/>
        </p:nvSpPr>
        <p:spPr>
          <a:xfrm>
            <a:off x="1133856" y="2990088"/>
            <a:ext cx="4389120" cy="457200"/>
          </a:xfrm>
          <a:prstGeom prst="rect">
            <a:avLst/>
          </a:prstGeom>
          <a:noFill/>
          <a:ln/>
        </p:spPr>
        <p:txBody>
          <a:bodyPr wrap="square" lIns="0" tIns="0" rIns="0" bIns="0" rtlCol="0" anchor="ctr"/>
          <a:lstStyle/>
          <a:p>
            <a:pPr marL="0" indent="0">
              <a:buNone/>
            </a:pPr>
            <a:r>
              <a:rPr lang="en-US" sz="1800" dirty="0">
                <a:solidFill>
                  <a:srgbClr val="2B2B2B"/>
                </a:solidFill>
                <a:latin typeface="Times New Roman" pitchFamily="34" charset="0"/>
                <a:ea typeface="Times New Roman" pitchFamily="34" charset="-122"/>
                <a:cs typeface="Times New Roman" pitchFamily="34" charset="-120"/>
              </a:rPr>
              <a:t>Every table checked before go-live</a:t>
            </a:r>
            <a:endParaRPr lang="en-US" sz="1800" dirty="0"/>
          </a:p>
        </p:txBody>
      </p:sp>
      <p:sp>
        <p:nvSpPr>
          <p:cNvPr id="8" name="Shape 6"/>
          <p:cNvSpPr/>
          <p:nvPr/>
        </p:nvSpPr>
        <p:spPr>
          <a:xfrm>
            <a:off x="6419088" y="2240280"/>
            <a:ext cx="4937760" cy="1417320"/>
          </a:xfrm>
          <a:prstGeom prst="roundRect">
            <a:avLst>
              <a:gd name="adj" fmla="val 3871"/>
            </a:avLst>
          </a:prstGeom>
          <a:solidFill>
            <a:srgbClr val="FFFFFF"/>
          </a:solidFill>
          <a:ln w="12700">
            <a:solidFill>
              <a:srgbClr val="D2DCE6"/>
            </a:solidFill>
            <a:prstDash val="solid"/>
          </a:ln>
        </p:spPr>
      </p:sp>
      <p:sp>
        <p:nvSpPr>
          <p:cNvPr id="9" name="Shape 7"/>
          <p:cNvSpPr/>
          <p:nvPr/>
        </p:nvSpPr>
        <p:spPr>
          <a:xfrm>
            <a:off x="6419088" y="2240280"/>
            <a:ext cx="4937760" cy="118872"/>
          </a:xfrm>
          <a:prstGeom prst="rect">
            <a:avLst/>
          </a:prstGeom>
          <a:solidFill>
            <a:srgbClr val="E97132"/>
          </a:solidFill>
          <a:ln w="12700">
            <a:solidFill>
              <a:srgbClr val="333333"/>
            </a:solidFill>
            <a:prstDash val="solid"/>
          </a:ln>
        </p:spPr>
      </p:sp>
      <p:sp>
        <p:nvSpPr>
          <p:cNvPr id="10" name="Text 8"/>
          <p:cNvSpPr/>
          <p:nvPr/>
        </p:nvSpPr>
        <p:spPr>
          <a:xfrm>
            <a:off x="6711696" y="2496312"/>
            <a:ext cx="4389120" cy="457200"/>
          </a:xfrm>
          <a:prstGeom prst="rect">
            <a:avLst/>
          </a:prstGeom>
          <a:noFill/>
          <a:ln/>
        </p:spPr>
        <p:txBody>
          <a:bodyPr wrap="square" lIns="0" tIns="0" rIns="0" bIns="0" rtlCol="0" anchor="ctr"/>
          <a:lstStyle/>
          <a:p>
            <a:pPr marL="0" indent="0">
              <a:buNone/>
            </a:pPr>
            <a:r>
              <a:rPr lang="en-US" sz="2200" b="1" dirty="0">
                <a:solidFill>
                  <a:srgbClr val="E97132"/>
                </a:solidFill>
                <a:latin typeface="Times New Roman" pitchFamily="34" charset="0"/>
                <a:ea typeface="Times New Roman" pitchFamily="34" charset="-122"/>
                <a:cs typeface="Times New Roman" pitchFamily="34" charset="-120"/>
              </a:rPr>
              <a:t>ERP catalogs</a:t>
            </a:r>
            <a:endParaRPr lang="en-US" sz="2200" dirty="0"/>
          </a:p>
        </p:txBody>
      </p:sp>
      <p:sp>
        <p:nvSpPr>
          <p:cNvPr id="11" name="Text 9"/>
          <p:cNvSpPr/>
          <p:nvPr/>
        </p:nvSpPr>
        <p:spPr>
          <a:xfrm>
            <a:off x="6711696" y="2990088"/>
            <a:ext cx="4389120" cy="457200"/>
          </a:xfrm>
          <a:prstGeom prst="rect">
            <a:avLst/>
          </a:prstGeom>
          <a:noFill/>
          <a:ln/>
        </p:spPr>
        <p:txBody>
          <a:bodyPr wrap="square" lIns="0" tIns="0" rIns="0" bIns="0" rtlCol="0" anchor="ctr"/>
          <a:lstStyle/>
          <a:p>
            <a:pPr marL="0" indent="0">
              <a:buNone/>
            </a:pPr>
            <a:r>
              <a:rPr lang="en-US" sz="1800" dirty="0">
                <a:solidFill>
                  <a:srgbClr val="2B2B2B"/>
                </a:solidFill>
                <a:latin typeface="Times New Roman" pitchFamily="34" charset="0"/>
                <a:ea typeface="Times New Roman" pitchFamily="34" charset="-122"/>
                <a:cs typeface="Times New Roman" pitchFamily="34" charset="-120"/>
              </a:rPr>
              <a:t>Price changes touch exactly one row</a:t>
            </a:r>
            <a:endParaRPr lang="en-US" sz="1800" dirty="0"/>
          </a:p>
        </p:txBody>
      </p:sp>
      <p:sp>
        <p:nvSpPr>
          <p:cNvPr id="12" name="Shape 10"/>
          <p:cNvSpPr/>
          <p:nvPr/>
        </p:nvSpPr>
        <p:spPr>
          <a:xfrm>
            <a:off x="841248" y="3840480"/>
            <a:ext cx="4937760" cy="1417320"/>
          </a:xfrm>
          <a:prstGeom prst="roundRect">
            <a:avLst>
              <a:gd name="adj" fmla="val 3871"/>
            </a:avLst>
          </a:prstGeom>
          <a:solidFill>
            <a:srgbClr val="FFFFFF"/>
          </a:solidFill>
          <a:ln w="12700">
            <a:solidFill>
              <a:srgbClr val="D2DCE6"/>
            </a:solidFill>
            <a:prstDash val="solid"/>
          </a:ln>
        </p:spPr>
      </p:sp>
      <p:sp>
        <p:nvSpPr>
          <p:cNvPr id="13" name="Shape 11"/>
          <p:cNvSpPr/>
          <p:nvPr/>
        </p:nvSpPr>
        <p:spPr>
          <a:xfrm>
            <a:off x="841248" y="3840480"/>
            <a:ext cx="4937760" cy="118872"/>
          </a:xfrm>
          <a:prstGeom prst="rect">
            <a:avLst/>
          </a:prstGeom>
          <a:solidFill>
            <a:srgbClr val="196B24"/>
          </a:solidFill>
          <a:ln w="12700">
            <a:solidFill>
              <a:srgbClr val="333333"/>
            </a:solidFill>
            <a:prstDash val="solid"/>
          </a:ln>
        </p:spPr>
      </p:sp>
      <p:sp>
        <p:nvSpPr>
          <p:cNvPr id="14" name="Text 12"/>
          <p:cNvSpPr/>
          <p:nvPr/>
        </p:nvSpPr>
        <p:spPr>
          <a:xfrm>
            <a:off x="1133856" y="4096512"/>
            <a:ext cx="4389120" cy="457200"/>
          </a:xfrm>
          <a:prstGeom prst="rect">
            <a:avLst/>
          </a:prstGeom>
          <a:noFill/>
          <a:ln/>
        </p:spPr>
        <p:txBody>
          <a:bodyPr wrap="square" lIns="0" tIns="0" rIns="0" bIns="0" rtlCol="0" anchor="ctr"/>
          <a:lstStyle/>
          <a:p>
            <a:pPr marL="0" indent="0">
              <a:buNone/>
            </a:pPr>
            <a:r>
              <a:rPr lang="en-US" sz="2200" b="1" dirty="0">
                <a:solidFill>
                  <a:srgbClr val="196B24"/>
                </a:solidFill>
                <a:latin typeface="Times New Roman" pitchFamily="34" charset="0"/>
                <a:ea typeface="Times New Roman" pitchFamily="34" charset="-122"/>
                <a:cs typeface="Times New Roman" pitchFamily="34" charset="-120"/>
              </a:rPr>
              <a:t>Data migration</a:t>
            </a:r>
            <a:endParaRPr lang="en-US" sz="2200" dirty="0"/>
          </a:p>
        </p:txBody>
      </p:sp>
      <p:sp>
        <p:nvSpPr>
          <p:cNvPr id="15" name="Text 13"/>
          <p:cNvSpPr/>
          <p:nvPr/>
        </p:nvSpPr>
        <p:spPr>
          <a:xfrm>
            <a:off x="1133856" y="4590288"/>
            <a:ext cx="4389120" cy="457200"/>
          </a:xfrm>
          <a:prstGeom prst="rect">
            <a:avLst/>
          </a:prstGeom>
          <a:noFill/>
          <a:ln/>
        </p:spPr>
        <p:txBody>
          <a:bodyPr wrap="square" lIns="0" tIns="0" rIns="0" bIns="0" rtlCol="0" anchor="ctr"/>
          <a:lstStyle/>
          <a:p>
            <a:pPr marL="0" indent="0">
              <a:buNone/>
            </a:pPr>
            <a:r>
              <a:rPr lang="en-US" sz="1800" dirty="0">
                <a:solidFill>
                  <a:srgbClr val="2B2B2B"/>
                </a:solidFill>
                <a:latin typeface="Times New Roman" pitchFamily="34" charset="0"/>
                <a:ea typeface="Times New Roman" pitchFamily="34" charset="-122"/>
                <a:cs typeface="Times New Roman" pitchFamily="34" charset="-120"/>
              </a:rPr>
              <a:t>Flatten, then split, then load</a:t>
            </a:r>
            <a:endParaRPr lang="en-US" sz="1800" dirty="0"/>
          </a:p>
        </p:txBody>
      </p:sp>
      <p:sp>
        <p:nvSpPr>
          <p:cNvPr id="16" name="Shape 14"/>
          <p:cNvSpPr/>
          <p:nvPr/>
        </p:nvSpPr>
        <p:spPr>
          <a:xfrm>
            <a:off x="6419088" y="3840480"/>
            <a:ext cx="4937760" cy="1417320"/>
          </a:xfrm>
          <a:prstGeom prst="roundRect">
            <a:avLst>
              <a:gd name="adj" fmla="val 3871"/>
            </a:avLst>
          </a:prstGeom>
          <a:solidFill>
            <a:srgbClr val="FFFFFF"/>
          </a:solidFill>
          <a:ln w="12700">
            <a:solidFill>
              <a:srgbClr val="D2DCE6"/>
            </a:solidFill>
            <a:prstDash val="solid"/>
          </a:ln>
        </p:spPr>
      </p:sp>
      <p:sp>
        <p:nvSpPr>
          <p:cNvPr id="17" name="Shape 15"/>
          <p:cNvSpPr/>
          <p:nvPr/>
        </p:nvSpPr>
        <p:spPr>
          <a:xfrm>
            <a:off x="6419088" y="3840480"/>
            <a:ext cx="4937760" cy="118872"/>
          </a:xfrm>
          <a:prstGeom prst="rect">
            <a:avLst/>
          </a:prstGeom>
          <a:solidFill>
            <a:srgbClr val="A02B93"/>
          </a:solidFill>
          <a:ln w="12700">
            <a:solidFill>
              <a:srgbClr val="333333"/>
            </a:solidFill>
            <a:prstDash val="solid"/>
          </a:ln>
        </p:spPr>
      </p:sp>
      <p:sp>
        <p:nvSpPr>
          <p:cNvPr id="18" name="Text 16"/>
          <p:cNvSpPr/>
          <p:nvPr/>
        </p:nvSpPr>
        <p:spPr>
          <a:xfrm>
            <a:off x="6711696" y="4096512"/>
            <a:ext cx="4389120" cy="457200"/>
          </a:xfrm>
          <a:prstGeom prst="rect">
            <a:avLst/>
          </a:prstGeom>
          <a:noFill/>
          <a:ln/>
        </p:spPr>
        <p:txBody>
          <a:bodyPr wrap="square" lIns="0" tIns="0" rIns="0" bIns="0" rtlCol="0" anchor="ctr"/>
          <a:lstStyle/>
          <a:p>
            <a:pPr marL="0" indent="0">
              <a:buNone/>
            </a:pPr>
            <a:r>
              <a:rPr lang="en-US" sz="2200" b="1" dirty="0">
                <a:solidFill>
                  <a:srgbClr val="A02B93"/>
                </a:solidFill>
                <a:latin typeface="Times New Roman" pitchFamily="34" charset="0"/>
                <a:ea typeface="Times New Roman" pitchFamily="34" charset="-122"/>
                <a:cs typeface="Times New Roman" pitchFamily="34" charset="-120"/>
              </a:rPr>
              <a:t>Interviews</a:t>
            </a:r>
            <a:endParaRPr lang="en-US" sz="2200" dirty="0"/>
          </a:p>
        </p:txBody>
      </p:sp>
      <p:sp>
        <p:nvSpPr>
          <p:cNvPr id="19" name="Text 17"/>
          <p:cNvSpPr/>
          <p:nvPr/>
        </p:nvSpPr>
        <p:spPr>
          <a:xfrm>
            <a:off x="6711696" y="4590288"/>
            <a:ext cx="4389120" cy="457200"/>
          </a:xfrm>
          <a:prstGeom prst="rect">
            <a:avLst/>
          </a:prstGeom>
          <a:noFill/>
          <a:ln/>
        </p:spPr>
        <p:txBody>
          <a:bodyPr wrap="square" lIns="0" tIns="0" rIns="0" bIns="0" rtlCol="0" anchor="ctr"/>
          <a:lstStyle/>
          <a:p>
            <a:pPr marL="0" indent="0">
              <a:buNone/>
            </a:pPr>
            <a:r>
              <a:rPr lang="en-US" sz="1800" dirty="0">
                <a:solidFill>
                  <a:srgbClr val="2B2B2B"/>
                </a:solidFill>
                <a:latin typeface="Times New Roman" pitchFamily="34" charset="0"/>
                <a:ea typeface="Times New Roman" pitchFamily="34" charset="-122"/>
                <a:cs typeface="Times New Roman" pitchFamily="34" charset="-120"/>
              </a:rPr>
              <a:t>Diagnose from the clue, out loud</a:t>
            </a:r>
            <a:endParaRPr lang="en-US" sz="1800" dirty="0"/>
          </a:p>
        </p:txBody>
      </p:sp>
      <p:sp>
        <p:nvSpPr>
          <p:cNvPr id="20" name="Shape 18"/>
          <p:cNvSpPr/>
          <p:nvPr/>
        </p:nvSpPr>
        <p:spPr>
          <a:xfrm>
            <a:off x="841248" y="5623560"/>
            <a:ext cx="10515600" cy="548640"/>
          </a:xfrm>
          <a:prstGeom prst="roundRect">
            <a:avLst>
              <a:gd name="adj" fmla="val 13333"/>
            </a:avLst>
          </a:prstGeom>
          <a:solidFill>
            <a:srgbClr val="E8EFF4"/>
          </a:solidFill>
          <a:ln w="12700">
            <a:solidFill>
              <a:srgbClr val="333333"/>
            </a:solidFill>
            <a:prstDash val="solid"/>
          </a:ln>
        </p:spPr>
      </p:sp>
      <p:sp>
        <p:nvSpPr>
          <p:cNvPr id="21" name="Text 19"/>
          <p:cNvSpPr/>
          <p:nvPr/>
        </p:nvSpPr>
        <p:spPr>
          <a:xfrm>
            <a:off x="841248" y="5623560"/>
            <a:ext cx="10515600" cy="548640"/>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Normalise for correctness first; denormalise later only where measurements demand it</a:t>
            </a:r>
            <a:endParaRPr lang="en-US" sz="1800" dirty="0"/>
          </a:p>
        </p:txBody>
      </p:sp>
      <p:pic>
        <p:nvPicPr>
          <p:cNvPr id="23" name="Image 0" descr="s1_unpacked/ppt/media/image5.png">
            <a:extLst>
              <a:ext uri="{FF2B5EF4-FFF2-40B4-BE49-F238E27FC236}">
                <a16:creationId xmlns:a16="http://schemas.microsoft.com/office/drawing/2014/main" id="{0892FBDD-9A8E-5B86-D20B-8E58C0D53CAF}"/>
              </a:ext>
            </a:extLst>
          </p:cNvPr>
          <p:cNvPicPr>
            <a:picLocks noChangeAspect="1"/>
          </p:cNvPicPr>
          <p:nvPr/>
        </p:nvPicPr>
        <p:blipFill>
          <a:blip r:embed="rId3"/>
          <a:stretch>
            <a:fillRect/>
          </a:stretch>
        </p:blipFill>
        <p:spPr>
          <a:xfrm>
            <a:off x="9646920" y="256032"/>
            <a:ext cx="2240280" cy="3200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Think – Pair – Share</a:t>
            </a:r>
            <a:endParaRPr lang="en-US" sz="3600" dirty="0"/>
          </a:p>
        </p:txBody>
      </p:sp>
      <p:sp>
        <p:nvSpPr>
          <p:cNvPr id="3" name="Shape 1"/>
          <p:cNvSpPr/>
          <p:nvPr/>
        </p:nvSpPr>
        <p:spPr>
          <a:xfrm>
            <a:off x="841248" y="1737360"/>
            <a:ext cx="10515600" cy="1005840"/>
          </a:xfrm>
          <a:prstGeom prst="roundRect">
            <a:avLst>
              <a:gd name="adj" fmla="val 5455"/>
            </a:avLst>
          </a:prstGeom>
          <a:solidFill>
            <a:srgbClr val="F2F6FA"/>
          </a:solidFill>
          <a:ln w="12700">
            <a:solidFill>
              <a:srgbClr val="F2F6FA"/>
            </a:solidFill>
            <a:prstDash val="solid"/>
          </a:ln>
        </p:spPr>
      </p:sp>
      <p:sp>
        <p:nvSpPr>
          <p:cNvPr id="4" name="Shape 2"/>
          <p:cNvSpPr/>
          <p:nvPr/>
        </p:nvSpPr>
        <p:spPr>
          <a:xfrm>
            <a:off x="841248" y="1737360"/>
            <a:ext cx="91440" cy="1005840"/>
          </a:xfrm>
          <a:prstGeom prst="rect">
            <a:avLst/>
          </a:prstGeom>
          <a:solidFill>
            <a:srgbClr val="E97132"/>
          </a:solidFill>
          <a:ln w="12700">
            <a:solidFill>
              <a:srgbClr val="333333"/>
            </a:solidFill>
            <a:prstDash val="solid"/>
          </a:ln>
        </p:spPr>
      </p:sp>
      <p:sp>
        <p:nvSpPr>
          <p:cNvPr id="5" name="Text 3"/>
          <p:cNvSpPr/>
          <p:nvPr/>
        </p:nvSpPr>
        <p:spPr>
          <a:xfrm>
            <a:off x="1133856" y="1737360"/>
            <a:ext cx="9966960" cy="1005840"/>
          </a:xfrm>
          <a:prstGeom prst="rect">
            <a:avLst/>
          </a:prstGeom>
          <a:noFill/>
          <a:ln/>
        </p:spPr>
        <p:txBody>
          <a:bodyPr wrap="square" lIns="0" tIns="0" rIns="0" bIns="0" rtlCol="0" anchor="ctr"/>
          <a:lstStyle/>
          <a:p>
            <a:pPr marL="0" indent="0">
              <a:buNone/>
            </a:pPr>
            <a:r>
              <a:rPr lang="en-US" sz="2200" dirty="0">
                <a:solidFill>
                  <a:srgbClr val="0E2841"/>
                </a:solidFill>
                <a:latin typeface="Times New Roman" pitchFamily="34" charset="0"/>
                <a:ea typeface="Times New Roman" pitchFamily="34" charset="-122"/>
                <a:cs typeface="Times New Roman" pitchFamily="34" charset="-120"/>
              </a:rPr>
              <a:t>A table is in 3NF but still fails BCNF. Why does 3NF let this through?</a:t>
            </a:r>
            <a:endParaRPr lang="en-US" sz="2200" dirty="0"/>
          </a:p>
        </p:txBody>
      </p:sp>
      <p:sp>
        <p:nvSpPr>
          <p:cNvPr id="6" name="Shape 4"/>
          <p:cNvSpPr/>
          <p:nvPr/>
        </p:nvSpPr>
        <p:spPr>
          <a:xfrm>
            <a:off x="841248" y="3017520"/>
            <a:ext cx="3264408" cy="1737360"/>
          </a:xfrm>
          <a:prstGeom prst="roundRect">
            <a:avLst>
              <a:gd name="adj" fmla="val 3158"/>
            </a:avLst>
          </a:prstGeom>
          <a:solidFill>
            <a:srgbClr val="FFFFFF"/>
          </a:solidFill>
          <a:ln w="12700">
            <a:solidFill>
              <a:srgbClr val="D2DCE6"/>
            </a:solidFill>
            <a:prstDash val="solid"/>
          </a:ln>
        </p:spPr>
      </p:sp>
      <p:sp>
        <p:nvSpPr>
          <p:cNvPr id="7" name="Shape 5"/>
          <p:cNvSpPr/>
          <p:nvPr/>
        </p:nvSpPr>
        <p:spPr>
          <a:xfrm>
            <a:off x="1115568" y="3291840"/>
            <a:ext cx="603504" cy="603504"/>
          </a:xfrm>
          <a:prstGeom prst="roundRect">
            <a:avLst>
              <a:gd name="adj" fmla="val 15152"/>
            </a:avLst>
          </a:prstGeom>
          <a:solidFill>
            <a:srgbClr val="156082"/>
          </a:solidFill>
          <a:ln w="12700">
            <a:solidFill>
              <a:srgbClr val="333333"/>
            </a:solidFill>
            <a:prstDash val="solid"/>
          </a:ln>
        </p:spPr>
      </p:sp>
      <p:sp>
        <p:nvSpPr>
          <p:cNvPr id="8" name="Text 6"/>
          <p:cNvSpPr/>
          <p:nvPr/>
        </p:nvSpPr>
        <p:spPr>
          <a:xfrm>
            <a:off x="1115568" y="3291840"/>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1</a:t>
            </a:r>
            <a:endParaRPr lang="en-US" sz="2100" dirty="0"/>
          </a:p>
        </p:txBody>
      </p:sp>
      <p:sp>
        <p:nvSpPr>
          <p:cNvPr id="9" name="Text 7"/>
          <p:cNvSpPr/>
          <p:nvPr/>
        </p:nvSpPr>
        <p:spPr>
          <a:xfrm>
            <a:off x="1115568" y="4023360"/>
            <a:ext cx="2743200" cy="411480"/>
          </a:xfrm>
          <a:prstGeom prst="rect">
            <a:avLst/>
          </a:prstGeom>
          <a:noFill/>
          <a:ln/>
        </p:spPr>
        <p:txBody>
          <a:bodyPr wrap="square" lIns="0" tIns="0" rIns="0" bIns="0" rtlCol="0" anchor="ctr"/>
          <a:lstStyle/>
          <a:p>
            <a:pPr marL="0" indent="0">
              <a:buNone/>
            </a:pPr>
            <a:r>
              <a:rPr lang="en-US" sz="2200" b="1" dirty="0">
                <a:solidFill>
                  <a:srgbClr val="156082"/>
                </a:solidFill>
                <a:latin typeface="Times New Roman" pitchFamily="34" charset="0"/>
                <a:ea typeface="Times New Roman" pitchFamily="34" charset="-122"/>
                <a:cs typeface="Times New Roman" pitchFamily="34" charset="-120"/>
              </a:rPr>
              <a:t>Think</a:t>
            </a:r>
            <a:endParaRPr lang="en-US" sz="2200" dirty="0"/>
          </a:p>
        </p:txBody>
      </p:sp>
      <p:sp>
        <p:nvSpPr>
          <p:cNvPr id="10" name="Text 8"/>
          <p:cNvSpPr/>
          <p:nvPr/>
        </p:nvSpPr>
        <p:spPr>
          <a:xfrm>
            <a:off x="1115568" y="4389120"/>
            <a:ext cx="2743200" cy="365760"/>
          </a:xfrm>
          <a:prstGeom prst="rect">
            <a:avLst/>
          </a:prstGeom>
          <a:noFill/>
          <a:ln/>
        </p:spPr>
        <p:txBody>
          <a:bodyPr wrap="square" lIns="0" tIns="0" rIns="0" bIns="0" rtlCol="0" anchor="ctr"/>
          <a:lstStyle/>
          <a:p>
            <a:pPr marL="0" indent="0">
              <a:buNone/>
            </a:pPr>
            <a:r>
              <a:rPr lang="en-US" sz="1800" dirty="0">
                <a:solidFill>
                  <a:srgbClr val="5A6472"/>
                </a:solidFill>
                <a:latin typeface="Times New Roman" pitchFamily="34" charset="0"/>
                <a:ea typeface="Times New Roman" pitchFamily="34" charset="-122"/>
                <a:cs typeface="Times New Roman" pitchFamily="34" charset="-120"/>
              </a:rPr>
              <a:t>On your own</a:t>
            </a:r>
            <a:endParaRPr lang="en-US" sz="1800" dirty="0"/>
          </a:p>
        </p:txBody>
      </p:sp>
      <p:sp>
        <p:nvSpPr>
          <p:cNvPr id="11" name="Shape 9"/>
          <p:cNvSpPr/>
          <p:nvPr/>
        </p:nvSpPr>
        <p:spPr>
          <a:xfrm>
            <a:off x="4471416" y="3017520"/>
            <a:ext cx="3264408" cy="1737360"/>
          </a:xfrm>
          <a:prstGeom prst="roundRect">
            <a:avLst>
              <a:gd name="adj" fmla="val 3158"/>
            </a:avLst>
          </a:prstGeom>
          <a:solidFill>
            <a:srgbClr val="FFFFFF"/>
          </a:solidFill>
          <a:ln w="12700">
            <a:solidFill>
              <a:srgbClr val="D2DCE6"/>
            </a:solidFill>
            <a:prstDash val="solid"/>
          </a:ln>
        </p:spPr>
      </p:sp>
      <p:sp>
        <p:nvSpPr>
          <p:cNvPr id="12" name="Shape 10"/>
          <p:cNvSpPr/>
          <p:nvPr/>
        </p:nvSpPr>
        <p:spPr>
          <a:xfrm>
            <a:off x="4745736" y="3291840"/>
            <a:ext cx="603504" cy="603504"/>
          </a:xfrm>
          <a:prstGeom prst="roundRect">
            <a:avLst>
              <a:gd name="adj" fmla="val 15152"/>
            </a:avLst>
          </a:prstGeom>
          <a:solidFill>
            <a:srgbClr val="E97132"/>
          </a:solidFill>
          <a:ln w="12700">
            <a:solidFill>
              <a:srgbClr val="333333"/>
            </a:solidFill>
            <a:prstDash val="solid"/>
          </a:ln>
        </p:spPr>
      </p:sp>
      <p:sp>
        <p:nvSpPr>
          <p:cNvPr id="13" name="Text 11"/>
          <p:cNvSpPr/>
          <p:nvPr/>
        </p:nvSpPr>
        <p:spPr>
          <a:xfrm>
            <a:off x="4745736" y="3291840"/>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2</a:t>
            </a:r>
            <a:endParaRPr lang="en-US" sz="2100" dirty="0"/>
          </a:p>
        </p:txBody>
      </p:sp>
      <p:sp>
        <p:nvSpPr>
          <p:cNvPr id="14" name="Text 12"/>
          <p:cNvSpPr/>
          <p:nvPr/>
        </p:nvSpPr>
        <p:spPr>
          <a:xfrm>
            <a:off x="4745736" y="4023360"/>
            <a:ext cx="2743200" cy="411480"/>
          </a:xfrm>
          <a:prstGeom prst="rect">
            <a:avLst/>
          </a:prstGeom>
          <a:noFill/>
          <a:ln/>
        </p:spPr>
        <p:txBody>
          <a:bodyPr wrap="square" lIns="0" tIns="0" rIns="0" bIns="0" rtlCol="0" anchor="ctr"/>
          <a:lstStyle/>
          <a:p>
            <a:pPr marL="0" indent="0">
              <a:buNone/>
            </a:pPr>
            <a:r>
              <a:rPr lang="en-US" sz="2200" b="1" dirty="0">
                <a:solidFill>
                  <a:srgbClr val="E97132"/>
                </a:solidFill>
                <a:latin typeface="Times New Roman" pitchFamily="34" charset="0"/>
                <a:ea typeface="Times New Roman" pitchFamily="34" charset="-122"/>
                <a:cs typeface="Times New Roman" pitchFamily="34" charset="-120"/>
              </a:rPr>
              <a:t>Pair</a:t>
            </a:r>
            <a:endParaRPr lang="en-US" sz="2200" dirty="0"/>
          </a:p>
        </p:txBody>
      </p:sp>
      <p:sp>
        <p:nvSpPr>
          <p:cNvPr id="15" name="Text 13"/>
          <p:cNvSpPr/>
          <p:nvPr/>
        </p:nvSpPr>
        <p:spPr>
          <a:xfrm>
            <a:off x="4745736" y="4389120"/>
            <a:ext cx="2743200" cy="365760"/>
          </a:xfrm>
          <a:prstGeom prst="rect">
            <a:avLst/>
          </a:prstGeom>
          <a:noFill/>
          <a:ln/>
        </p:spPr>
        <p:txBody>
          <a:bodyPr wrap="square" lIns="0" tIns="0" rIns="0" bIns="0" rtlCol="0" anchor="ctr"/>
          <a:lstStyle/>
          <a:p>
            <a:pPr marL="0" indent="0">
              <a:buNone/>
            </a:pPr>
            <a:r>
              <a:rPr lang="en-US" sz="1800" dirty="0">
                <a:solidFill>
                  <a:srgbClr val="5A6472"/>
                </a:solidFill>
                <a:latin typeface="Times New Roman" pitchFamily="34" charset="0"/>
                <a:ea typeface="Times New Roman" pitchFamily="34" charset="-122"/>
                <a:cs typeface="Times New Roman" pitchFamily="34" charset="-120"/>
              </a:rPr>
              <a:t>With a neighbour</a:t>
            </a:r>
            <a:endParaRPr lang="en-US" sz="1800" dirty="0"/>
          </a:p>
        </p:txBody>
      </p:sp>
      <p:sp>
        <p:nvSpPr>
          <p:cNvPr id="16" name="Shape 14"/>
          <p:cNvSpPr/>
          <p:nvPr/>
        </p:nvSpPr>
        <p:spPr>
          <a:xfrm>
            <a:off x="8101584" y="3017520"/>
            <a:ext cx="3264408" cy="1737360"/>
          </a:xfrm>
          <a:prstGeom prst="roundRect">
            <a:avLst>
              <a:gd name="adj" fmla="val 3158"/>
            </a:avLst>
          </a:prstGeom>
          <a:solidFill>
            <a:srgbClr val="FFFFFF"/>
          </a:solidFill>
          <a:ln w="12700">
            <a:solidFill>
              <a:srgbClr val="D2DCE6"/>
            </a:solidFill>
            <a:prstDash val="solid"/>
          </a:ln>
        </p:spPr>
      </p:sp>
      <p:sp>
        <p:nvSpPr>
          <p:cNvPr id="17" name="Shape 15"/>
          <p:cNvSpPr/>
          <p:nvPr/>
        </p:nvSpPr>
        <p:spPr>
          <a:xfrm>
            <a:off x="8375904" y="3291840"/>
            <a:ext cx="603504" cy="603504"/>
          </a:xfrm>
          <a:prstGeom prst="roundRect">
            <a:avLst>
              <a:gd name="adj" fmla="val 15152"/>
            </a:avLst>
          </a:prstGeom>
          <a:solidFill>
            <a:srgbClr val="196B24"/>
          </a:solidFill>
          <a:ln w="12700">
            <a:solidFill>
              <a:srgbClr val="333333"/>
            </a:solidFill>
            <a:prstDash val="solid"/>
          </a:ln>
        </p:spPr>
      </p:sp>
      <p:sp>
        <p:nvSpPr>
          <p:cNvPr id="18" name="Text 16"/>
          <p:cNvSpPr/>
          <p:nvPr/>
        </p:nvSpPr>
        <p:spPr>
          <a:xfrm>
            <a:off x="8375904" y="3291840"/>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3</a:t>
            </a:r>
            <a:endParaRPr lang="en-US" sz="2100" dirty="0"/>
          </a:p>
        </p:txBody>
      </p:sp>
      <p:sp>
        <p:nvSpPr>
          <p:cNvPr id="19" name="Text 17"/>
          <p:cNvSpPr/>
          <p:nvPr/>
        </p:nvSpPr>
        <p:spPr>
          <a:xfrm>
            <a:off x="8375904" y="4023360"/>
            <a:ext cx="2743200" cy="411480"/>
          </a:xfrm>
          <a:prstGeom prst="rect">
            <a:avLst/>
          </a:prstGeom>
          <a:noFill/>
          <a:ln/>
        </p:spPr>
        <p:txBody>
          <a:bodyPr wrap="square" lIns="0" tIns="0" rIns="0" bIns="0" rtlCol="0" anchor="ctr"/>
          <a:lstStyle/>
          <a:p>
            <a:pPr marL="0" indent="0">
              <a:buNone/>
            </a:pPr>
            <a:r>
              <a:rPr lang="en-US" sz="2200" b="1" dirty="0">
                <a:solidFill>
                  <a:srgbClr val="196B24"/>
                </a:solidFill>
                <a:latin typeface="Times New Roman" pitchFamily="34" charset="0"/>
                <a:ea typeface="Times New Roman" pitchFamily="34" charset="-122"/>
                <a:cs typeface="Times New Roman" pitchFamily="34" charset="-120"/>
              </a:rPr>
              <a:t>Share</a:t>
            </a:r>
            <a:endParaRPr lang="en-US" sz="2200" dirty="0"/>
          </a:p>
        </p:txBody>
      </p:sp>
      <p:sp>
        <p:nvSpPr>
          <p:cNvPr id="20" name="Text 18"/>
          <p:cNvSpPr/>
          <p:nvPr/>
        </p:nvSpPr>
        <p:spPr>
          <a:xfrm>
            <a:off x="8375904" y="4389120"/>
            <a:ext cx="2743200" cy="365760"/>
          </a:xfrm>
          <a:prstGeom prst="rect">
            <a:avLst/>
          </a:prstGeom>
          <a:noFill/>
          <a:ln/>
        </p:spPr>
        <p:txBody>
          <a:bodyPr wrap="square" lIns="0" tIns="0" rIns="0" bIns="0" rtlCol="0" anchor="ctr"/>
          <a:lstStyle/>
          <a:p>
            <a:pPr marL="0" indent="0">
              <a:buNone/>
            </a:pPr>
            <a:r>
              <a:rPr lang="en-US" sz="1800" dirty="0">
                <a:solidFill>
                  <a:srgbClr val="5A6472"/>
                </a:solidFill>
                <a:latin typeface="Times New Roman" pitchFamily="34" charset="0"/>
                <a:ea typeface="Times New Roman" pitchFamily="34" charset="-122"/>
                <a:cs typeface="Times New Roman" pitchFamily="34" charset="-120"/>
              </a:rPr>
              <a:t>With the class</a:t>
            </a:r>
            <a:endParaRPr lang="en-US" sz="1800" dirty="0"/>
          </a:p>
        </p:txBody>
      </p:sp>
      <p:sp>
        <p:nvSpPr>
          <p:cNvPr id="21" name="Shape 19"/>
          <p:cNvSpPr/>
          <p:nvPr/>
        </p:nvSpPr>
        <p:spPr>
          <a:xfrm>
            <a:off x="841248" y="5074920"/>
            <a:ext cx="10515600" cy="548640"/>
          </a:xfrm>
          <a:prstGeom prst="roundRect">
            <a:avLst>
              <a:gd name="adj" fmla="val 13333"/>
            </a:avLst>
          </a:prstGeom>
          <a:solidFill>
            <a:srgbClr val="E8EFF4"/>
          </a:solidFill>
          <a:ln w="12700">
            <a:solidFill>
              <a:srgbClr val="333333"/>
            </a:solidFill>
            <a:prstDash val="solid"/>
          </a:ln>
        </p:spPr>
      </p:sp>
      <p:sp>
        <p:nvSpPr>
          <p:cNvPr id="22" name="Text 20"/>
          <p:cNvSpPr/>
          <p:nvPr/>
        </p:nvSpPr>
        <p:spPr>
          <a:xfrm>
            <a:off x="841248" y="5074920"/>
            <a:ext cx="10515600" cy="548640"/>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One minute alone · two in pairs · two sharing</a:t>
            </a:r>
            <a:endParaRPr lang="en-US" sz="1800" dirty="0"/>
          </a:p>
        </p:txBody>
      </p:sp>
      <p:pic>
        <p:nvPicPr>
          <p:cNvPr id="24" name="Image 0" descr="s1_unpacked/ppt/media/image5.png">
            <a:extLst>
              <a:ext uri="{FF2B5EF4-FFF2-40B4-BE49-F238E27FC236}">
                <a16:creationId xmlns:a16="http://schemas.microsoft.com/office/drawing/2014/main" id="{9E4F8BA7-0D79-BC80-E92A-19734198E28A}"/>
              </a:ext>
            </a:extLst>
          </p:cNvPr>
          <p:cNvPicPr>
            <a:picLocks noChangeAspect="1"/>
          </p:cNvPicPr>
          <p:nvPr/>
        </p:nvPicPr>
        <p:blipFill>
          <a:blip r:embed="rId3"/>
          <a:stretch>
            <a:fillRect/>
          </a:stretch>
        </p:blipFill>
        <p:spPr>
          <a:xfrm>
            <a:off x="9646920" y="256032"/>
            <a:ext cx="2240280" cy="3200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Check for Understanding</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E97132"/>
                </a:solidFill>
                <a:latin typeface="Times New Roman" pitchFamily="34" charset="0"/>
                <a:ea typeface="Times New Roman" pitchFamily="34" charset="-122"/>
                <a:cs typeface="Times New Roman" pitchFamily="34" charset="-120"/>
              </a:rPr>
              <a:t>True or False?</a:t>
            </a:r>
            <a:endParaRPr lang="en-US" sz="2400" dirty="0"/>
          </a:p>
        </p:txBody>
      </p:sp>
      <p:sp>
        <p:nvSpPr>
          <p:cNvPr id="4" name="Shape 2"/>
          <p:cNvSpPr/>
          <p:nvPr/>
        </p:nvSpPr>
        <p:spPr>
          <a:xfrm>
            <a:off x="841248" y="2331720"/>
            <a:ext cx="10515600" cy="1005840"/>
          </a:xfrm>
          <a:prstGeom prst="roundRect">
            <a:avLst>
              <a:gd name="adj" fmla="val 5455"/>
            </a:avLst>
          </a:prstGeom>
          <a:solidFill>
            <a:srgbClr val="F2F6FA"/>
          </a:solidFill>
          <a:ln w="12700">
            <a:solidFill>
              <a:srgbClr val="F2F6FA"/>
            </a:solidFill>
            <a:prstDash val="solid"/>
          </a:ln>
        </p:spPr>
      </p:sp>
      <p:sp>
        <p:nvSpPr>
          <p:cNvPr id="5" name="Shape 3"/>
          <p:cNvSpPr/>
          <p:nvPr/>
        </p:nvSpPr>
        <p:spPr>
          <a:xfrm>
            <a:off x="1115568" y="2532888"/>
            <a:ext cx="603504" cy="603504"/>
          </a:xfrm>
          <a:prstGeom prst="roundRect">
            <a:avLst>
              <a:gd name="adj" fmla="val 15152"/>
            </a:avLst>
          </a:prstGeom>
          <a:solidFill>
            <a:srgbClr val="156082"/>
          </a:solidFill>
          <a:ln w="12700">
            <a:solidFill>
              <a:srgbClr val="333333"/>
            </a:solidFill>
            <a:prstDash val="solid"/>
          </a:ln>
        </p:spPr>
      </p:sp>
      <p:sp>
        <p:nvSpPr>
          <p:cNvPr id="6" name="Text 4"/>
          <p:cNvSpPr/>
          <p:nvPr/>
        </p:nvSpPr>
        <p:spPr>
          <a:xfrm>
            <a:off x="1115568" y="2532888"/>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1</a:t>
            </a:r>
            <a:endParaRPr lang="en-US" sz="2100" dirty="0"/>
          </a:p>
        </p:txBody>
      </p:sp>
      <p:sp>
        <p:nvSpPr>
          <p:cNvPr id="7" name="Text 5"/>
          <p:cNvSpPr/>
          <p:nvPr/>
        </p:nvSpPr>
        <p:spPr>
          <a:xfrm>
            <a:off x="1938528" y="2331720"/>
            <a:ext cx="6126480" cy="1005840"/>
          </a:xfrm>
          <a:prstGeom prst="rect">
            <a:avLst/>
          </a:prstGeom>
          <a:noFill/>
          <a:ln/>
        </p:spPr>
        <p:txBody>
          <a:bodyPr wrap="square" lIns="0" tIns="0" rIns="0" bIns="0" rtlCol="0" anchor="ctr"/>
          <a:lstStyle/>
          <a:p>
            <a:pPr marL="0" indent="0">
              <a:buNone/>
            </a:pPr>
            <a:r>
              <a:rPr lang="en-US" sz="2000" dirty="0">
                <a:solidFill>
                  <a:srgbClr val="2B2B2B"/>
                </a:solidFill>
                <a:latin typeface="Times New Roman" pitchFamily="34" charset="0"/>
                <a:ea typeface="Times New Roman" pitchFamily="34" charset="-122"/>
                <a:cs typeface="Times New Roman" pitchFamily="34" charset="-120"/>
              </a:rPr>
              <a:t>A 3NF relation is always in BCNF</a:t>
            </a:r>
            <a:endParaRPr lang="en-US" sz="2000" dirty="0"/>
          </a:p>
        </p:txBody>
      </p:sp>
      <p:sp>
        <p:nvSpPr>
          <p:cNvPr id="8" name="Shape 6"/>
          <p:cNvSpPr/>
          <p:nvPr/>
        </p:nvSpPr>
        <p:spPr>
          <a:xfrm>
            <a:off x="8430768" y="2569464"/>
            <a:ext cx="1234440" cy="530352"/>
          </a:xfrm>
          <a:prstGeom prst="roundRect">
            <a:avLst>
              <a:gd name="adj" fmla="val 13793"/>
            </a:avLst>
          </a:prstGeom>
          <a:solidFill>
            <a:srgbClr val="E8EFF4"/>
          </a:solidFill>
          <a:ln w="12700">
            <a:solidFill>
              <a:srgbClr val="333333"/>
            </a:solidFill>
            <a:prstDash val="solid"/>
          </a:ln>
        </p:spPr>
      </p:sp>
      <p:sp>
        <p:nvSpPr>
          <p:cNvPr id="9" name="Text 7"/>
          <p:cNvSpPr/>
          <p:nvPr/>
        </p:nvSpPr>
        <p:spPr>
          <a:xfrm>
            <a:off x="8430768" y="2569464"/>
            <a:ext cx="1234440" cy="530352"/>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True</a:t>
            </a:r>
            <a:endParaRPr lang="en-US" sz="1800" dirty="0"/>
          </a:p>
        </p:txBody>
      </p:sp>
      <p:sp>
        <p:nvSpPr>
          <p:cNvPr id="10" name="Shape 8"/>
          <p:cNvSpPr/>
          <p:nvPr/>
        </p:nvSpPr>
        <p:spPr>
          <a:xfrm>
            <a:off x="9848088" y="2569464"/>
            <a:ext cx="1234440" cy="530352"/>
          </a:xfrm>
          <a:prstGeom prst="roundRect">
            <a:avLst>
              <a:gd name="adj" fmla="val 13793"/>
            </a:avLst>
          </a:prstGeom>
          <a:solidFill>
            <a:srgbClr val="E8EFF4"/>
          </a:solidFill>
          <a:ln w="12700">
            <a:solidFill>
              <a:srgbClr val="333333"/>
            </a:solidFill>
            <a:prstDash val="solid"/>
          </a:ln>
        </p:spPr>
      </p:sp>
      <p:sp>
        <p:nvSpPr>
          <p:cNvPr id="11" name="Text 9"/>
          <p:cNvSpPr/>
          <p:nvPr/>
        </p:nvSpPr>
        <p:spPr>
          <a:xfrm>
            <a:off x="9848088" y="2569464"/>
            <a:ext cx="1234440" cy="530352"/>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False</a:t>
            </a:r>
            <a:endParaRPr lang="en-US" sz="1800" dirty="0"/>
          </a:p>
        </p:txBody>
      </p:sp>
      <p:sp>
        <p:nvSpPr>
          <p:cNvPr id="12" name="Shape 10"/>
          <p:cNvSpPr/>
          <p:nvPr/>
        </p:nvSpPr>
        <p:spPr>
          <a:xfrm>
            <a:off x="841248" y="3502152"/>
            <a:ext cx="10515600" cy="1005840"/>
          </a:xfrm>
          <a:prstGeom prst="roundRect">
            <a:avLst>
              <a:gd name="adj" fmla="val 5455"/>
            </a:avLst>
          </a:prstGeom>
          <a:solidFill>
            <a:srgbClr val="F2F6FA"/>
          </a:solidFill>
          <a:ln w="12700">
            <a:solidFill>
              <a:srgbClr val="F2F6FA"/>
            </a:solidFill>
            <a:prstDash val="solid"/>
          </a:ln>
        </p:spPr>
      </p:sp>
      <p:sp>
        <p:nvSpPr>
          <p:cNvPr id="13" name="Shape 11"/>
          <p:cNvSpPr/>
          <p:nvPr/>
        </p:nvSpPr>
        <p:spPr>
          <a:xfrm>
            <a:off x="1115568" y="3703320"/>
            <a:ext cx="603504" cy="603504"/>
          </a:xfrm>
          <a:prstGeom prst="roundRect">
            <a:avLst>
              <a:gd name="adj" fmla="val 15152"/>
            </a:avLst>
          </a:prstGeom>
          <a:solidFill>
            <a:srgbClr val="A02B93"/>
          </a:solidFill>
          <a:ln w="12700">
            <a:solidFill>
              <a:srgbClr val="333333"/>
            </a:solidFill>
            <a:prstDash val="solid"/>
          </a:ln>
        </p:spPr>
      </p:sp>
      <p:sp>
        <p:nvSpPr>
          <p:cNvPr id="14" name="Text 12"/>
          <p:cNvSpPr/>
          <p:nvPr/>
        </p:nvSpPr>
        <p:spPr>
          <a:xfrm>
            <a:off x="1115568" y="3703320"/>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2</a:t>
            </a:r>
            <a:endParaRPr lang="en-US" sz="2100" dirty="0"/>
          </a:p>
        </p:txBody>
      </p:sp>
      <p:sp>
        <p:nvSpPr>
          <p:cNvPr id="15" name="Text 13"/>
          <p:cNvSpPr/>
          <p:nvPr/>
        </p:nvSpPr>
        <p:spPr>
          <a:xfrm>
            <a:off x="1938528" y="3502152"/>
            <a:ext cx="6126480" cy="1005840"/>
          </a:xfrm>
          <a:prstGeom prst="rect">
            <a:avLst/>
          </a:prstGeom>
          <a:noFill/>
          <a:ln/>
        </p:spPr>
        <p:txBody>
          <a:bodyPr wrap="square" lIns="0" tIns="0" rIns="0" bIns="0" rtlCol="0" anchor="ctr"/>
          <a:lstStyle/>
          <a:p>
            <a:pPr marL="0" indent="0">
              <a:buNone/>
            </a:pPr>
            <a:r>
              <a:rPr lang="en-US" sz="2000" dirty="0">
                <a:solidFill>
                  <a:srgbClr val="2B2B2B"/>
                </a:solidFill>
                <a:latin typeface="Times New Roman" pitchFamily="34" charset="0"/>
                <a:ea typeface="Times New Roman" pitchFamily="34" charset="-122"/>
                <a:cs typeface="Times New Roman" pitchFamily="34" charset="-120"/>
              </a:rPr>
              <a:t>4NF removes Cartesian-combination rows</a:t>
            </a:r>
            <a:endParaRPr lang="en-US" sz="2000" dirty="0"/>
          </a:p>
        </p:txBody>
      </p:sp>
      <p:sp>
        <p:nvSpPr>
          <p:cNvPr id="16" name="Shape 14"/>
          <p:cNvSpPr/>
          <p:nvPr/>
        </p:nvSpPr>
        <p:spPr>
          <a:xfrm>
            <a:off x="8430768" y="3739896"/>
            <a:ext cx="1234440" cy="530352"/>
          </a:xfrm>
          <a:prstGeom prst="roundRect">
            <a:avLst>
              <a:gd name="adj" fmla="val 13793"/>
            </a:avLst>
          </a:prstGeom>
          <a:solidFill>
            <a:srgbClr val="E8EFF4"/>
          </a:solidFill>
          <a:ln w="12700">
            <a:solidFill>
              <a:srgbClr val="333333"/>
            </a:solidFill>
            <a:prstDash val="solid"/>
          </a:ln>
        </p:spPr>
      </p:sp>
      <p:sp>
        <p:nvSpPr>
          <p:cNvPr id="17" name="Text 15"/>
          <p:cNvSpPr/>
          <p:nvPr/>
        </p:nvSpPr>
        <p:spPr>
          <a:xfrm>
            <a:off x="8430768" y="3739896"/>
            <a:ext cx="1234440" cy="530352"/>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True</a:t>
            </a:r>
            <a:endParaRPr lang="en-US" sz="1800" dirty="0"/>
          </a:p>
        </p:txBody>
      </p:sp>
      <p:sp>
        <p:nvSpPr>
          <p:cNvPr id="18" name="Shape 16"/>
          <p:cNvSpPr/>
          <p:nvPr/>
        </p:nvSpPr>
        <p:spPr>
          <a:xfrm>
            <a:off x="9848088" y="3739896"/>
            <a:ext cx="1234440" cy="530352"/>
          </a:xfrm>
          <a:prstGeom prst="roundRect">
            <a:avLst>
              <a:gd name="adj" fmla="val 13793"/>
            </a:avLst>
          </a:prstGeom>
          <a:solidFill>
            <a:srgbClr val="E8EFF4"/>
          </a:solidFill>
          <a:ln w="12700">
            <a:solidFill>
              <a:srgbClr val="333333"/>
            </a:solidFill>
            <a:prstDash val="solid"/>
          </a:ln>
        </p:spPr>
      </p:sp>
      <p:sp>
        <p:nvSpPr>
          <p:cNvPr id="19" name="Text 17"/>
          <p:cNvSpPr/>
          <p:nvPr/>
        </p:nvSpPr>
        <p:spPr>
          <a:xfrm>
            <a:off x="9848088" y="3739896"/>
            <a:ext cx="1234440" cy="530352"/>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False</a:t>
            </a:r>
            <a:endParaRPr lang="en-US" sz="1800" dirty="0"/>
          </a:p>
        </p:txBody>
      </p:sp>
      <p:sp>
        <p:nvSpPr>
          <p:cNvPr id="20" name="Shape 18"/>
          <p:cNvSpPr/>
          <p:nvPr/>
        </p:nvSpPr>
        <p:spPr>
          <a:xfrm>
            <a:off x="841248" y="4672584"/>
            <a:ext cx="10515600" cy="1005840"/>
          </a:xfrm>
          <a:prstGeom prst="roundRect">
            <a:avLst>
              <a:gd name="adj" fmla="val 5455"/>
            </a:avLst>
          </a:prstGeom>
          <a:solidFill>
            <a:srgbClr val="F2F6FA"/>
          </a:solidFill>
          <a:ln w="12700">
            <a:solidFill>
              <a:srgbClr val="F2F6FA"/>
            </a:solidFill>
            <a:prstDash val="solid"/>
          </a:ln>
        </p:spPr>
      </p:sp>
      <p:sp>
        <p:nvSpPr>
          <p:cNvPr id="21" name="Shape 19"/>
          <p:cNvSpPr/>
          <p:nvPr/>
        </p:nvSpPr>
        <p:spPr>
          <a:xfrm>
            <a:off x="1115568" y="4873752"/>
            <a:ext cx="603504" cy="603504"/>
          </a:xfrm>
          <a:prstGeom prst="roundRect">
            <a:avLst>
              <a:gd name="adj" fmla="val 15152"/>
            </a:avLst>
          </a:prstGeom>
          <a:solidFill>
            <a:srgbClr val="196B24"/>
          </a:solidFill>
          <a:ln w="12700">
            <a:solidFill>
              <a:srgbClr val="333333"/>
            </a:solidFill>
            <a:prstDash val="solid"/>
          </a:ln>
        </p:spPr>
      </p:sp>
      <p:sp>
        <p:nvSpPr>
          <p:cNvPr id="22" name="Text 20"/>
          <p:cNvSpPr/>
          <p:nvPr/>
        </p:nvSpPr>
        <p:spPr>
          <a:xfrm>
            <a:off x="1115568" y="4873752"/>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3</a:t>
            </a:r>
            <a:endParaRPr lang="en-US" sz="2100" dirty="0"/>
          </a:p>
        </p:txBody>
      </p:sp>
      <p:sp>
        <p:nvSpPr>
          <p:cNvPr id="23" name="Text 21"/>
          <p:cNvSpPr/>
          <p:nvPr/>
        </p:nvSpPr>
        <p:spPr>
          <a:xfrm>
            <a:off x="1938528" y="4672584"/>
            <a:ext cx="6126480" cy="1005840"/>
          </a:xfrm>
          <a:prstGeom prst="rect">
            <a:avLst/>
          </a:prstGeom>
          <a:noFill/>
          <a:ln/>
        </p:spPr>
        <p:txBody>
          <a:bodyPr wrap="square" lIns="0" tIns="0" rIns="0" bIns="0" rtlCol="0" anchor="ctr"/>
          <a:lstStyle/>
          <a:p>
            <a:pPr marL="0" indent="0">
              <a:buNone/>
            </a:pPr>
            <a:r>
              <a:rPr lang="en-US" sz="2000" dirty="0">
                <a:solidFill>
                  <a:srgbClr val="2B2B2B"/>
                </a:solidFill>
                <a:latin typeface="Times New Roman" pitchFamily="34" charset="0"/>
                <a:ea typeface="Times New Roman" pitchFamily="34" charset="-122"/>
                <a:cs typeface="Times New Roman" pitchFamily="34" charset="-120"/>
              </a:rPr>
              <a:t>5NF decomposition always needs two tables</a:t>
            </a:r>
            <a:endParaRPr lang="en-US" sz="2000" dirty="0"/>
          </a:p>
        </p:txBody>
      </p:sp>
      <p:sp>
        <p:nvSpPr>
          <p:cNvPr id="24" name="Shape 22"/>
          <p:cNvSpPr/>
          <p:nvPr/>
        </p:nvSpPr>
        <p:spPr>
          <a:xfrm>
            <a:off x="8430768" y="4910328"/>
            <a:ext cx="1234440" cy="530352"/>
          </a:xfrm>
          <a:prstGeom prst="roundRect">
            <a:avLst>
              <a:gd name="adj" fmla="val 13793"/>
            </a:avLst>
          </a:prstGeom>
          <a:solidFill>
            <a:srgbClr val="E8EFF4"/>
          </a:solidFill>
          <a:ln w="12700">
            <a:solidFill>
              <a:srgbClr val="333333"/>
            </a:solidFill>
            <a:prstDash val="solid"/>
          </a:ln>
        </p:spPr>
      </p:sp>
      <p:sp>
        <p:nvSpPr>
          <p:cNvPr id="25" name="Text 23"/>
          <p:cNvSpPr/>
          <p:nvPr/>
        </p:nvSpPr>
        <p:spPr>
          <a:xfrm>
            <a:off x="8430768" y="4910328"/>
            <a:ext cx="1234440" cy="530352"/>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True</a:t>
            </a:r>
            <a:endParaRPr lang="en-US" sz="1800" dirty="0"/>
          </a:p>
        </p:txBody>
      </p:sp>
      <p:sp>
        <p:nvSpPr>
          <p:cNvPr id="26" name="Shape 24"/>
          <p:cNvSpPr/>
          <p:nvPr/>
        </p:nvSpPr>
        <p:spPr>
          <a:xfrm>
            <a:off x="9848088" y="4910328"/>
            <a:ext cx="1234440" cy="530352"/>
          </a:xfrm>
          <a:prstGeom prst="roundRect">
            <a:avLst>
              <a:gd name="adj" fmla="val 13793"/>
            </a:avLst>
          </a:prstGeom>
          <a:solidFill>
            <a:srgbClr val="E8EFF4"/>
          </a:solidFill>
          <a:ln w="12700">
            <a:solidFill>
              <a:srgbClr val="333333"/>
            </a:solidFill>
            <a:prstDash val="solid"/>
          </a:ln>
        </p:spPr>
      </p:sp>
      <p:sp>
        <p:nvSpPr>
          <p:cNvPr id="27" name="Text 25"/>
          <p:cNvSpPr/>
          <p:nvPr/>
        </p:nvSpPr>
        <p:spPr>
          <a:xfrm>
            <a:off x="9848088" y="4910328"/>
            <a:ext cx="1234440" cy="530352"/>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False</a:t>
            </a:r>
            <a:endParaRPr lang="en-US" sz="1800" dirty="0"/>
          </a:p>
        </p:txBody>
      </p:sp>
      <p:pic>
        <p:nvPicPr>
          <p:cNvPr id="29" name="Image 0" descr="s1_unpacked/ppt/media/image5.png">
            <a:extLst>
              <a:ext uri="{FF2B5EF4-FFF2-40B4-BE49-F238E27FC236}">
                <a16:creationId xmlns:a16="http://schemas.microsoft.com/office/drawing/2014/main" id="{5562FA3D-0F74-3CCA-0D5E-DF9C03BEA581}"/>
              </a:ext>
            </a:extLst>
          </p:cNvPr>
          <p:cNvPicPr>
            <a:picLocks noChangeAspect="1"/>
          </p:cNvPicPr>
          <p:nvPr/>
        </p:nvPicPr>
        <p:blipFill>
          <a:blip r:embed="rId3"/>
          <a:stretch>
            <a:fillRect/>
          </a:stretch>
        </p:blipFill>
        <p:spPr>
          <a:xfrm>
            <a:off x="9646920" y="256032"/>
            <a:ext cx="2240280" cy="3200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02920" y="457200"/>
            <a:ext cx="8229600" cy="274320"/>
          </a:xfrm>
          <a:prstGeom prst="rect">
            <a:avLst/>
          </a:prstGeom>
          <a:noFill/>
          <a:ln/>
        </p:spPr>
        <p:txBody>
          <a:bodyPr wrap="square" lIns="0" tIns="0" rIns="0" bIns="0" rtlCol="0" anchor="ctr"/>
          <a:lstStyle/>
          <a:p>
            <a:pPr marL="0" indent="0">
              <a:buNone/>
            </a:pPr>
            <a:r>
              <a:rPr lang="en-US" sz="1200" b="1" kern="0" spc="200" dirty="0">
                <a:solidFill>
                  <a:srgbClr val="F0A32E"/>
                </a:solidFill>
                <a:latin typeface="Calibri" pitchFamily="34" charset="0"/>
                <a:ea typeface="Calibri" pitchFamily="34" charset="-122"/>
                <a:cs typeface="Calibri" pitchFamily="34" charset="-120"/>
              </a:rPr>
              <a:t>EXIT TICKET</a:t>
            </a:r>
            <a:endParaRPr lang="en-US" sz="1200" dirty="0"/>
          </a:p>
        </p:txBody>
      </p:sp>
      <p:sp>
        <p:nvSpPr>
          <p:cNvPr id="4" name="Text 2"/>
          <p:cNvSpPr/>
          <p:nvPr/>
        </p:nvSpPr>
        <p:spPr>
          <a:xfrm>
            <a:off x="502920" y="731520"/>
            <a:ext cx="11155680" cy="548640"/>
          </a:xfrm>
          <a:prstGeom prst="rect">
            <a:avLst/>
          </a:prstGeom>
          <a:noFill/>
          <a:ln/>
        </p:spPr>
        <p:txBody>
          <a:bodyPr wrap="square" lIns="0" tIns="0" rIns="0" bIns="0" rtlCol="0" anchor="ctr"/>
          <a:lstStyle/>
          <a:p>
            <a:pPr marL="0" indent="0">
              <a:buNone/>
            </a:pPr>
            <a:r>
              <a:rPr lang="en-US" sz="2800" b="1" dirty="0">
                <a:latin typeface="Calibri" pitchFamily="34" charset="0"/>
                <a:ea typeface="Calibri" pitchFamily="34" charset="-122"/>
                <a:cs typeface="Calibri" pitchFamily="34" charset="-120"/>
              </a:rPr>
              <a:t>Five Quick Checks Before You Leave</a:t>
            </a:r>
            <a:endParaRPr lang="en-US" sz="2800" dirty="0"/>
          </a:p>
        </p:txBody>
      </p:sp>
      <p:sp>
        <p:nvSpPr>
          <p:cNvPr id="5" name="Shape 3"/>
          <p:cNvSpPr/>
          <p:nvPr/>
        </p:nvSpPr>
        <p:spPr>
          <a:xfrm>
            <a:off x="502920" y="1691640"/>
            <a:ext cx="5486400" cy="1188720"/>
          </a:xfrm>
          <a:prstGeom prst="roundRect">
            <a:avLst>
              <a:gd name="adj" fmla="val 6923"/>
            </a:avLst>
          </a:prstGeom>
          <a:solidFill>
            <a:srgbClr val="2A5D8C"/>
          </a:solidFill>
          <a:ln/>
        </p:spPr>
      </p:sp>
      <p:sp>
        <p:nvSpPr>
          <p:cNvPr id="6" name="Shape 4"/>
          <p:cNvSpPr/>
          <p:nvPr/>
        </p:nvSpPr>
        <p:spPr>
          <a:xfrm>
            <a:off x="731520" y="2002536"/>
            <a:ext cx="566928" cy="566928"/>
          </a:xfrm>
          <a:prstGeom prst="ellipse">
            <a:avLst/>
          </a:prstGeom>
          <a:solidFill>
            <a:srgbClr val="F0A32E"/>
          </a:solidFill>
          <a:ln/>
        </p:spPr>
      </p:sp>
      <p:sp>
        <p:nvSpPr>
          <p:cNvPr id="7" name="Text 5"/>
          <p:cNvSpPr/>
          <p:nvPr/>
        </p:nvSpPr>
        <p:spPr>
          <a:xfrm>
            <a:off x="731520" y="1984248"/>
            <a:ext cx="566928" cy="566928"/>
          </a:xfrm>
          <a:prstGeom prst="rect">
            <a:avLst/>
          </a:prstGeom>
          <a:noFill/>
          <a:ln/>
        </p:spPr>
        <p:txBody>
          <a:bodyPr wrap="square" lIns="0" tIns="0" rIns="0" bIns="0"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463040" y="1828800"/>
            <a:ext cx="4343400" cy="9144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One clue that a relation is not in 2NF</a:t>
            </a:r>
            <a:endParaRPr lang="en-US" sz="1600" dirty="0"/>
          </a:p>
        </p:txBody>
      </p:sp>
      <p:sp>
        <p:nvSpPr>
          <p:cNvPr id="9" name="Shape 7"/>
          <p:cNvSpPr/>
          <p:nvPr/>
        </p:nvSpPr>
        <p:spPr>
          <a:xfrm>
            <a:off x="6217920" y="1691640"/>
            <a:ext cx="5486400" cy="1188720"/>
          </a:xfrm>
          <a:prstGeom prst="roundRect">
            <a:avLst>
              <a:gd name="adj" fmla="val 6923"/>
            </a:avLst>
          </a:prstGeom>
          <a:solidFill>
            <a:srgbClr val="2A5D8C"/>
          </a:solidFill>
          <a:ln/>
        </p:spPr>
      </p:sp>
      <p:sp>
        <p:nvSpPr>
          <p:cNvPr id="10" name="Shape 8"/>
          <p:cNvSpPr/>
          <p:nvPr/>
        </p:nvSpPr>
        <p:spPr>
          <a:xfrm>
            <a:off x="6446520" y="2002536"/>
            <a:ext cx="566928" cy="566928"/>
          </a:xfrm>
          <a:prstGeom prst="ellipse">
            <a:avLst/>
          </a:prstGeom>
          <a:solidFill>
            <a:srgbClr val="F0A32E"/>
          </a:solidFill>
          <a:ln/>
        </p:spPr>
      </p:sp>
      <p:sp>
        <p:nvSpPr>
          <p:cNvPr id="11" name="Text 9"/>
          <p:cNvSpPr/>
          <p:nvPr/>
        </p:nvSpPr>
        <p:spPr>
          <a:xfrm>
            <a:off x="6446520" y="1984248"/>
            <a:ext cx="566928" cy="566928"/>
          </a:xfrm>
          <a:prstGeom prst="rect">
            <a:avLst/>
          </a:prstGeom>
          <a:noFill/>
          <a:ln/>
        </p:spPr>
        <p:txBody>
          <a:bodyPr wrap="square" lIns="0" tIns="0" rIns="0" bIns="0"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7178040" y="1828800"/>
            <a:ext cx="4343400" cy="9144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Write one example of a transitive dependency</a:t>
            </a:r>
            <a:endParaRPr lang="en-US" sz="1600" dirty="0"/>
          </a:p>
        </p:txBody>
      </p:sp>
      <p:sp>
        <p:nvSpPr>
          <p:cNvPr id="13" name="Shape 11"/>
          <p:cNvSpPr/>
          <p:nvPr/>
        </p:nvSpPr>
        <p:spPr>
          <a:xfrm>
            <a:off x="502920" y="3063240"/>
            <a:ext cx="5486400" cy="1188720"/>
          </a:xfrm>
          <a:prstGeom prst="roundRect">
            <a:avLst>
              <a:gd name="adj" fmla="val 6923"/>
            </a:avLst>
          </a:prstGeom>
          <a:solidFill>
            <a:srgbClr val="2A5D8C"/>
          </a:solidFill>
          <a:ln/>
        </p:spPr>
      </p:sp>
      <p:sp>
        <p:nvSpPr>
          <p:cNvPr id="14" name="Shape 12"/>
          <p:cNvSpPr/>
          <p:nvPr/>
        </p:nvSpPr>
        <p:spPr>
          <a:xfrm>
            <a:off x="731520" y="3374136"/>
            <a:ext cx="566928" cy="566928"/>
          </a:xfrm>
          <a:prstGeom prst="ellipse">
            <a:avLst/>
          </a:prstGeom>
          <a:solidFill>
            <a:srgbClr val="F0A32E"/>
          </a:solidFill>
          <a:ln/>
        </p:spPr>
      </p:sp>
      <p:sp>
        <p:nvSpPr>
          <p:cNvPr id="15" name="Text 13"/>
          <p:cNvSpPr/>
          <p:nvPr/>
        </p:nvSpPr>
        <p:spPr>
          <a:xfrm>
            <a:off x="731520" y="3355848"/>
            <a:ext cx="566928" cy="566928"/>
          </a:xfrm>
          <a:prstGeom prst="rect">
            <a:avLst/>
          </a:prstGeom>
          <a:noFill/>
          <a:ln/>
        </p:spPr>
        <p:txBody>
          <a:bodyPr wrap="square" lIns="0" tIns="0" rIns="0" bIns="0"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463040" y="3200400"/>
            <a:ext cx="4343400" cy="9144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BCNF vs 3NF — the difference in one sentence</a:t>
            </a:r>
            <a:endParaRPr lang="en-US" sz="1600" dirty="0"/>
          </a:p>
        </p:txBody>
      </p:sp>
      <p:sp>
        <p:nvSpPr>
          <p:cNvPr id="17" name="Shape 15"/>
          <p:cNvSpPr/>
          <p:nvPr/>
        </p:nvSpPr>
        <p:spPr>
          <a:xfrm>
            <a:off x="6217920" y="3063240"/>
            <a:ext cx="5486400" cy="1188720"/>
          </a:xfrm>
          <a:prstGeom prst="roundRect">
            <a:avLst>
              <a:gd name="adj" fmla="val 6923"/>
            </a:avLst>
          </a:prstGeom>
          <a:solidFill>
            <a:srgbClr val="2A5D8C"/>
          </a:solidFill>
          <a:ln/>
        </p:spPr>
      </p:sp>
      <p:sp>
        <p:nvSpPr>
          <p:cNvPr id="18" name="Shape 16"/>
          <p:cNvSpPr/>
          <p:nvPr/>
        </p:nvSpPr>
        <p:spPr>
          <a:xfrm>
            <a:off x="6446520" y="3374136"/>
            <a:ext cx="566928" cy="566928"/>
          </a:xfrm>
          <a:prstGeom prst="ellipse">
            <a:avLst/>
          </a:prstGeom>
          <a:solidFill>
            <a:srgbClr val="F0A32E"/>
          </a:solidFill>
          <a:ln/>
        </p:spPr>
      </p:sp>
      <p:sp>
        <p:nvSpPr>
          <p:cNvPr id="19" name="Text 17"/>
          <p:cNvSpPr/>
          <p:nvPr/>
        </p:nvSpPr>
        <p:spPr>
          <a:xfrm>
            <a:off x="6446520" y="3355848"/>
            <a:ext cx="566928" cy="566928"/>
          </a:xfrm>
          <a:prstGeom prst="rect">
            <a:avLst/>
          </a:prstGeom>
          <a:noFill/>
          <a:ln/>
        </p:spPr>
        <p:txBody>
          <a:bodyPr wrap="square" lIns="0" tIns="0" rIns="0" bIns="0"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7178040" y="3200400"/>
            <a:ext cx="4343400" cy="9144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Why does 4NF remove Cartesian-combination redundancy?</a:t>
            </a:r>
            <a:endParaRPr lang="en-US" sz="1600" dirty="0"/>
          </a:p>
        </p:txBody>
      </p:sp>
      <p:sp>
        <p:nvSpPr>
          <p:cNvPr id="21" name="Shape 19"/>
          <p:cNvSpPr/>
          <p:nvPr/>
        </p:nvSpPr>
        <p:spPr>
          <a:xfrm>
            <a:off x="502920" y="4434840"/>
            <a:ext cx="5486400" cy="1188720"/>
          </a:xfrm>
          <a:prstGeom prst="roundRect">
            <a:avLst>
              <a:gd name="adj" fmla="val 6923"/>
            </a:avLst>
          </a:prstGeom>
          <a:solidFill>
            <a:srgbClr val="2A5D8C"/>
          </a:solidFill>
          <a:ln/>
        </p:spPr>
      </p:sp>
      <p:sp>
        <p:nvSpPr>
          <p:cNvPr id="22" name="Shape 20"/>
          <p:cNvSpPr/>
          <p:nvPr/>
        </p:nvSpPr>
        <p:spPr>
          <a:xfrm>
            <a:off x="731520" y="4745736"/>
            <a:ext cx="566928" cy="566928"/>
          </a:xfrm>
          <a:prstGeom prst="ellipse">
            <a:avLst/>
          </a:prstGeom>
          <a:solidFill>
            <a:srgbClr val="F0A32E"/>
          </a:solidFill>
          <a:ln/>
        </p:spPr>
      </p:sp>
      <p:sp>
        <p:nvSpPr>
          <p:cNvPr id="23" name="Text 21"/>
          <p:cNvSpPr/>
          <p:nvPr/>
        </p:nvSpPr>
        <p:spPr>
          <a:xfrm>
            <a:off x="731520" y="4727448"/>
            <a:ext cx="566928" cy="566928"/>
          </a:xfrm>
          <a:prstGeom prst="rect">
            <a:avLst/>
          </a:prstGeom>
          <a:noFill/>
          <a:ln/>
        </p:spPr>
        <p:txBody>
          <a:bodyPr wrap="square" lIns="0" tIns="0" rIns="0" bIns="0"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5</a:t>
            </a:r>
            <a:endParaRPr lang="en-US" sz="1600" dirty="0"/>
          </a:p>
        </p:txBody>
      </p:sp>
      <p:sp>
        <p:nvSpPr>
          <p:cNvPr id="24" name="Text 22"/>
          <p:cNvSpPr/>
          <p:nvPr/>
        </p:nvSpPr>
        <p:spPr>
          <a:xfrm>
            <a:off x="1463040" y="4572000"/>
            <a:ext cx="4343400" cy="9144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When do we even think about 5NF?</a:t>
            </a:r>
            <a:endParaRPr lang="en-US" sz="1600" dirty="0"/>
          </a:p>
        </p:txBody>
      </p:sp>
      <p:sp>
        <p:nvSpPr>
          <p:cNvPr id="26" name="Text 24"/>
          <p:cNvSpPr/>
          <p:nvPr/>
        </p:nvSpPr>
        <p:spPr>
          <a:xfrm>
            <a:off x="502920" y="6510528"/>
            <a:ext cx="8686800" cy="274320"/>
          </a:xfrm>
          <a:prstGeom prst="rect">
            <a:avLst/>
          </a:prstGeom>
          <a:noFill/>
          <a:ln/>
        </p:spPr>
        <p:txBody>
          <a:bodyPr wrap="square" lIns="0" tIns="0" rIns="0" bIns="0"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Problem Solving on Normalization  |  Database Management Systems  |  K.R. Mangalam University</a:t>
            </a:r>
            <a:endParaRPr lang="en-US" sz="900" dirty="0"/>
          </a:p>
        </p:txBody>
      </p:sp>
      <p:sp>
        <p:nvSpPr>
          <p:cNvPr id="27" name="Text 25"/>
          <p:cNvSpPr/>
          <p:nvPr/>
        </p:nvSpPr>
        <p:spPr>
          <a:xfrm>
            <a:off x="11292840" y="6510528"/>
            <a:ext cx="411480" cy="274320"/>
          </a:xfrm>
          <a:prstGeom prst="rect">
            <a:avLst/>
          </a:prstGeom>
          <a:noFill/>
          <a:ln/>
        </p:spPr>
        <p:txBody>
          <a:bodyPr wrap="square" lIns="0" tIns="0" rIns="0" bIns="0" rtlCol="0" anchor="ctr"/>
          <a:lstStyle/>
          <a:p>
            <a:pPr marL="0" indent="0" algn="r">
              <a:buNone/>
            </a:pPr>
            <a:r>
              <a:rPr lang="en-US" sz="1000" b="1" dirty="0">
                <a:solidFill>
                  <a:srgbClr val="CADCFC"/>
                </a:solidFill>
                <a:latin typeface="Calibri" pitchFamily="34" charset="0"/>
                <a:ea typeface="Calibri" pitchFamily="34" charset="-122"/>
                <a:cs typeface="Calibri" pitchFamily="34" charset="-120"/>
              </a:rPr>
              <a:t>28</a:t>
            </a:r>
            <a:endParaRPr lang="en-US" sz="1000" dirty="0"/>
          </a:p>
        </p:txBody>
      </p:sp>
      <p:pic>
        <p:nvPicPr>
          <p:cNvPr id="29" name="Image 0" descr="s1_unpacked/ppt/media/image5.png">
            <a:extLst>
              <a:ext uri="{FF2B5EF4-FFF2-40B4-BE49-F238E27FC236}">
                <a16:creationId xmlns:a16="http://schemas.microsoft.com/office/drawing/2014/main" id="{A4C59303-3488-F11F-A6C0-7C41467066F1}"/>
              </a:ext>
            </a:extLst>
          </p:cNvPr>
          <p:cNvPicPr>
            <a:picLocks noChangeAspect="1"/>
          </p:cNvPicPr>
          <p:nvPr/>
        </p:nvPicPr>
        <p:blipFill>
          <a:blip r:embed="rId3"/>
          <a:stretch>
            <a:fillRect/>
          </a:stretch>
        </p:blipFill>
        <p:spPr>
          <a:xfrm>
            <a:off x="9646920" y="256032"/>
            <a:ext cx="2240280" cy="3200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Summary / Takeaways</a:t>
            </a:r>
            <a:endParaRPr lang="en-US" sz="3600" dirty="0"/>
          </a:p>
        </p:txBody>
      </p:sp>
      <p:sp>
        <p:nvSpPr>
          <p:cNvPr id="3" name="Shape 1"/>
          <p:cNvSpPr/>
          <p:nvPr/>
        </p:nvSpPr>
        <p:spPr>
          <a:xfrm>
            <a:off x="841248" y="1783080"/>
            <a:ext cx="10515600" cy="768096"/>
          </a:xfrm>
          <a:prstGeom prst="roundRect">
            <a:avLst>
              <a:gd name="adj" fmla="val 7143"/>
            </a:avLst>
          </a:prstGeom>
          <a:solidFill>
            <a:srgbClr val="FFFFFF"/>
          </a:solidFill>
          <a:ln w="12700">
            <a:solidFill>
              <a:srgbClr val="D2DCE6"/>
            </a:solidFill>
            <a:prstDash val="solid"/>
          </a:ln>
        </p:spPr>
      </p:sp>
      <p:sp>
        <p:nvSpPr>
          <p:cNvPr id="4" name="Shape 2"/>
          <p:cNvSpPr/>
          <p:nvPr/>
        </p:nvSpPr>
        <p:spPr>
          <a:xfrm>
            <a:off x="841248" y="1783080"/>
            <a:ext cx="91440" cy="768096"/>
          </a:xfrm>
          <a:prstGeom prst="rect">
            <a:avLst/>
          </a:prstGeom>
          <a:solidFill>
            <a:srgbClr val="156082"/>
          </a:solidFill>
          <a:ln w="12700">
            <a:solidFill>
              <a:srgbClr val="333333"/>
            </a:solidFill>
            <a:prstDash val="solid"/>
          </a:ln>
        </p:spPr>
      </p:sp>
      <p:sp>
        <p:nvSpPr>
          <p:cNvPr id="5" name="Text 3"/>
          <p:cNvSpPr/>
          <p:nvPr/>
        </p:nvSpPr>
        <p:spPr>
          <a:xfrm>
            <a:off x="1161288" y="1783080"/>
            <a:ext cx="3931920" cy="768096"/>
          </a:xfrm>
          <a:prstGeom prst="rect">
            <a:avLst/>
          </a:prstGeom>
          <a:noFill/>
          <a:ln/>
        </p:spPr>
        <p:txBody>
          <a:bodyPr wrap="square" lIns="0" tIns="0" rIns="0" bIns="0" rtlCol="0" anchor="ctr"/>
          <a:lstStyle/>
          <a:p>
            <a:pPr marL="0" indent="0">
              <a:buNone/>
            </a:pPr>
            <a:r>
              <a:rPr lang="en-US" sz="2100" b="1" dirty="0">
                <a:solidFill>
                  <a:srgbClr val="156082"/>
                </a:solidFill>
                <a:latin typeface="Times New Roman" pitchFamily="34" charset="0"/>
                <a:ea typeface="Times New Roman" pitchFamily="34" charset="-122"/>
                <a:cs typeface="Times New Roman" pitchFamily="34" charset="-120"/>
              </a:rPr>
              <a:t>Key first</a:t>
            </a:r>
            <a:endParaRPr lang="en-US" sz="2100" dirty="0"/>
          </a:p>
        </p:txBody>
      </p:sp>
      <p:sp>
        <p:nvSpPr>
          <p:cNvPr id="6" name="Text 4"/>
          <p:cNvSpPr/>
          <p:nvPr/>
        </p:nvSpPr>
        <p:spPr>
          <a:xfrm>
            <a:off x="5212080" y="1783080"/>
            <a:ext cx="5943600" cy="768096"/>
          </a:xfrm>
          <a:prstGeom prst="rect">
            <a:avLst/>
          </a:prstGeom>
          <a:noFill/>
          <a:ln/>
        </p:spPr>
        <p:txBody>
          <a:bodyPr wrap="square" lIns="0" tIns="0" rIns="0" bIns="0" rtlCol="0" anchor="ctr"/>
          <a:lstStyle/>
          <a:p>
            <a:pPr marL="0" indent="0">
              <a:buNone/>
            </a:pPr>
            <a:r>
              <a:rPr lang="en-US" sz="1900" dirty="0">
                <a:solidFill>
                  <a:srgbClr val="2B2B2B"/>
                </a:solidFill>
                <a:latin typeface="Times New Roman" pitchFamily="34" charset="0"/>
                <a:ea typeface="Times New Roman" pitchFamily="34" charset="-122"/>
                <a:cs typeface="Times New Roman" pitchFamily="34" charset="-120"/>
              </a:rPr>
              <a:t>No diagnosis without the key</a:t>
            </a:r>
            <a:endParaRPr lang="en-US" sz="1900" dirty="0"/>
          </a:p>
        </p:txBody>
      </p:sp>
      <p:sp>
        <p:nvSpPr>
          <p:cNvPr id="7" name="Shape 5"/>
          <p:cNvSpPr/>
          <p:nvPr/>
        </p:nvSpPr>
        <p:spPr>
          <a:xfrm>
            <a:off x="841248" y="2642616"/>
            <a:ext cx="10515600" cy="768096"/>
          </a:xfrm>
          <a:prstGeom prst="roundRect">
            <a:avLst>
              <a:gd name="adj" fmla="val 7143"/>
            </a:avLst>
          </a:prstGeom>
          <a:solidFill>
            <a:srgbClr val="FFFFFF"/>
          </a:solidFill>
          <a:ln w="12700">
            <a:solidFill>
              <a:srgbClr val="D2DCE6"/>
            </a:solidFill>
            <a:prstDash val="solid"/>
          </a:ln>
        </p:spPr>
      </p:sp>
      <p:sp>
        <p:nvSpPr>
          <p:cNvPr id="8" name="Shape 6"/>
          <p:cNvSpPr/>
          <p:nvPr/>
        </p:nvSpPr>
        <p:spPr>
          <a:xfrm>
            <a:off x="841248" y="2642616"/>
            <a:ext cx="91440" cy="768096"/>
          </a:xfrm>
          <a:prstGeom prst="rect">
            <a:avLst/>
          </a:prstGeom>
          <a:solidFill>
            <a:srgbClr val="E97132"/>
          </a:solidFill>
          <a:ln w="12700">
            <a:solidFill>
              <a:srgbClr val="333333"/>
            </a:solidFill>
            <a:prstDash val="solid"/>
          </a:ln>
        </p:spPr>
      </p:sp>
      <p:sp>
        <p:nvSpPr>
          <p:cNvPr id="9" name="Text 7"/>
          <p:cNvSpPr/>
          <p:nvPr/>
        </p:nvSpPr>
        <p:spPr>
          <a:xfrm>
            <a:off x="1161288" y="2642616"/>
            <a:ext cx="3931920" cy="768096"/>
          </a:xfrm>
          <a:prstGeom prst="rect">
            <a:avLst/>
          </a:prstGeom>
          <a:noFill/>
          <a:ln/>
        </p:spPr>
        <p:txBody>
          <a:bodyPr wrap="square" lIns="0" tIns="0" rIns="0" bIns="0" rtlCol="0" anchor="ctr"/>
          <a:lstStyle/>
          <a:p>
            <a:pPr marL="0" indent="0">
              <a:buNone/>
            </a:pPr>
            <a:r>
              <a:rPr lang="en-US" sz="2100" b="1" dirty="0">
                <a:solidFill>
                  <a:srgbClr val="E97132"/>
                </a:solidFill>
                <a:latin typeface="Times New Roman" pitchFamily="34" charset="0"/>
                <a:ea typeface="Times New Roman" pitchFamily="34" charset="-122"/>
                <a:cs typeface="Times New Roman" pitchFamily="34" charset="-120"/>
              </a:rPr>
              <a:t>Name the violation</a:t>
            </a:r>
            <a:endParaRPr lang="en-US" sz="2100" dirty="0"/>
          </a:p>
        </p:txBody>
      </p:sp>
      <p:sp>
        <p:nvSpPr>
          <p:cNvPr id="10" name="Text 8"/>
          <p:cNvSpPr/>
          <p:nvPr/>
        </p:nvSpPr>
        <p:spPr>
          <a:xfrm>
            <a:off x="5212080" y="2642616"/>
            <a:ext cx="5943600" cy="768096"/>
          </a:xfrm>
          <a:prstGeom prst="rect">
            <a:avLst/>
          </a:prstGeom>
          <a:noFill/>
          <a:ln/>
        </p:spPr>
        <p:txBody>
          <a:bodyPr wrap="square" lIns="0" tIns="0" rIns="0" bIns="0" rtlCol="0" anchor="ctr"/>
          <a:lstStyle/>
          <a:p>
            <a:pPr marL="0" indent="0">
              <a:buNone/>
            </a:pPr>
            <a:r>
              <a:rPr lang="en-US" sz="1900" dirty="0">
                <a:solidFill>
                  <a:srgbClr val="2B2B2B"/>
                </a:solidFill>
                <a:latin typeface="Times New Roman" pitchFamily="34" charset="0"/>
                <a:ea typeface="Times New Roman" pitchFamily="34" charset="-122"/>
                <a:cs typeface="Times New Roman" pitchFamily="34" charset="-120"/>
              </a:rPr>
              <a:t>The clue decides the form</a:t>
            </a:r>
            <a:endParaRPr lang="en-US" sz="1900" dirty="0"/>
          </a:p>
        </p:txBody>
      </p:sp>
      <p:sp>
        <p:nvSpPr>
          <p:cNvPr id="11" name="Shape 9"/>
          <p:cNvSpPr/>
          <p:nvPr/>
        </p:nvSpPr>
        <p:spPr>
          <a:xfrm>
            <a:off x="841248" y="3502152"/>
            <a:ext cx="10515600" cy="768096"/>
          </a:xfrm>
          <a:prstGeom prst="roundRect">
            <a:avLst>
              <a:gd name="adj" fmla="val 7143"/>
            </a:avLst>
          </a:prstGeom>
          <a:solidFill>
            <a:srgbClr val="FFFFFF"/>
          </a:solidFill>
          <a:ln w="12700">
            <a:solidFill>
              <a:srgbClr val="D2DCE6"/>
            </a:solidFill>
            <a:prstDash val="solid"/>
          </a:ln>
        </p:spPr>
      </p:sp>
      <p:sp>
        <p:nvSpPr>
          <p:cNvPr id="12" name="Shape 10"/>
          <p:cNvSpPr/>
          <p:nvPr/>
        </p:nvSpPr>
        <p:spPr>
          <a:xfrm>
            <a:off x="841248" y="3502152"/>
            <a:ext cx="91440" cy="768096"/>
          </a:xfrm>
          <a:prstGeom prst="rect">
            <a:avLst/>
          </a:prstGeom>
          <a:solidFill>
            <a:srgbClr val="196B24"/>
          </a:solidFill>
          <a:ln w="12700">
            <a:solidFill>
              <a:srgbClr val="333333"/>
            </a:solidFill>
            <a:prstDash val="solid"/>
          </a:ln>
        </p:spPr>
      </p:sp>
      <p:sp>
        <p:nvSpPr>
          <p:cNvPr id="13" name="Text 11"/>
          <p:cNvSpPr/>
          <p:nvPr/>
        </p:nvSpPr>
        <p:spPr>
          <a:xfrm>
            <a:off x="1161288" y="3502152"/>
            <a:ext cx="3931920" cy="768096"/>
          </a:xfrm>
          <a:prstGeom prst="rect">
            <a:avLst/>
          </a:prstGeom>
          <a:noFill/>
          <a:ln/>
        </p:spPr>
        <p:txBody>
          <a:bodyPr wrap="square" lIns="0" tIns="0" rIns="0" bIns="0" rtlCol="0" anchor="ctr"/>
          <a:lstStyle/>
          <a:p>
            <a:pPr marL="0" indent="0">
              <a:buNone/>
            </a:pPr>
            <a:r>
              <a:rPr lang="en-US" sz="2100" b="1" dirty="0">
                <a:solidFill>
                  <a:srgbClr val="196B24"/>
                </a:solidFill>
                <a:latin typeface="Times New Roman" pitchFamily="34" charset="0"/>
                <a:ea typeface="Times New Roman" pitchFamily="34" charset="-122"/>
                <a:cs typeface="Times New Roman" pitchFamily="34" charset="-120"/>
              </a:rPr>
              <a:t>Split on the evidence</a:t>
            </a:r>
            <a:endParaRPr lang="en-US" sz="2100" dirty="0"/>
          </a:p>
        </p:txBody>
      </p:sp>
      <p:sp>
        <p:nvSpPr>
          <p:cNvPr id="14" name="Text 12"/>
          <p:cNvSpPr/>
          <p:nvPr/>
        </p:nvSpPr>
        <p:spPr>
          <a:xfrm>
            <a:off x="5212080" y="3502152"/>
            <a:ext cx="5943600" cy="768096"/>
          </a:xfrm>
          <a:prstGeom prst="rect">
            <a:avLst/>
          </a:prstGeom>
          <a:noFill/>
          <a:ln/>
        </p:spPr>
        <p:txBody>
          <a:bodyPr wrap="square" lIns="0" tIns="0" rIns="0" bIns="0" rtlCol="0" anchor="ctr"/>
          <a:lstStyle/>
          <a:p>
            <a:pPr marL="0" indent="0">
              <a:buNone/>
            </a:pPr>
            <a:r>
              <a:rPr lang="en-US" sz="1900" dirty="0">
                <a:solidFill>
                  <a:srgbClr val="2B2B2B"/>
                </a:solidFill>
                <a:latin typeface="Times New Roman" pitchFamily="34" charset="0"/>
                <a:ea typeface="Times New Roman" pitchFamily="34" charset="-122"/>
                <a:cs typeface="Times New Roman" pitchFamily="34" charset="-120"/>
              </a:rPr>
              <a:t>Decompose along the dependency</a:t>
            </a:r>
            <a:endParaRPr lang="en-US" sz="1900" dirty="0"/>
          </a:p>
        </p:txBody>
      </p:sp>
      <p:sp>
        <p:nvSpPr>
          <p:cNvPr id="15" name="Shape 13"/>
          <p:cNvSpPr/>
          <p:nvPr/>
        </p:nvSpPr>
        <p:spPr>
          <a:xfrm>
            <a:off x="841248" y="4361688"/>
            <a:ext cx="10515600" cy="768096"/>
          </a:xfrm>
          <a:prstGeom prst="roundRect">
            <a:avLst>
              <a:gd name="adj" fmla="val 7143"/>
            </a:avLst>
          </a:prstGeom>
          <a:solidFill>
            <a:srgbClr val="FFFFFF"/>
          </a:solidFill>
          <a:ln w="12700">
            <a:solidFill>
              <a:srgbClr val="D2DCE6"/>
            </a:solidFill>
            <a:prstDash val="solid"/>
          </a:ln>
        </p:spPr>
      </p:sp>
      <p:sp>
        <p:nvSpPr>
          <p:cNvPr id="16" name="Shape 14"/>
          <p:cNvSpPr/>
          <p:nvPr/>
        </p:nvSpPr>
        <p:spPr>
          <a:xfrm>
            <a:off x="841248" y="4361688"/>
            <a:ext cx="91440" cy="768096"/>
          </a:xfrm>
          <a:prstGeom prst="rect">
            <a:avLst/>
          </a:prstGeom>
          <a:solidFill>
            <a:srgbClr val="A02B93"/>
          </a:solidFill>
          <a:ln w="12700">
            <a:solidFill>
              <a:srgbClr val="333333"/>
            </a:solidFill>
            <a:prstDash val="solid"/>
          </a:ln>
        </p:spPr>
      </p:sp>
      <p:sp>
        <p:nvSpPr>
          <p:cNvPr id="17" name="Text 15"/>
          <p:cNvSpPr/>
          <p:nvPr/>
        </p:nvSpPr>
        <p:spPr>
          <a:xfrm>
            <a:off x="1161288" y="4361688"/>
            <a:ext cx="3931920" cy="768096"/>
          </a:xfrm>
          <a:prstGeom prst="rect">
            <a:avLst/>
          </a:prstGeom>
          <a:noFill/>
          <a:ln/>
        </p:spPr>
        <p:txBody>
          <a:bodyPr wrap="square" lIns="0" tIns="0" rIns="0" bIns="0" rtlCol="0" anchor="ctr"/>
          <a:lstStyle/>
          <a:p>
            <a:pPr marL="0" indent="0">
              <a:buNone/>
            </a:pPr>
            <a:r>
              <a:rPr lang="en-US" sz="2100" b="1" dirty="0">
                <a:solidFill>
                  <a:srgbClr val="A02B93"/>
                </a:solidFill>
                <a:latin typeface="Times New Roman" pitchFamily="34" charset="0"/>
                <a:ea typeface="Times New Roman" pitchFamily="34" charset="-122"/>
                <a:cs typeface="Times New Roman" pitchFamily="34" charset="-120"/>
              </a:rPr>
              <a:t>Verify</a:t>
            </a:r>
            <a:endParaRPr lang="en-US" sz="2100" dirty="0"/>
          </a:p>
        </p:txBody>
      </p:sp>
      <p:sp>
        <p:nvSpPr>
          <p:cNvPr id="18" name="Text 16"/>
          <p:cNvSpPr/>
          <p:nvPr/>
        </p:nvSpPr>
        <p:spPr>
          <a:xfrm>
            <a:off x="5212080" y="4361688"/>
            <a:ext cx="5943600" cy="768096"/>
          </a:xfrm>
          <a:prstGeom prst="rect">
            <a:avLst/>
          </a:prstGeom>
          <a:noFill/>
          <a:ln/>
        </p:spPr>
        <p:txBody>
          <a:bodyPr wrap="square" lIns="0" tIns="0" rIns="0" bIns="0" rtlCol="0" anchor="ctr"/>
          <a:lstStyle/>
          <a:p>
            <a:pPr marL="0" indent="0">
              <a:buNone/>
            </a:pPr>
            <a:r>
              <a:rPr lang="en-US" sz="1900" dirty="0">
                <a:solidFill>
                  <a:srgbClr val="2B2B2B"/>
                </a:solidFill>
                <a:latin typeface="Times New Roman" pitchFamily="34" charset="0"/>
                <a:ea typeface="Times New Roman" pitchFamily="34" charset="-122"/>
                <a:cs typeface="Times New Roman" pitchFamily="34" charset="-120"/>
              </a:rPr>
              <a:t>Lossless join, dependencies kept</a:t>
            </a:r>
            <a:endParaRPr lang="en-US" sz="1900" dirty="0"/>
          </a:p>
        </p:txBody>
      </p:sp>
      <p:sp>
        <p:nvSpPr>
          <p:cNvPr id="19" name="Shape 17"/>
          <p:cNvSpPr/>
          <p:nvPr/>
        </p:nvSpPr>
        <p:spPr>
          <a:xfrm>
            <a:off x="841248" y="5221224"/>
            <a:ext cx="10515600" cy="768096"/>
          </a:xfrm>
          <a:prstGeom prst="roundRect">
            <a:avLst>
              <a:gd name="adj" fmla="val 7143"/>
            </a:avLst>
          </a:prstGeom>
          <a:solidFill>
            <a:srgbClr val="FFFFFF"/>
          </a:solidFill>
          <a:ln w="12700">
            <a:solidFill>
              <a:srgbClr val="D2DCE6"/>
            </a:solidFill>
            <a:prstDash val="solid"/>
          </a:ln>
        </p:spPr>
      </p:sp>
      <p:sp>
        <p:nvSpPr>
          <p:cNvPr id="20" name="Shape 18"/>
          <p:cNvSpPr/>
          <p:nvPr/>
        </p:nvSpPr>
        <p:spPr>
          <a:xfrm>
            <a:off x="841248" y="5221224"/>
            <a:ext cx="91440" cy="768096"/>
          </a:xfrm>
          <a:prstGeom prst="rect">
            <a:avLst/>
          </a:prstGeom>
          <a:solidFill>
            <a:srgbClr val="156082"/>
          </a:solidFill>
          <a:ln w="12700">
            <a:solidFill>
              <a:srgbClr val="333333"/>
            </a:solidFill>
            <a:prstDash val="solid"/>
          </a:ln>
        </p:spPr>
      </p:sp>
      <p:sp>
        <p:nvSpPr>
          <p:cNvPr id="21" name="Text 19"/>
          <p:cNvSpPr/>
          <p:nvPr/>
        </p:nvSpPr>
        <p:spPr>
          <a:xfrm>
            <a:off x="1161288" y="5221224"/>
            <a:ext cx="3931920" cy="768096"/>
          </a:xfrm>
          <a:prstGeom prst="rect">
            <a:avLst/>
          </a:prstGeom>
          <a:noFill/>
          <a:ln/>
        </p:spPr>
        <p:txBody>
          <a:bodyPr wrap="square" lIns="0" tIns="0" rIns="0" bIns="0" rtlCol="0" anchor="ctr"/>
          <a:lstStyle/>
          <a:p>
            <a:pPr marL="0" indent="0">
              <a:buNone/>
            </a:pPr>
            <a:r>
              <a:rPr lang="en-US" sz="2100" b="1" dirty="0">
                <a:solidFill>
                  <a:srgbClr val="156082"/>
                </a:solidFill>
                <a:latin typeface="Times New Roman" pitchFamily="34" charset="0"/>
                <a:ea typeface="Times New Roman" pitchFamily="34" charset="-122"/>
                <a:cs typeface="Times New Roman" pitchFamily="34" charset="-120"/>
              </a:rPr>
              <a:t>Stop when the rules stop</a:t>
            </a:r>
            <a:endParaRPr lang="en-US" sz="2100" dirty="0"/>
          </a:p>
        </p:txBody>
      </p:sp>
      <p:sp>
        <p:nvSpPr>
          <p:cNvPr id="22" name="Text 20"/>
          <p:cNvSpPr/>
          <p:nvPr/>
        </p:nvSpPr>
        <p:spPr>
          <a:xfrm>
            <a:off x="5212080" y="5221224"/>
            <a:ext cx="5943600" cy="768096"/>
          </a:xfrm>
          <a:prstGeom prst="rect">
            <a:avLst/>
          </a:prstGeom>
          <a:noFill/>
          <a:ln/>
        </p:spPr>
        <p:txBody>
          <a:bodyPr wrap="square" lIns="0" tIns="0" rIns="0" bIns="0" rtlCol="0" anchor="ctr"/>
          <a:lstStyle/>
          <a:p>
            <a:pPr marL="0" indent="0">
              <a:buNone/>
            </a:pPr>
            <a:r>
              <a:rPr lang="en-US" sz="1900" dirty="0">
                <a:solidFill>
                  <a:srgbClr val="2B2B2B"/>
                </a:solidFill>
                <a:latin typeface="Times New Roman" pitchFamily="34" charset="0"/>
                <a:ea typeface="Times New Roman" pitchFamily="34" charset="-122"/>
                <a:cs typeface="Times New Roman" pitchFamily="34" charset="-120"/>
              </a:rPr>
              <a:t>Extra tables cost joins</a:t>
            </a:r>
            <a:endParaRPr lang="en-US" sz="1900" dirty="0"/>
          </a:p>
        </p:txBody>
      </p:sp>
      <p:pic>
        <p:nvPicPr>
          <p:cNvPr id="24" name="Image 0" descr="s1_unpacked/ppt/media/image5.png">
            <a:extLst>
              <a:ext uri="{FF2B5EF4-FFF2-40B4-BE49-F238E27FC236}">
                <a16:creationId xmlns:a16="http://schemas.microsoft.com/office/drawing/2014/main" id="{96789E9F-B2A5-6A49-7D9D-780A8BA09677}"/>
              </a:ext>
            </a:extLst>
          </p:cNvPr>
          <p:cNvPicPr>
            <a:picLocks noChangeAspect="1"/>
          </p:cNvPicPr>
          <p:nvPr/>
        </p:nvPicPr>
        <p:blipFill>
          <a:blip r:embed="rId3"/>
          <a:stretch>
            <a:fillRect/>
          </a:stretch>
        </p:blipFill>
        <p:spPr>
          <a:xfrm>
            <a:off x="9646920" y="256032"/>
            <a:ext cx="2240280" cy="3200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Exit Ticket</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56082"/>
                </a:solidFill>
                <a:latin typeface="Times New Roman" pitchFamily="34" charset="0"/>
                <a:ea typeface="Times New Roman" pitchFamily="34" charset="-122"/>
                <a:cs typeface="Times New Roman" pitchFamily="34" charset="-120"/>
              </a:rPr>
              <a:t>Before you leave…</a:t>
            </a:r>
            <a:endParaRPr lang="en-US" sz="2400" dirty="0"/>
          </a:p>
        </p:txBody>
      </p:sp>
      <p:sp>
        <p:nvSpPr>
          <p:cNvPr id="4" name="Shape 2"/>
          <p:cNvSpPr/>
          <p:nvPr/>
        </p:nvSpPr>
        <p:spPr>
          <a:xfrm>
            <a:off x="841248" y="2331720"/>
            <a:ext cx="10515600" cy="1051560"/>
          </a:xfrm>
          <a:prstGeom prst="roundRect">
            <a:avLst>
              <a:gd name="adj" fmla="val 5217"/>
            </a:avLst>
          </a:prstGeom>
          <a:solidFill>
            <a:srgbClr val="F2F6FA"/>
          </a:solidFill>
          <a:ln w="12700">
            <a:solidFill>
              <a:srgbClr val="F2F6FA"/>
            </a:solidFill>
            <a:prstDash val="solid"/>
          </a:ln>
        </p:spPr>
      </p:sp>
      <p:sp>
        <p:nvSpPr>
          <p:cNvPr id="5" name="Shape 3"/>
          <p:cNvSpPr/>
          <p:nvPr/>
        </p:nvSpPr>
        <p:spPr>
          <a:xfrm>
            <a:off x="1115568" y="2560320"/>
            <a:ext cx="603504" cy="603504"/>
          </a:xfrm>
          <a:prstGeom prst="roundRect">
            <a:avLst>
              <a:gd name="adj" fmla="val 15152"/>
            </a:avLst>
          </a:prstGeom>
          <a:solidFill>
            <a:srgbClr val="156082"/>
          </a:solidFill>
          <a:ln w="12700">
            <a:solidFill>
              <a:srgbClr val="333333"/>
            </a:solidFill>
            <a:prstDash val="solid"/>
          </a:ln>
        </p:spPr>
      </p:sp>
      <p:sp>
        <p:nvSpPr>
          <p:cNvPr id="6" name="Text 4"/>
          <p:cNvSpPr/>
          <p:nvPr/>
        </p:nvSpPr>
        <p:spPr>
          <a:xfrm>
            <a:off x="1115568" y="2560320"/>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1</a:t>
            </a:r>
            <a:endParaRPr lang="en-US" sz="2100" dirty="0"/>
          </a:p>
        </p:txBody>
      </p:sp>
      <p:sp>
        <p:nvSpPr>
          <p:cNvPr id="7" name="Text 5"/>
          <p:cNvSpPr/>
          <p:nvPr/>
        </p:nvSpPr>
        <p:spPr>
          <a:xfrm>
            <a:off x="1938528" y="2331720"/>
            <a:ext cx="8961120" cy="1051560"/>
          </a:xfrm>
          <a:prstGeom prst="rect">
            <a:avLst/>
          </a:prstGeom>
          <a:noFill/>
          <a:ln/>
        </p:spPr>
        <p:txBody>
          <a:bodyPr wrap="square" lIns="0" tIns="0" rIns="0" bIns="0" rtlCol="0" anchor="ctr"/>
          <a:lstStyle/>
          <a:p>
            <a:pPr marL="0" indent="0">
              <a:buNone/>
            </a:pPr>
            <a:r>
              <a:rPr lang="en-US" sz="2100" dirty="0">
                <a:solidFill>
                  <a:srgbClr val="2B2B2B"/>
                </a:solidFill>
                <a:latin typeface="Times New Roman" pitchFamily="34" charset="0"/>
                <a:ea typeface="Times New Roman" pitchFamily="34" charset="-122"/>
                <a:cs typeface="Times New Roman" pitchFamily="34" charset="-120"/>
              </a:rPr>
              <a:t>Write one relation that violates 2NF, with its key</a:t>
            </a:r>
            <a:endParaRPr lang="en-US" sz="2100" dirty="0"/>
          </a:p>
        </p:txBody>
      </p:sp>
      <p:sp>
        <p:nvSpPr>
          <p:cNvPr id="8" name="Shape 6"/>
          <p:cNvSpPr/>
          <p:nvPr/>
        </p:nvSpPr>
        <p:spPr>
          <a:xfrm>
            <a:off x="841248" y="3566160"/>
            <a:ext cx="10515600" cy="1051560"/>
          </a:xfrm>
          <a:prstGeom prst="roundRect">
            <a:avLst>
              <a:gd name="adj" fmla="val 5217"/>
            </a:avLst>
          </a:prstGeom>
          <a:solidFill>
            <a:srgbClr val="F2F6FA"/>
          </a:solidFill>
          <a:ln w="12700">
            <a:solidFill>
              <a:srgbClr val="F2F6FA"/>
            </a:solidFill>
            <a:prstDash val="solid"/>
          </a:ln>
        </p:spPr>
      </p:sp>
      <p:sp>
        <p:nvSpPr>
          <p:cNvPr id="9" name="Shape 7"/>
          <p:cNvSpPr/>
          <p:nvPr/>
        </p:nvSpPr>
        <p:spPr>
          <a:xfrm>
            <a:off x="1115568" y="3794760"/>
            <a:ext cx="603504" cy="603504"/>
          </a:xfrm>
          <a:prstGeom prst="roundRect">
            <a:avLst>
              <a:gd name="adj" fmla="val 15152"/>
            </a:avLst>
          </a:prstGeom>
          <a:solidFill>
            <a:srgbClr val="E97132"/>
          </a:solidFill>
          <a:ln w="12700">
            <a:solidFill>
              <a:srgbClr val="333333"/>
            </a:solidFill>
            <a:prstDash val="solid"/>
          </a:ln>
        </p:spPr>
      </p:sp>
      <p:sp>
        <p:nvSpPr>
          <p:cNvPr id="10" name="Text 8"/>
          <p:cNvSpPr/>
          <p:nvPr/>
        </p:nvSpPr>
        <p:spPr>
          <a:xfrm>
            <a:off x="1115568" y="3794760"/>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2</a:t>
            </a:r>
            <a:endParaRPr lang="en-US" sz="2100" dirty="0"/>
          </a:p>
        </p:txBody>
      </p:sp>
      <p:sp>
        <p:nvSpPr>
          <p:cNvPr id="11" name="Text 9"/>
          <p:cNvSpPr/>
          <p:nvPr/>
        </p:nvSpPr>
        <p:spPr>
          <a:xfrm>
            <a:off x="1938528" y="3566160"/>
            <a:ext cx="8961120" cy="1051560"/>
          </a:xfrm>
          <a:prstGeom prst="rect">
            <a:avLst/>
          </a:prstGeom>
          <a:noFill/>
          <a:ln/>
        </p:spPr>
        <p:txBody>
          <a:bodyPr wrap="square" lIns="0" tIns="0" rIns="0" bIns="0" rtlCol="0" anchor="ctr"/>
          <a:lstStyle/>
          <a:p>
            <a:pPr marL="0" indent="0">
              <a:buNone/>
            </a:pPr>
            <a:r>
              <a:rPr lang="en-US" sz="2100" dirty="0">
                <a:solidFill>
                  <a:srgbClr val="2B2B2B"/>
                </a:solidFill>
                <a:latin typeface="Times New Roman" pitchFamily="34" charset="0"/>
                <a:ea typeface="Times New Roman" pitchFamily="34" charset="-122"/>
                <a:cs typeface="Times New Roman" pitchFamily="34" charset="-120"/>
              </a:rPr>
              <a:t>State the BCNF rule in a single sentence</a:t>
            </a:r>
            <a:endParaRPr lang="en-US" sz="2100" dirty="0"/>
          </a:p>
        </p:txBody>
      </p:sp>
      <p:sp>
        <p:nvSpPr>
          <p:cNvPr id="12" name="Shape 10"/>
          <p:cNvSpPr/>
          <p:nvPr/>
        </p:nvSpPr>
        <p:spPr>
          <a:xfrm>
            <a:off x="841248" y="5029200"/>
            <a:ext cx="10515600" cy="914400"/>
          </a:xfrm>
          <a:prstGeom prst="roundRect">
            <a:avLst>
              <a:gd name="adj" fmla="val 6000"/>
            </a:avLst>
          </a:prstGeom>
          <a:solidFill>
            <a:srgbClr val="FFFFFF"/>
          </a:solidFill>
          <a:ln w="12700">
            <a:solidFill>
              <a:srgbClr val="D2DCE6"/>
            </a:solidFill>
            <a:prstDash val="solid"/>
          </a:ln>
        </p:spPr>
      </p:sp>
      <p:sp>
        <p:nvSpPr>
          <p:cNvPr id="13" name="Shape 11"/>
          <p:cNvSpPr/>
          <p:nvPr/>
        </p:nvSpPr>
        <p:spPr>
          <a:xfrm>
            <a:off x="841248" y="5029200"/>
            <a:ext cx="91440" cy="914400"/>
          </a:xfrm>
          <a:prstGeom prst="rect">
            <a:avLst/>
          </a:prstGeom>
          <a:solidFill>
            <a:srgbClr val="196B24"/>
          </a:solidFill>
          <a:ln w="12700">
            <a:solidFill>
              <a:srgbClr val="333333"/>
            </a:solidFill>
            <a:prstDash val="solid"/>
          </a:ln>
        </p:spPr>
      </p:sp>
      <p:sp>
        <p:nvSpPr>
          <p:cNvPr id="14" name="Text 12"/>
          <p:cNvSpPr/>
          <p:nvPr/>
        </p:nvSpPr>
        <p:spPr>
          <a:xfrm>
            <a:off x="1161288" y="5029200"/>
            <a:ext cx="9875520" cy="914400"/>
          </a:xfrm>
          <a:prstGeom prst="rect">
            <a:avLst/>
          </a:prstGeom>
          <a:noFill/>
          <a:ln/>
        </p:spPr>
        <p:txBody>
          <a:bodyPr wrap="square" lIns="0" tIns="0" rIns="0" bIns="0" rtlCol="0" anchor="ctr"/>
          <a:lstStyle/>
          <a:p>
            <a:pPr marL="0" indent="0">
              <a:buNone/>
            </a:pPr>
            <a:r>
              <a:rPr lang="en-US" sz="2100" dirty="0">
                <a:solidFill>
                  <a:srgbClr val="0E2841"/>
                </a:solidFill>
                <a:latin typeface="Times New Roman" pitchFamily="34" charset="0"/>
                <a:ea typeface="Times New Roman" pitchFamily="34" charset="-122"/>
                <a:cs typeface="Times New Roman" pitchFamily="34" charset="-120"/>
              </a:rPr>
              <a:t>Next: Session 13 — Transactions and Concurrency Control</a:t>
            </a:r>
            <a:endParaRPr lang="en-US" sz="2100" dirty="0"/>
          </a:p>
        </p:txBody>
      </p:sp>
      <p:pic>
        <p:nvPicPr>
          <p:cNvPr id="16" name="Image 0" descr="s1_unpacked/ppt/media/image5.png">
            <a:extLst>
              <a:ext uri="{FF2B5EF4-FFF2-40B4-BE49-F238E27FC236}">
                <a16:creationId xmlns:a16="http://schemas.microsoft.com/office/drawing/2014/main" id="{025DD16D-058E-02C6-66A9-5B5CA0678C6E}"/>
              </a:ext>
            </a:extLst>
          </p:cNvPr>
          <p:cNvPicPr>
            <a:picLocks noChangeAspect="1"/>
          </p:cNvPicPr>
          <p:nvPr/>
        </p:nvPicPr>
        <p:blipFill>
          <a:blip r:embed="rId3"/>
          <a:stretch>
            <a:fillRect/>
          </a:stretch>
        </p:blipFill>
        <p:spPr>
          <a:xfrm>
            <a:off x="9646920" y="256032"/>
            <a:ext cx="2240280" cy="3200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References — Textbooks</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56082"/>
                </a:solidFill>
                <a:latin typeface="Times New Roman" pitchFamily="34" charset="0"/>
                <a:ea typeface="Times New Roman" pitchFamily="34" charset="-122"/>
                <a:cs typeface="Times New Roman" pitchFamily="34" charset="-120"/>
              </a:rPr>
              <a:t>Latest editions:</a:t>
            </a:r>
            <a:endParaRPr lang="en-US" sz="2400" dirty="0"/>
          </a:p>
        </p:txBody>
      </p:sp>
      <p:sp>
        <p:nvSpPr>
          <p:cNvPr id="4" name="Shape 2"/>
          <p:cNvSpPr/>
          <p:nvPr/>
        </p:nvSpPr>
        <p:spPr>
          <a:xfrm>
            <a:off x="841248" y="2194560"/>
            <a:ext cx="10515600" cy="1188720"/>
          </a:xfrm>
          <a:prstGeom prst="roundRect">
            <a:avLst>
              <a:gd name="adj" fmla="val 4615"/>
            </a:avLst>
          </a:prstGeom>
          <a:solidFill>
            <a:srgbClr val="FFFFFF"/>
          </a:solidFill>
          <a:ln w="12700">
            <a:solidFill>
              <a:srgbClr val="D2DCE6"/>
            </a:solidFill>
            <a:prstDash val="solid"/>
          </a:ln>
        </p:spPr>
      </p:sp>
      <p:sp>
        <p:nvSpPr>
          <p:cNvPr id="5" name="Shape 3"/>
          <p:cNvSpPr/>
          <p:nvPr/>
        </p:nvSpPr>
        <p:spPr>
          <a:xfrm>
            <a:off x="841248" y="2194560"/>
            <a:ext cx="91440" cy="1188720"/>
          </a:xfrm>
          <a:prstGeom prst="rect">
            <a:avLst/>
          </a:prstGeom>
          <a:solidFill>
            <a:srgbClr val="156082"/>
          </a:solidFill>
          <a:ln w="12700">
            <a:solidFill>
              <a:srgbClr val="333333"/>
            </a:solidFill>
            <a:prstDash val="solid"/>
          </a:ln>
        </p:spPr>
      </p:sp>
      <p:sp>
        <p:nvSpPr>
          <p:cNvPr id="6" name="Shape 4"/>
          <p:cNvSpPr/>
          <p:nvPr/>
        </p:nvSpPr>
        <p:spPr>
          <a:xfrm>
            <a:off x="1115568" y="2487168"/>
            <a:ext cx="603504" cy="603504"/>
          </a:xfrm>
          <a:prstGeom prst="roundRect">
            <a:avLst>
              <a:gd name="adj" fmla="val 15152"/>
            </a:avLst>
          </a:prstGeom>
          <a:solidFill>
            <a:srgbClr val="156082"/>
          </a:solidFill>
          <a:ln w="12700">
            <a:solidFill>
              <a:srgbClr val="333333"/>
            </a:solidFill>
            <a:prstDash val="solid"/>
          </a:ln>
        </p:spPr>
      </p:sp>
      <p:sp>
        <p:nvSpPr>
          <p:cNvPr id="7" name="Text 5"/>
          <p:cNvSpPr/>
          <p:nvPr/>
        </p:nvSpPr>
        <p:spPr>
          <a:xfrm>
            <a:off x="1115568" y="2487168"/>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1</a:t>
            </a:r>
            <a:endParaRPr lang="en-US" sz="2100" dirty="0"/>
          </a:p>
        </p:txBody>
      </p:sp>
      <p:sp>
        <p:nvSpPr>
          <p:cNvPr id="8" name="Text 6"/>
          <p:cNvSpPr/>
          <p:nvPr/>
        </p:nvSpPr>
        <p:spPr>
          <a:xfrm>
            <a:off x="1874520" y="2322576"/>
            <a:ext cx="9326880" cy="384048"/>
          </a:xfrm>
          <a:prstGeom prst="rect">
            <a:avLst/>
          </a:prstGeom>
          <a:noFill/>
          <a:ln/>
        </p:spPr>
        <p:txBody>
          <a:bodyPr wrap="square" lIns="0" tIns="0" rIns="0" bIns="0" rtlCol="0" anchor="ctr"/>
          <a:lstStyle/>
          <a:p>
            <a:pPr marL="0" indent="0">
              <a:buNone/>
            </a:pPr>
            <a:r>
              <a:rPr lang="en-US" sz="2100" b="1" dirty="0">
                <a:solidFill>
                  <a:srgbClr val="0E2841"/>
                </a:solidFill>
                <a:latin typeface="Times New Roman" pitchFamily="34" charset="0"/>
                <a:ea typeface="Times New Roman" pitchFamily="34" charset="-122"/>
                <a:cs typeface="Times New Roman" pitchFamily="34" charset="-120"/>
              </a:rPr>
              <a:t>Database System Concepts</a:t>
            </a:r>
            <a:endParaRPr lang="en-US" sz="2100" dirty="0"/>
          </a:p>
        </p:txBody>
      </p:sp>
      <p:sp>
        <p:nvSpPr>
          <p:cNvPr id="9" name="Text 7"/>
          <p:cNvSpPr/>
          <p:nvPr/>
        </p:nvSpPr>
        <p:spPr>
          <a:xfrm>
            <a:off x="1874520" y="2688336"/>
            <a:ext cx="9326880" cy="329184"/>
          </a:xfrm>
          <a:prstGeom prst="rect">
            <a:avLst/>
          </a:prstGeom>
          <a:noFill/>
          <a:ln/>
        </p:spPr>
        <p:txBody>
          <a:bodyPr wrap="square" lIns="0" tIns="0" rIns="0" bIns="0" rtlCol="0" anchor="ctr"/>
          <a:lstStyle/>
          <a:p>
            <a:pPr marL="0" indent="0">
              <a:buNone/>
            </a:pPr>
            <a:r>
              <a:rPr lang="en-US" sz="1700" dirty="0">
                <a:solidFill>
                  <a:srgbClr val="5A6472"/>
                </a:solidFill>
                <a:latin typeface="Times New Roman" pitchFamily="34" charset="0"/>
                <a:ea typeface="Times New Roman" pitchFamily="34" charset="-122"/>
                <a:cs typeface="Times New Roman" pitchFamily="34" charset="-120"/>
              </a:rPr>
              <a:t>Silberschatz, Korth &amp; Sudarshan — 7th Edition, McGraw-Hill, 2019</a:t>
            </a:r>
            <a:endParaRPr lang="en-US" sz="1700" dirty="0"/>
          </a:p>
        </p:txBody>
      </p:sp>
      <p:sp>
        <p:nvSpPr>
          <p:cNvPr id="10" name="Text 8">
            <a:hlinkClick r:id="rId3"/>
          </p:cNvPr>
          <p:cNvSpPr/>
          <p:nvPr/>
        </p:nvSpPr>
        <p:spPr>
          <a:xfrm>
            <a:off x="1874520" y="3017520"/>
            <a:ext cx="9326880" cy="310896"/>
          </a:xfrm>
          <a:prstGeom prst="rect">
            <a:avLst/>
          </a:prstGeom>
          <a:noFill/>
          <a:ln/>
        </p:spPr>
        <p:txBody>
          <a:bodyPr wrap="square" lIns="0" tIns="0" rIns="0" bIns="0" rtlCol="0" anchor="ctr"/>
          <a:lstStyle/>
          <a:p>
            <a:pPr marL="0" indent="0">
              <a:buNone/>
            </a:pPr>
            <a:r>
              <a:rPr lang="en-US" sz="1600" u="sng" dirty="0">
                <a:solidFill>
                  <a:srgbClr val="156082"/>
                </a:solidFill>
                <a:latin typeface="Times New Roman" pitchFamily="34" charset="0"/>
                <a:ea typeface="Times New Roman" pitchFamily="34" charset="-122"/>
                <a:cs typeface="Times New Roman" pitchFamily="34" charset="-120"/>
                <a:hlinkClick r:id="rId3">
                  <a:extLst>
                    <a:ext uri="{A12FA001-AC4F-418D-AE19-62706E023703}">
                      <ahyp:hlinkClr xmlns:ahyp="http://schemas.microsoft.com/office/drawing/2018/hyperlinkcolor" val="tx"/>
                    </a:ext>
                  </a:extLst>
                </a:hlinkClick>
              </a:rPr>
              <a:t>https://www.db-book.com</a:t>
            </a:r>
            <a:endParaRPr lang="en-US" sz="1600" dirty="0"/>
          </a:p>
        </p:txBody>
      </p:sp>
      <p:sp>
        <p:nvSpPr>
          <p:cNvPr id="11" name="Shape 9"/>
          <p:cNvSpPr/>
          <p:nvPr/>
        </p:nvSpPr>
        <p:spPr>
          <a:xfrm>
            <a:off x="841248" y="3493008"/>
            <a:ext cx="10515600" cy="1188720"/>
          </a:xfrm>
          <a:prstGeom prst="roundRect">
            <a:avLst>
              <a:gd name="adj" fmla="val 4615"/>
            </a:avLst>
          </a:prstGeom>
          <a:solidFill>
            <a:srgbClr val="FFFFFF"/>
          </a:solidFill>
          <a:ln w="12700">
            <a:solidFill>
              <a:srgbClr val="D2DCE6"/>
            </a:solidFill>
            <a:prstDash val="solid"/>
          </a:ln>
        </p:spPr>
      </p:sp>
      <p:sp>
        <p:nvSpPr>
          <p:cNvPr id="12" name="Shape 10"/>
          <p:cNvSpPr/>
          <p:nvPr/>
        </p:nvSpPr>
        <p:spPr>
          <a:xfrm>
            <a:off x="841248" y="3493008"/>
            <a:ext cx="91440" cy="1188720"/>
          </a:xfrm>
          <a:prstGeom prst="rect">
            <a:avLst/>
          </a:prstGeom>
          <a:solidFill>
            <a:srgbClr val="E97132"/>
          </a:solidFill>
          <a:ln w="12700">
            <a:solidFill>
              <a:srgbClr val="333333"/>
            </a:solidFill>
            <a:prstDash val="solid"/>
          </a:ln>
        </p:spPr>
      </p:sp>
      <p:sp>
        <p:nvSpPr>
          <p:cNvPr id="13" name="Shape 11"/>
          <p:cNvSpPr/>
          <p:nvPr/>
        </p:nvSpPr>
        <p:spPr>
          <a:xfrm>
            <a:off x="1115568" y="3785616"/>
            <a:ext cx="603504" cy="603504"/>
          </a:xfrm>
          <a:prstGeom prst="roundRect">
            <a:avLst>
              <a:gd name="adj" fmla="val 15152"/>
            </a:avLst>
          </a:prstGeom>
          <a:solidFill>
            <a:srgbClr val="E97132"/>
          </a:solidFill>
          <a:ln w="12700">
            <a:solidFill>
              <a:srgbClr val="333333"/>
            </a:solidFill>
            <a:prstDash val="solid"/>
          </a:ln>
        </p:spPr>
      </p:sp>
      <p:sp>
        <p:nvSpPr>
          <p:cNvPr id="14" name="Text 12"/>
          <p:cNvSpPr/>
          <p:nvPr/>
        </p:nvSpPr>
        <p:spPr>
          <a:xfrm>
            <a:off x="1115568" y="3785616"/>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2</a:t>
            </a:r>
            <a:endParaRPr lang="en-US" sz="2100" dirty="0"/>
          </a:p>
        </p:txBody>
      </p:sp>
      <p:sp>
        <p:nvSpPr>
          <p:cNvPr id="15" name="Text 13"/>
          <p:cNvSpPr/>
          <p:nvPr/>
        </p:nvSpPr>
        <p:spPr>
          <a:xfrm>
            <a:off x="1874520" y="3621024"/>
            <a:ext cx="9326880" cy="384048"/>
          </a:xfrm>
          <a:prstGeom prst="rect">
            <a:avLst/>
          </a:prstGeom>
          <a:noFill/>
          <a:ln/>
        </p:spPr>
        <p:txBody>
          <a:bodyPr wrap="square" lIns="0" tIns="0" rIns="0" bIns="0" rtlCol="0" anchor="ctr"/>
          <a:lstStyle/>
          <a:p>
            <a:pPr marL="0" indent="0">
              <a:buNone/>
            </a:pPr>
            <a:r>
              <a:rPr lang="en-US" sz="2100" b="1" dirty="0">
                <a:solidFill>
                  <a:srgbClr val="0E2841"/>
                </a:solidFill>
                <a:latin typeface="Times New Roman" pitchFamily="34" charset="0"/>
                <a:ea typeface="Times New Roman" pitchFamily="34" charset="-122"/>
                <a:cs typeface="Times New Roman" pitchFamily="34" charset="-120"/>
              </a:rPr>
              <a:t>Fundamentals of Database Systems</a:t>
            </a:r>
            <a:endParaRPr lang="en-US" sz="2100" dirty="0"/>
          </a:p>
        </p:txBody>
      </p:sp>
      <p:sp>
        <p:nvSpPr>
          <p:cNvPr id="16" name="Text 14"/>
          <p:cNvSpPr/>
          <p:nvPr/>
        </p:nvSpPr>
        <p:spPr>
          <a:xfrm>
            <a:off x="1874520" y="3986784"/>
            <a:ext cx="9326880" cy="329184"/>
          </a:xfrm>
          <a:prstGeom prst="rect">
            <a:avLst/>
          </a:prstGeom>
          <a:noFill/>
          <a:ln/>
        </p:spPr>
        <p:txBody>
          <a:bodyPr wrap="square" lIns="0" tIns="0" rIns="0" bIns="0" rtlCol="0" anchor="ctr"/>
          <a:lstStyle/>
          <a:p>
            <a:pPr marL="0" indent="0">
              <a:buNone/>
            </a:pPr>
            <a:r>
              <a:rPr lang="en-US" sz="1700" dirty="0">
                <a:solidFill>
                  <a:srgbClr val="5A6472"/>
                </a:solidFill>
                <a:latin typeface="Times New Roman" pitchFamily="34" charset="0"/>
                <a:ea typeface="Times New Roman" pitchFamily="34" charset="-122"/>
                <a:cs typeface="Times New Roman" pitchFamily="34" charset="-120"/>
              </a:rPr>
              <a:t>Elmasri &amp; Navathe — 7th Edition, Pearson, 2016</a:t>
            </a:r>
            <a:endParaRPr lang="en-US" sz="1700" dirty="0"/>
          </a:p>
        </p:txBody>
      </p:sp>
      <p:sp>
        <p:nvSpPr>
          <p:cNvPr id="17" name="Text 15">
            <a:hlinkClick r:id="rId4"/>
          </p:cNvPr>
          <p:cNvSpPr/>
          <p:nvPr/>
        </p:nvSpPr>
        <p:spPr>
          <a:xfrm>
            <a:off x="1874520" y="4315968"/>
            <a:ext cx="9326880" cy="310896"/>
          </a:xfrm>
          <a:prstGeom prst="rect">
            <a:avLst/>
          </a:prstGeom>
          <a:noFill/>
          <a:ln/>
        </p:spPr>
        <p:txBody>
          <a:bodyPr wrap="square" lIns="0" tIns="0" rIns="0" bIns="0" rtlCol="0" anchor="ctr"/>
          <a:lstStyle/>
          <a:p>
            <a:pPr marL="0" indent="0">
              <a:buNone/>
            </a:pPr>
            <a:r>
              <a:rPr lang="en-US" sz="1600" u="sng" dirty="0">
                <a:solidFill>
                  <a:srgbClr val="156082"/>
                </a:solidFill>
                <a:latin typeface="Times New Roman" pitchFamily="34" charset="0"/>
                <a:ea typeface="Times New Roman" pitchFamily="34" charset="-122"/>
                <a:cs typeface="Times New Roman" pitchFamily="34" charset="-120"/>
                <a:hlinkClick r:id="rId4">
                  <a:extLst>
                    <a:ext uri="{A12FA001-AC4F-418D-AE19-62706E023703}">
                      <ahyp:hlinkClr xmlns:ahyp="http://schemas.microsoft.com/office/drawing/2018/hyperlinkcolor" val="tx"/>
                    </a:ext>
                  </a:extLst>
                </a:hlinkClick>
              </a:rPr>
              <a:t>pearson.com — Fundamentals of Database Systems, 7th Ed</a:t>
            </a:r>
            <a:endParaRPr lang="en-US" sz="1600" dirty="0"/>
          </a:p>
        </p:txBody>
      </p:sp>
      <p:sp>
        <p:nvSpPr>
          <p:cNvPr id="18" name="Shape 16"/>
          <p:cNvSpPr/>
          <p:nvPr/>
        </p:nvSpPr>
        <p:spPr>
          <a:xfrm>
            <a:off x="841248" y="4791456"/>
            <a:ext cx="10515600" cy="1188720"/>
          </a:xfrm>
          <a:prstGeom prst="roundRect">
            <a:avLst>
              <a:gd name="adj" fmla="val 4615"/>
            </a:avLst>
          </a:prstGeom>
          <a:solidFill>
            <a:srgbClr val="FFFFFF"/>
          </a:solidFill>
          <a:ln w="12700">
            <a:solidFill>
              <a:srgbClr val="D2DCE6"/>
            </a:solidFill>
            <a:prstDash val="solid"/>
          </a:ln>
        </p:spPr>
      </p:sp>
      <p:sp>
        <p:nvSpPr>
          <p:cNvPr id="19" name="Shape 17"/>
          <p:cNvSpPr/>
          <p:nvPr/>
        </p:nvSpPr>
        <p:spPr>
          <a:xfrm>
            <a:off x="841248" y="4791456"/>
            <a:ext cx="91440" cy="1188720"/>
          </a:xfrm>
          <a:prstGeom prst="rect">
            <a:avLst/>
          </a:prstGeom>
          <a:solidFill>
            <a:srgbClr val="196B24"/>
          </a:solidFill>
          <a:ln w="12700">
            <a:solidFill>
              <a:srgbClr val="333333"/>
            </a:solidFill>
            <a:prstDash val="solid"/>
          </a:ln>
        </p:spPr>
      </p:sp>
      <p:sp>
        <p:nvSpPr>
          <p:cNvPr id="20" name="Shape 18"/>
          <p:cNvSpPr/>
          <p:nvPr/>
        </p:nvSpPr>
        <p:spPr>
          <a:xfrm>
            <a:off x="1115568" y="5084064"/>
            <a:ext cx="603504" cy="603504"/>
          </a:xfrm>
          <a:prstGeom prst="roundRect">
            <a:avLst>
              <a:gd name="adj" fmla="val 15152"/>
            </a:avLst>
          </a:prstGeom>
          <a:solidFill>
            <a:srgbClr val="196B24"/>
          </a:solidFill>
          <a:ln w="12700">
            <a:solidFill>
              <a:srgbClr val="333333"/>
            </a:solidFill>
            <a:prstDash val="solid"/>
          </a:ln>
        </p:spPr>
      </p:sp>
      <p:sp>
        <p:nvSpPr>
          <p:cNvPr id="21" name="Text 19"/>
          <p:cNvSpPr/>
          <p:nvPr/>
        </p:nvSpPr>
        <p:spPr>
          <a:xfrm>
            <a:off x="1115568" y="5084064"/>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3</a:t>
            </a:r>
            <a:endParaRPr lang="en-US" sz="2100" dirty="0"/>
          </a:p>
        </p:txBody>
      </p:sp>
      <p:sp>
        <p:nvSpPr>
          <p:cNvPr id="22" name="Text 20"/>
          <p:cNvSpPr/>
          <p:nvPr/>
        </p:nvSpPr>
        <p:spPr>
          <a:xfrm>
            <a:off x="1874520" y="4919472"/>
            <a:ext cx="9326880" cy="384048"/>
          </a:xfrm>
          <a:prstGeom prst="rect">
            <a:avLst/>
          </a:prstGeom>
          <a:noFill/>
          <a:ln/>
        </p:spPr>
        <p:txBody>
          <a:bodyPr wrap="square" lIns="0" tIns="0" rIns="0" bIns="0" rtlCol="0" anchor="ctr"/>
          <a:lstStyle/>
          <a:p>
            <a:pPr marL="0" indent="0">
              <a:buNone/>
            </a:pPr>
            <a:r>
              <a:rPr lang="en-US" sz="2100" b="1" dirty="0">
                <a:solidFill>
                  <a:srgbClr val="0E2841"/>
                </a:solidFill>
                <a:latin typeface="Times New Roman" pitchFamily="34" charset="0"/>
                <a:ea typeface="Times New Roman" pitchFamily="34" charset="-122"/>
                <a:cs typeface="Times New Roman" pitchFamily="34" charset="-120"/>
              </a:rPr>
              <a:t>Database Management Systems</a:t>
            </a:r>
            <a:endParaRPr lang="en-US" sz="2100" dirty="0"/>
          </a:p>
        </p:txBody>
      </p:sp>
      <p:sp>
        <p:nvSpPr>
          <p:cNvPr id="23" name="Text 21"/>
          <p:cNvSpPr/>
          <p:nvPr/>
        </p:nvSpPr>
        <p:spPr>
          <a:xfrm>
            <a:off x="1874520" y="5285232"/>
            <a:ext cx="9326880" cy="329184"/>
          </a:xfrm>
          <a:prstGeom prst="rect">
            <a:avLst/>
          </a:prstGeom>
          <a:noFill/>
          <a:ln/>
        </p:spPr>
        <p:txBody>
          <a:bodyPr wrap="square" lIns="0" tIns="0" rIns="0" bIns="0" rtlCol="0" anchor="ctr"/>
          <a:lstStyle/>
          <a:p>
            <a:pPr marL="0" indent="0">
              <a:buNone/>
            </a:pPr>
            <a:r>
              <a:rPr lang="en-US" sz="1700" dirty="0">
                <a:solidFill>
                  <a:srgbClr val="5A6472"/>
                </a:solidFill>
                <a:latin typeface="Times New Roman" pitchFamily="34" charset="0"/>
                <a:ea typeface="Times New Roman" pitchFamily="34" charset="-122"/>
                <a:cs typeface="Times New Roman" pitchFamily="34" charset="-120"/>
              </a:rPr>
              <a:t>Ramakrishnan &amp; Gehrke — 3rd Edition, McGraw-Hill, 2003</a:t>
            </a:r>
            <a:endParaRPr lang="en-US" sz="1700" dirty="0"/>
          </a:p>
        </p:txBody>
      </p:sp>
      <p:sp>
        <p:nvSpPr>
          <p:cNvPr id="24" name="Text 22">
            <a:hlinkClick r:id="rId5"/>
          </p:cNvPr>
          <p:cNvSpPr/>
          <p:nvPr/>
        </p:nvSpPr>
        <p:spPr>
          <a:xfrm>
            <a:off x="1874520" y="5614416"/>
            <a:ext cx="9326880" cy="310896"/>
          </a:xfrm>
          <a:prstGeom prst="rect">
            <a:avLst/>
          </a:prstGeom>
          <a:noFill/>
          <a:ln/>
        </p:spPr>
        <p:txBody>
          <a:bodyPr wrap="square" lIns="0" tIns="0" rIns="0" bIns="0" rtlCol="0" anchor="ctr"/>
          <a:lstStyle/>
          <a:p>
            <a:pPr marL="0" indent="0">
              <a:buNone/>
            </a:pPr>
            <a:r>
              <a:rPr lang="en-US" sz="1600" u="sng" dirty="0">
                <a:solidFill>
                  <a:srgbClr val="156082"/>
                </a:solidFill>
                <a:latin typeface="Times New Roman" pitchFamily="34" charset="0"/>
                <a:ea typeface="Times New Roman" pitchFamily="34" charset="-122"/>
                <a:cs typeface="Times New Roman" pitchFamily="34" charset="-120"/>
                <a:hlinkClick r:id="rId5">
                  <a:extLst>
                    <a:ext uri="{A12FA001-AC4F-418D-AE19-62706E023703}">
                      <ahyp:hlinkClr xmlns:ahyp="http://schemas.microsoft.com/office/drawing/2018/hyperlinkcolor" val="tx"/>
                    </a:ext>
                  </a:extLst>
                </a:hlinkClick>
              </a:rPr>
              <a:t>https://pages.cs.wisc.edu/~dbbook/</a:t>
            </a:r>
            <a:endParaRPr lang="en-US" sz="1600" dirty="0"/>
          </a:p>
        </p:txBody>
      </p:sp>
      <p:pic>
        <p:nvPicPr>
          <p:cNvPr id="26" name="Image 0" descr="s1_unpacked/ppt/media/image5.png">
            <a:extLst>
              <a:ext uri="{FF2B5EF4-FFF2-40B4-BE49-F238E27FC236}">
                <a16:creationId xmlns:a16="http://schemas.microsoft.com/office/drawing/2014/main" id="{E451F215-3FBF-AABC-3AB5-C5D67ABE884C}"/>
              </a:ext>
            </a:extLst>
          </p:cNvPr>
          <p:cNvPicPr>
            <a:picLocks noChangeAspect="1"/>
          </p:cNvPicPr>
          <p:nvPr/>
        </p:nvPicPr>
        <p:blipFill>
          <a:blip r:embed="rId6"/>
          <a:stretch>
            <a:fillRect/>
          </a:stretch>
        </p:blipFill>
        <p:spPr>
          <a:xfrm>
            <a:off x="9646920" y="256032"/>
            <a:ext cx="2240280" cy="3200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8505" y="555041"/>
            <a:ext cx="10515600" cy="857707"/>
          </a:xfrm>
          <a:prstGeom prst="rect">
            <a:avLst/>
          </a:prstGeom>
          <a:noFill/>
          <a:ln/>
        </p:spPr>
        <p:txBody>
          <a:bodyPr wrap="square" lIns="0" tIns="0" rIns="0" bIns="0" rtlCol="0" anchor="ctr"/>
          <a:lstStyle/>
          <a:p>
            <a:pPr marL="0" indent="0">
              <a:buNone/>
            </a:pPr>
            <a:r>
              <a:rPr lang="en-US" sz="3600" b="1" dirty="0">
                <a:solidFill>
                  <a:srgbClr val="0E2841"/>
                </a:solidFill>
                <a:latin typeface="Times New Roman" pitchFamily="34" charset="0"/>
                <a:ea typeface="Times New Roman" pitchFamily="34" charset="-122"/>
                <a:cs typeface="Times New Roman" pitchFamily="34" charset="-120"/>
              </a:rPr>
              <a:t>References — Further Reading</a:t>
            </a:r>
            <a:endParaRPr lang="en-US" sz="3600" dirty="0"/>
          </a:p>
        </p:txBody>
      </p:sp>
      <p:sp>
        <p:nvSpPr>
          <p:cNvPr id="3" name="Text 1"/>
          <p:cNvSpPr/>
          <p:nvPr/>
        </p:nvSpPr>
        <p:spPr>
          <a:xfrm>
            <a:off x="841248" y="1691640"/>
            <a:ext cx="10515600" cy="384048"/>
          </a:xfrm>
          <a:prstGeom prst="rect">
            <a:avLst/>
          </a:prstGeom>
          <a:noFill/>
          <a:ln/>
        </p:spPr>
        <p:txBody>
          <a:bodyPr wrap="square" lIns="0" tIns="0" rIns="0" bIns="0" rtlCol="0" anchor="ctr"/>
          <a:lstStyle/>
          <a:p>
            <a:pPr marL="0" indent="0">
              <a:buNone/>
            </a:pPr>
            <a:r>
              <a:rPr lang="en-US" sz="2400" dirty="0">
                <a:solidFill>
                  <a:srgbClr val="156082"/>
                </a:solidFill>
                <a:latin typeface="Times New Roman" pitchFamily="34" charset="0"/>
                <a:ea typeface="Times New Roman" pitchFamily="34" charset="-122"/>
                <a:cs typeface="Times New Roman" pitchFamily="34" charset="-120"/>
              </a:rPr>
              <a:t>Specialist texts and self-learning:</a:t>
            </a:r>
            <a:endParaRPr lang="en-US" sz="2400" dirty="0"/>
          </a:p>
        </p:txBody>
      </p:sp>
      <p:sp>
        <p:nvSpPr>
          <p:cNvPr id="4" name="Shape 2"/>
          <p:cNvSpPr/>
          <p:nvPr/>
        </p:nvSpPr>
        <p:spPr>
          <a:xfrm>
            <a:off x="841248" y="2194560"/>
            <a:ext cx="10515600" cy="1188720"/>
          </a:xfrm>
          <a:prstGeom prst="roundRect">
            <a:avLst>
              <a:gd name="adj" fmla="val 4615"/>
            </a:avLst>
          </a:prstGeom>
          <a:solidFill>
            <a:srgbClr val="FFFFFF"/>
          </a:solidFill>
          <a:ln w="12700">
            <a:solidFill>
              <a:srgbClr val="D2DCE6"/>
            </a:solidFill>
            <a:prstDash val="solid"/>
          </a:ln>
        </p:spPr>
      </p:sp>
      <p:sp>
        <p:nvSpPr>
          <p:cNvPr id="5" name="Shape 3"/>
          <p:cNvSpPr/>
          <p:nvPr/>
        </p:nvSpPr>
        <p:spPr>
          <a:xfrm>
            <a:off x="841248" y="2194560"/>
            <a:ext cx="91440" cy="1188720"/>
          </a:xfrm>
          <a:prstGeom prst="rect">
            <a:avLst/>
          </a:prstGeom>
          <a:solidFill>
            <a:srgbClr val="A02B93"/>
          </a:solidFill>
          <a:ln w="12700">
            <a:solidFill>
              <a:srgbClr val="333333"/>
            </a:solidFill>
            <a:prstDash val="solid"/>
          </a:ln>
        </p:spPr>
      </p:sp>
      <p:sp>
        <p:nvSpPr>
          <p:cNvPr id="6" name="Shape 4"/>
          <p:cNvSpPr/>
          <p:nvPr/>
        </p:nvSpPr>
        <p:spPr>
          <a:xfrm>
            <a:off x="1115568" y="2487168"/>
            <a:ext cx="603504" cy="603504"/>
          </a:xfrm>
          <a:prstGeom prst="roundRect">
            <a:avLst>
              <a:gd name="adj" fmla="val 15152"/>
            </a:avLst>
          </a:prstGeom>
          <a:solidFill>
            <a:srgbClr val="A02B93"/>
          </a:solidFill>
          <a:ln w="12700">
            <a:solidFill>
              <a:srgbClr val="333333"/>
            </a:solidFill>
            <a:prstDash val="solid"/>
          </a:ln>
        </p:spPr>
      </p:sp>
      <p:sp>
        <p:nvSpPr>
          <p:cNvPr id="7" name="Text 5"/>
          <p:cNvSpPr/>
          <p:nvPr/>
        </p:nvSpPr>
        <p:spPr>
          <a:xfrm>
            <a:off x="1115568" y="2487168"/>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4</a:t>
            </a:r>
            <a:endParaRPr lang="en-US" sz="2100" dirty="0"/>
          </a:p>
        </p:txBody>
      </p:sp>
      <p:sp>
        <p:nvSpPr>
          <p:cNvPr id="8" name="Text 6"/>
          <p:cNvSpPr/>
          <p:nvPr/>
        </p:nvSpPr>
        <p:spPr>
          <a:xfrm>
            <a:off x="1874520" y="2286000"/>
            <a:ext cx="9326880" cy="420624"/>
          </a:xfrm>
          <a:prstGeom prst="rect">
            <a:avLst/>
          </a:prstGeom>
          <a:noFill/>
          <a:ln/>
        </p:spPr>
        <p:txBody>
          <a:bodyPr wrap="square" lIns="0" tIns="0" rIns="0" bIns="0" rtlCol="0" anchor="ctr"/>
          <a:lstStyle/>
          <a:p>
            <a:pPr marL="0" indent="0">
              <a:buNone/>
            </a:pPr>
            <a:r>
              <a:rPr lang="en-US" sz="1900" b="1" dirty="0">
                <a:solidFill>
                  <a:srgbClr val="0E2841"/>
                </a:solidFill>
                <a:latin typeface="Times New Roman" pitchFamily="34" charset="0"/>
                <a:ea typeface="Times New Roman" pitchFamily="34" charset="-122"/>
                <a:cs typeface="Times New Roman" pitchFamily="34" charset="-120"/>
              </a:rPr>
              <a:t>Database Design and Relational Theory: Normal Forms and All That Jazz</a:t>
            </a:r>
            <a:endParaRPr lang="en-US" sz="1900" dirty="0"/>
          </a:p>
        </p:txBody>
      </p:sp>
      <p:sp>
        <p:nvSpPr>
          <p:cNvPr id="9" name="Text 7"/>
          <p:cNvSpPr/>
          <p:nvPr/>
        </p:nvSpPr>
        <p:spPr>
          <a:xfrm>
            <a:off x="1874520" y="2697480"/>
            <a:ext cx="9326880" cy="310896"/>
          </a:xfrm>
          <a:prstGeom prst="rect">
            <a:avLst/>
          </a:prstGeom>
          <a:noFill/>
          <a:ln/>
        </p:spPr>
        <p:txBody>
          <a:bodyPr wrap="square" lIns="0" tIns="0" rIns="0" bIns="0" rtlCol="0" anchor="ctr"/>
          <a:lstStyle/>
          <a:p>
            <a:pPr marL="0" indent="0">
              <a:buNone/>
            </a:pPr>
            <a:r>
              <a:rPr lang="en-US" sz="1700" dirty="0">
                <a:solidFill>
                  <a:srgbClr val="5A6472"/>
                </a:solidFill>
                <a:latin typeface="Times New Roman" pitchFamily="34" charset="0"/>
                <a:ea typeface="Times New Roman" pitchFamily="34" charset="-122"/>
                <a:cs typeface="Times New Roman" pitchFamily="34" charset="-120"/>
              </a:rPr>
              <a:t>C. J. Date — 2nd Edition, Apress, 2019</a:t>
            </a:r>
            <a:endParaRPr lang="en-US" sz="1700" dirty="0"/>
          </a:p>
        </p:txBody>
      </p:sp>
      <p:sp>
        <p:nvSpPr>
          <p:cNvPr id="10" name="Text 8">
            <a:hlinkClick r:id="rId3"/>
          </p:cNvPr>
          <p:cNvSpPr/>
          <p:nvPr/>
        </p:nvSpPr>
        <p:spPr>
          <a:xfrm>
            <a:off x="1874520" y="3017520"/>
            <a:ext cx="9326880" cy="310896"/>
          </a:xfrm>
          <a:prstGeom prst="rect">
            <a:avLst/>
          </a:prstGeom>
          <a:noFill/>
          <a:ln/>
        </p:spPr>
        <p:txBody>
          <a:bodyPr wrap="square" lIns="0" tIns="0" rIns="0" bIns="0" rtlCol="0" anchor="ctr"/>
          <a:lstStyle/>
          <a:p>
            <a:pPr marL="0" indent="0">
              <a:buNone/>
            </a:pPr>
            <a:r>
              <a:rPr lang="en-US" sz="1600" u="sng" dirty="0">
                <a:solidFill>
                  <a:srgbClr val="156082"/>
                </a:solidFill>
                <a:latin typeface="Times New Roman" pitchFamily="34" charset="0"/>
                <a:ea typeface="Times New Roman" pitchFamily="34" charset="-122"/>
                <a:cs typeface="Times New Roman" pitchFamily="34" charset="-120"/>
                <a:hlinkClick r:id="rId3">
                  <a:extLst>
                    <a:ext uri="{A12FA001-AC4F-418D-AE19-62706E023703}">
                      <ahyp:hlinkClr xmlns:ahyp="http://schemas.microsoft.com/office/drawing/2018/hyperlinkcolor" val="tx"/>
                    </a:ext>
                  </a:extLst>
                </a:hlinkClick>
              </a:rPr>
              <a:t>https://link.springer.com/book/10.1007/978-1-4842-5540-7</a:t>
            </a:r>
            <a:endParaRPr lang="en-US" sz="1600" dirty="0"/>
          </a:p>
        </p:txBody>
      </p:sp>
      <p:sp>
        <p:nvSpPr>
          <p:cNvPr id="11" name="Shape 9"/>
          <p:cNvSpPr/>
          <p:nvPr/>
        </p:nvSpPr>
        <p:spPr>
          <a:xfrm>
            <a:off x="841248" y="3493008"/>
            <a:ext cx="10515600" cy="1188720"/>
          </a:xfrm>
          <a:prstGeom prst="roundRect">
            <a:avLst>
              <a:gd name="adj" fmla="val 4615"/>
            </a:avLst>
          </a:prstGeom>
          <a:solidFill>
            <a:srgbClr val="FFFFFF"/>
          </a:solidFill>
          <a:ln w="12700">
            <a:solidFill>
              <a:srgbClr val="D2DCE6"/>
            </a:solidFill>
            <a:prstDash val="solid"/>
          </a:ln>
        </p:spPr>
      </p:sp>
      <p:sp>
        <p:nvSpPr>
          <p:cNvPr id="12" name="Shape 10"/>
          <p:cNvSpPr/>
          <p:nvPr/>
        </p:nvSpPr>
        <p:spPr>
          <a:xfrm>
            <a:off x="841248" y="3493008"/>
            <a:ext cx="91440" cy="1188720"/>
          </a:xfrm>
          <a:prstGeom prst="rect">
            <a:avLst/>
          </a:prstGeom>
          <a:solidFill>
            <a:srgbClr val="156082"/>
          </a:solidFill>
          <a:ln w="12700">
            <a:solidFill>
              <a:srgbClr val="333333"/>
            </a:solidFill>
            <a:prstDash val="solid"/>
          </a:ln>
        </p:spPr>
      </p:sp>
      <p:sp>
        <p:nvSpPr>
          <p:cNvPr id="13" name="Shape 11"/>
          <p:cNvSpPr/>
          <p:nvPr/>
        </p:nvSpPr>
        <p:spPr>
          <a:xfrm>
            <a:off x="1115568" y="3785616"/>
            <a:ext cx="603504" cy="603504"/>
          </a:xfrm>
          <a:prstGeom prst="roundRect">
            <a:avLst>
              <a:gd name="adj" fmla="val 15152"/>
            </a:avLst>
          </a:prstGeom>
          <a:solidFill>
            <a:srgbClr val="156082"/>
          </a:solidFill>
          <a:ln w="12700">
            <a:solidFill>
              <a:srgbClr val="333333"/>
            </a:solidFill>
            <a:prstDash val="solid"/>
          </a:ln>
        </p:spPr>
      </p:sp>
      <p:sp>
        <p:nvSpPr>
          <p:cNvPr id="14" name="Text 12"/>
          <p:cNvSpPr/>
          <p:nvPr/>
        </p:nvSpPr>
        <p:spPr>
          <a:xfrm>
            <a:off x="1115568" y="3785616"/>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5</a:t>
            </a:r>
            <a:endParaRPr lang="en-US" sz="2100" dirty="0"/>
          </a:p>
        </p:txBody>
      </p:sp>
      <p:sp>
        <p:nvSpPr>
          <p:cNvPr id="15" name="Text 13"/>
          <p:cNvSpPr/>
          <p:nvPr/>
        </p:nvSpPr>
        <p:spPr>
          <a:xfrm>
            <a:off x="1874520" y="3584448"/>
            <a:ext cx="9326880" cy="420624"/>
          </a:xfrm>
          <a:prstGeom prst="rect">
            <a:avLst/>
          </a:prstGeom>
          <a:noFill/>
          <a:ln/>
        </p:spPr>
        <p:txBody>
          <a:bodyPr wrap="square" lIns="0" tIns="0" rIns="0" bIns="0" rtlCol="0" anchor="ctr"/>
          <a:lstStyle/>
          <a:p>
            <a:pPr marL="0" indent="0">
              <a:buNone/>
            </a:pPr>
            <a:r>
              <a:rPr lang="en-US" sz="1900" b="1" dirty="0">
                <a:solidFill>
                  <a:srgbClr val="0E2841"/>
                </a:solidFill>
                <a:latin typeface="Times New Roman" pitchFamily="34" charset="0"/>
                <a:ea typeface="Times New Roman" pitchFamily="34" charset="-122"/>
                <a:cs typeface="Times New Roman" pitchFamily="34" charset="-120"/>
              </a:rPr>
              <a:t>Database Systems: The Complete Book</a:t>
            </a:r>
            <a:endParaRPr lang="en-US" sz="1900" dirty="0"/>
          </a:p>
        </p:txBody>
      </p:sp>
      <p:sp>
        <p:nvSpPr>
          <p:cNvPr id="16" name="Text 14"/>
          <p:cNvSpPr/>
          <p:nvPr/>
        </p:nvSpPr>
        <p:spPr>
          <a:xfrm>
            <a:off x="1874520" y="3995928"/>
            <a:ext cx="9326880" cy="310896"/>
          </a:xfrm>
          <a:prstGeom prst="rect">
            <a:avLst/>
          </a:prstGeom>
          <a:noFill/>
          <a:ln/>
        </p:spPr>
        <p:txBody>
          <a:bodyPr wrap="square" lIns="0" tIns="0" rIns="0" bIns="0" rtlCol="0" anchor="ctr"/>
          <a:lstStyle/>
          <a:p>
            <a:pPr marL="0" indent="0">
              <a:buNone/>
            </a:pPr>
            <a:r>
              <a:rPr lang="en-US" sz="1700" dirty="0">
                <a:solidFill>
                  <a:srgbClr val="5A6472"/>
                </a:solidFill>
                <a:latin typeface="Times New Roman" pitchFamily="34" charset="0"/>
                <a:ea typeface="Times New Roman" pitchFamily="34" charset="-122"/>
                <a:cs typeface="Times New Roman" pitchFamily="34" charset="-120"/>
              </a:rPr>
              <a:t>Garcia-Molina, Ullman &amp; Widom — 2nd Edition, Pearson, 2008</a:t>
            </a:r>
            <a:endParaRPr lang="en-US" sz="1700" dirty="0"/>
          </a:p>
        </p:txBody>
      </p:sp>
      <p:sp>
        <p:nvSpPr>
          <p:cNvPr id="17" name="Text 15">
            <a:hlinkClick r:id="rId4"/>
          </p:cNvPr>
          <p:cNvSpPr/>
          <p:nvPr/>
        </p:nvSpPr>
        <p:spPr>
          <a:xfrm>
            <a:off x="1874520" y="4315968"/>
            <a:ext cx="9326880" cy="310896"/>
          </a:xfrm>
          <a:prstGeom prst="rect">
            <a:avLst/>
          </a:prstGeom>
          <a:noFill/>
          <a:ln/>
        </p:spPr>
        <p:txBody>
          <a:bodyPr wrap="square" lIns="0" tIns="0" rIns="0" bIns="0" rtlCol="0" anchor="ctr"/>
          <a:lstStyle/>
          <a:p>
            <a:pPr marL="0" indent="0">
              <a:buNone/>
            </a:pPr>
            <a:r>
              <a:rPr lang="en-US" sz="1600" u="sng" dirty="0">
                <a:solidFill>
                  <a:srgbClr val="156082"/>
                </a:solidFill>
                <a:latin typeface="Times New Roman" pitchFamily="34" charset="0"/>
                <a:ea typeface="Times New Roman" pitchFamily="34" charset="-122"/>
                <a:cs typeface="Times New Roman" pitchFamily="34" charset="-120"/>
                <a:hlinkClick r:id="rId4">
                  <a:extLst>
                    <a:ext uri="{A12FA001-AC4F-418D-AE19-62706E023703}">
                      <ahyp:hlinkClr xmlns:ahyp="http://schemas.microsoft.com/office/drawing/2018/hyperlinkcolor" val="tx"/>
                    </a:ext>
                  </a:extLst>
                </a:hlinkClick>
              </a:rPr>
              <a:t>http://infolab.stanford.edu/~ullman/dscb.html</a:t>
            </a:r>
            <a:endParaRPr lang="en-US" sz="1600" dirty="0"/>
          </a:p>
        </p:txBody>
      </p:sp>
      <p:sp>
        <p:nvSpPr>
          <p:cNvPr id="18" name="Shape 16"/>
          <p:cNvSpPr/>
          <p:nvPr/>
        </p:nvSpPr>
        <p:spPr>
          <a:xfrm>
            <a:off x="841248" y="4791456"/>
            <a:ext cx="10515600" cy="1188720"/>
          </a:xfrm>
          <a:prstGeom prst="roundRect">
            <a:avLst>
              <a:gd name="adj" fmla="val 4615"/>
            </a:avLst>
          </a:prstGeom>
          <a:solidFill>
            <a:srgbClr val="FFFFFF"/>
          </a:solidFill>
          <a:ln w="12700">
            <a:solidFill>
              <a:srgbClr val="D2DCE6"/>
            </a:solidFill>
            <a:prstDash val="solid"/>
          </a:ln>
        </p:spPr>
      </p:sp>
      <p:sp>
        <p:nvSpPr>
          <p:cNvPr id="19" name="Shape 17"/>
          <p:cNvSpPr/>
          <p:nvPr/>
        </p:nvSpPr>
        <p:spPr>
          <a:xfrm>
            <a:off x="841248" y="4791456"/>
            <a:ext cx="91440" cy="1188720"/>
          </a:xfrm>
          <a:prstGeom prst="rect">
            <a:avLst/>
          </a:prstGeom>
          <a:solidFill>
            <a:srgbClr val="E97132"/>
          </a:solidFill>
          <a:ln w="12700">
            <a:solidFill>
              <a:srgbClr val="333333"/>
            </a:solidFill>
            <a:prstDash val="solid"/>
          </a:ln>
        </p:spPr>
      </p:sp>
      <p:sp>
        <p:nvSpPr>
          <p:cNvPr id="20" name="Shape 18"/>
          <p:cNvSpPr/>
          <p:nvPr/>
        </p:nvSpPr>
        <p:spPr>
          <a:xfrm>
            <a:off x="1115568" y="5084064"/>
            <a:ext cx="603504" cy="603504"/>
          </a:xfrm>
          <a:prstGeom prst="roundRect">
            <a:avLst>
              <a:gd name="adj" fmla="val 15152"/>
            </a:avLst>
          </a:prstGeom>
          <a:solidFill>
            <a:srgbClr val="E97132"/>
          </a:solidFill>
          <a:ln w="12700">
            <a:solidFill>
              <a:srgbClr val="333333"/>
            </a:solidFill>
            <a:prstDash val="solid"/>
          </a:ln>
        </p:spPr>
      </p:sp>
      <p:sp>
        <p:nvSpPr>
          <p:cNvPr id="21" name="Text 19"/>
          <p:cNvSpPr/>
          <p:nvPr/>
        </p:nvSpPr>
        <p:spPr>
          <a:xfrm>
            <a:off x="1115568" y="5084064"/>
            <a:ext cx="603504" cy="603504"/>
          </a:xfrm>
          <a:prstGeom prst="rect">
            <a:avLst/>
          </a:prstGeom>
          <a:noFill/>
          <a:ln/>
        </p:spPr>
        <p:txBody>
          <a:bodyPr wrap="square" lIns="0" tIns="0" rIns="0" bIns="0" rtlCol="0" anchor="ctr"/>
          <a:lstStyle/>
          <a:p>
            <a:pPr marL="0" indent="0" algn="ctr">
              <a:buNone/>
            </a:pPr>
            <a:r>
              <a:rPr lang="en-US" sz="2100" b="1" dirty="0">
                <a:solidFill>
                  <a:srgbClr val="FFFFFF"/>
                </a:solidFill>
                <a:latin typeface="Times New Roman" pitchFamily="34" charset="0"/>
                <a:ea typeface="Times New Roman" pitchFamily="34" charset="-122"/>
                <a:cs typeface="Times New Roman" pitchFamily="34" charset="-120"/>
              </a:rPr>
              <a:t>6</a:t>
            </a:r>
            <a:endParaRPr lang="en-US" sz="2100" dirty="0"/>
          </a:p>
        </p:txBody>
      </p:sp>
      <p:sp>
        <p:nvSpPr>
          <p:cNvPr id="22" name="Text 20"/>
          <p:cNvSpPr/>
          <p:nvPr/>
        </p:nvSpPr>
        <p:spPr>
          <a:xfrm>
            <a:off x="1874520" y="4882896"/>
            <a:ext cx="9326880" cy="420624"/>
          </a:xfrm>
          <a:prstGeom prst="rect">
            <a:avLst/>
          </a:prstGeom>
          <a:noFill/>
          <a:ln/>
        </p:spPr>
        <p:txBody>
          <a:bodyPr wrap="square" lIns="0" tIns="0" rIns="0" bIns="0" rtlCol="0" anchor="ctr"/>
          <a:lstStyle/>
          <a:p>
            <a:pPr marL="0" indent="0">
              <a:buNone/>
            </a:pPr>
            <a:r>
              <a:rPr lang="en-US" sz="1900" b="1" dirty="0">
                <a:solidFill>
                  <a:srgbClr val="0E2841"/>
                </a:solidFill>
                <a:latin typeface="Times New Roman" pitchFamily="34" charset="0"/>
                <a:ea typeface="Times New Roman" pitchFamily="34" charset="-122"/>
                <a:cs typeface="Times New Roman" pitchFamily="34" charset="-120"/>
              </a:rPr>
              <a:t>NPTEL — Database Management System</a:t>
            </a:r>
            <a:endParaRPr lang="en-US" sz="1900" dirty="0"/>
          </a:p>
        </p:txBody>
      </p:sp>
      <p:sp>
        <p:nvSpPr>
          <p:cNvPr id="23" name="Text 21"/>
          <p:cNvSpPr/>
          <p:nvPr/>
        </p:nvSpPr>
        <p:spPr>
          <a:xfrm>
            <a:off x="1874520" y="5294376"/>
            <a:ext cx="9326880" cy="310896"/>
          </a:xfrm>
          <a:prstGeom prst="rect">
            <a:avLst/>
          </a:prstGeom>
          <a:noFill/>
          <a:ln/>
        </p:spPr>
        <p:txBody>
          <a:bodyPr wrap="square" lIns="0" tIns="0" rIns="0" bIns="0" rtlCol="0" anchor="ctr"/>
          <a:lstStyle/>
          <a:p>
            <a:pPr marL="0" indent="0">
              <a:buNone/>
            </a:pPr>
            <a:r>
              <a:rPr lang="en-US" sz="1700" dirty="0">
                <a:solidFill>
                  <a:srgbClr val="5A6472"/>
                </a:solidFill>
                <a:latin typeface="Times New Roman" pitchFamily="34" charset="0"/>
                <a:ea typeface="Times New Roman" pitchFamily="34" charset="-122"/>
                <a:cs typeface="Times New Roman" pitchFamily="34" charset="-120"/>
              </a:rPr>
              <a:t>Online course, IIT Kharagpur — free video lectures</a:t>
            </a:r>
            <a:endParaRPr lang="en-US" sz="1700" dirty="0"/>
          </a:p>
        </p:txBody>
      </p:sp>
      <p:sp>
        <p:nvSpPr>
          <p:cNvPr id="24" name="Text 22">
            <a:hlinkClick r:id="rId5"/>
          </p:cNvPr>
          <p:cNvSpPr/>
          <p:nvPr/>
        </p:nvSpPr>
        <p:spPr>
          <a:xfrm>
            <a:off x="1874520" y="5614416"/>
            <a:ext cx="9326880" cy="310896"/>
          </a:xfrm>
          <a:prstGeom prst="rect">
            <a:avLst/>
          </a:prstGeom>
          <a:noFill/>
          <a:ln/>
        </p:spPr>
        <p:txBody>
          <a:bodyPr wrap="square" lIns="0" tIns="0" rIns="0" bIns="0" rtlCol="0" anchor="ctr"/>
          <a:lstStyle/>
          <a:p>
            <a:pPr marL="0" indent="0">
              <a:buNone/>
            </a:pPr>
            <a:r>
              <a:rPr lang="en-US" sz="1600" u="sng" dirty="0">
                <a:solidFill>
                  <a:srgbClr val="156082"/>
                </a:solidFill>
                <a:latin typeface="Times New Roman" pitchFamily="34" charset="0"/>
                <a:ea typeface="Times New Roman" pitchFamily="34" charset="-122"/>
                <a:cs typeface="Times New Roman" pitchFamily="34" charset="-120"/>
                <a:hlinkClick r:id="rId5">
                  <a:extLst>
                    <a:ext uri="{A12FA001-AC4F-418D-AE19-62706E023703}">
                      <ahyp:hlinkClr xmlns:ahyp="http://schemas.microsoft.com/office/drawing/2018/hyperlinkcolor" val="tx"/>
                    </a:ext>
                  </a:extLst>
                </a:hlinkClick>
              </a:rPr>
              <a:t>https://nptel.ac.in/courses/106105175</a:t>
            </a:r>
            <a:endParaRPr lang="en-US" sz="1600" dirty="0"/>
          </a:p>
        </p:txBody>
      </p:sp>
      <p:pic>
        <p:nvPicPr>
          <p:cNvPr id="26" name="Image 0" descr="s1_unpacked/ppt/media/image5.png">
            <a:extLst>
              <a:ext uri="{FF2B5EF4-FFF2-40B4-BE49-F238E27FC236}">
                <a16:creationId xmlns:a16="http://schemas.microsoft.com/office/drawing/2014/main" id="{0DEC7C69-B357-35EF-0234-0A173EF0A63C}"/>
              </a:ext>
            </a:extLst>
          </p:cNvPr>
          <p:cNvPicPr>
            <a:picLocks noChangeAspect="1"/>
          </p:cNvPicPr>
          <p:nvPr/>
        </p:nvPicPr>
        <p:blipFill>
          <a:blip r:embed="rId6"/>
          <a:stretch>
            <a:fillRect/>
          </a:stretch>
        </p:blipFill>
        <p:spPr>
          <a:xfrm>
            <a:off x="9646920" y="256032"/>
            <a:ext cx="2240280" cy="3200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2874</Words>
  <Application>Microsoft Office PowerPoint</Application>
  <PresentationFormat>Widescreen</PresentationFormat>
  <Paragraphs>332</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Consolas</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Mansi Kajal-Assistant Professor SOET</cp:lastModifiedBy>
  <cp:revision>2</cp:revision>
  <dcterms:created xsi:type="dcterms:W3CDTF">2026-08-02T05:31:24Z</dcterms:created>
  <dcterms:modified xsi:type="dcterms:W3CDTF">2026-08-02T05:42:53Z</dcterms:modified>
</cp:coreProperties>
</file>